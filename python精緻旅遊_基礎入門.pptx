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Lst>
  <p:sldSz cy="5143500" cx="9144000"/>
  <p:notesSz cx="6858000" cy="9144000"/>
  <p:embeddedFontLst>
    <p:embeddedFont>
      <p:font typeface="Proxima Nova"/>
      <p:regular r:id="rId92"/>
      <p:bold r:id="rId93"/>
      <p:italic r:id="rId94"/>
      <p:boldItalic r:id="rId95"/>
    </p:embeddedFont>
    <p:embeddedFont>
      <p:font typeface="Roboto Mono"/>
      <p:regular r:id="rId96"/>
      <p:bold r:id="rId97"/>
      <p:italic r:id="rId98"/>
      <p:bold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446C50-BEC6-4478-9F0E-8E2411E21F89}">
  <a:tblStyle styleId="{AB446C50-BEC6-4478-9F0E-8E2411E21F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C26E4BD-2EE1-4CC8-BD85-72C40089777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ProximaNova-boldItalic.fntdata"/><Relationship Id="rId94" Type="http://schemas.openxmlformats.org/officeDocument/2006/relationships/font" Target="fonts/ProximaNova-italic.fntdata"/><Relationship Id="rId97" Type="http://schemas.openxmlformats.org/officeDocument/2006/relationships/font" Target="fonts/RobotoMono-bold.fntdata"/><Relationship Id="rId96" Type="http://schemas.openxmlformats.org/officeDocument/2006/relationships/font" Target="fonts/RobotoMono-regular.fntdata"/><Relationship Id="rId11" Type="http://schemas.openxmlformats.org/officeDocument/2006/relationships/slide" Target="slides/slide5.xml"/><Relationship Id="rId99" Type="http://schemas.openxmlformats.org/officeDocument/2006/relationships/font" Target="fonts/RobotoMono-boldItalic.fntdata"/><Relationship Id="rId10" Type="http://schemas.openxmlformats.org/officeDocument/2006/relationships/slide" Target="slides/slide4.xml"/><Relationship Id="rId98" Type="http://schemas.openxmlformats.org/officeDocument/2006/relationships/font" Target="fonts/RobotoMono-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font" Target="fonts/ProximaNova-bold.fntdata"/><Relationship Id="rId92" Type="http://schemas.openxmlformats.org/officeDocument/2006/relationships/font" Target="fonts/ProximaNova-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072156115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072156115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0721561158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0721561158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072156115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072156115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721561158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721561158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72156115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072156115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0721561158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0721561158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721561158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0721561158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072156115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072156115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0721561158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0721561158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0721561158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0721561158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0721561158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0721561158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0721561158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0721561158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0721561158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0721561158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0721561158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0721561158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0721561158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0721561158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072156115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072156115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0721561158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0721561158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0721561158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0721561158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0721561158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0721561158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0721561158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0721561158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0721561158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0721561158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0721561158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0721561158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09ccc5e4a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09ccc5e4a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0721561158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0721561158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0721561158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0721561158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09ccc5e4a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09ccc5e4a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0721561158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0721561158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0721561158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0721561158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0721561158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0721561158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0721561158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0721561158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0721561158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0721561158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0721561158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0721561158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072156115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072156115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072156115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072156115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0721561158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0721561158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0721561158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0721561158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09ccc5e4ad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09ccc5e4ad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0721561158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0721561158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072156115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072156115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0721561158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072156115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0721561158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0721561158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0721561158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0721561158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09ccc5e4ad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09ccc5e4ad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072156115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072156115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0721561158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072156115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0721561158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0721561158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0721561158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0721561158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0721561158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0721561158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0721561158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0721561158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0721561158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0721561158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0721561158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0721561158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0721561158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0721561158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0721561158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0721561158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0721561158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0721561158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0721561158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0721561158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0721561158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0721561158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09ccc5e4ad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09ccc5e4ad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09ccc5e4ad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09ccc5e4ad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fa2766adc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fa2766ad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fa2766adc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fa2766adc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fa2766adc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fa2766adc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0a9f0da22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0a9f0da22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0a9f0da22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0a9f0da22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0a9f0da22c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0a9f0da22c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0a9f0da22c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0a9f0da22c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fa2766adc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fa2766adc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fa2766adc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fa2766adc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fa2766adc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fa2766adc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fa2766adc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2fa2766adc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fa2766adc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fa2766adc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072156115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072156115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072156115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072156115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fa2766adc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fa2766adc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fa2766adca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fa2766adc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fa2766adc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2fa2766adc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072156115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072156115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0a9f0da22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0a9f0da22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0a9f0da22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0a9f0da22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0a9f0da22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0a9f0da22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072156115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072156115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0721561158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0721561158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072156115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072156115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072156115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072156115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0721561158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0721561158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20.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1.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3.png"/><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7.png"/><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2.png"/><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3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hyperlink" Target="https://cflin.com/course/python/Python_01.pdf" TargetMode="External"/><Relationship Id="rId4" Type="http://schemas.openxmlformats.org/officeDocument/2006/relationships/hyperlink" Target="https://www.hlbh.hlc.edu.tw/resource/openfid.php?id=3757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Python 精緻旅遊-基礎入門</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體系智能醫療推動辦公室製</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課程大綱</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210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如何使用python</a:t>
            </a:r>
            <a:endParaRPr/>
          </a:p>
        </p:txBody>
      </p:sp>
      <p:sp>
        <p:nvSpPr>
          <p:cNvPr id="72" name="Google Shape;72;p15"/>
          <p:cNvSpPr txBox="1"/>
          <p:nvPr>
            <p:ph idx="1" type="body"/>
          </p:nvPr>
        </p:nvSpPr>
        <p:spPr>
          <a:xfrm>
            <a:off x="311700" y="959925"/>
            <a:ext cx="1205100" cy="706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t>雲端</a:t>
            </a:r>
            <a:endParaRPr/>
          </a:p>
        </p:txBody>
      </p:sp>
      <p:sp>
        <p:nvSpPr>
          <p:cNvPr id="73" name="Google Shape;73;p15"/>
          <p:cNvSpPr txBox="1"/>
          <p:nvPr>
            <p:ph idx="2" type="body"/>
          </p:nvPr>
        </p:nvSpPr>
        <p:spPr>
          <a:xfrm>
            <a:off x="4832400" y="863550"/>
            <a:ext cx="1043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000"/>
              <a:t>本機端</a:t>
            </a:r>
            <a:endParaRPr sz="2000"/>
          </a:p>
        </p:txBody>
      </p:sp>
      <p:pic>
        <p:nvPicPr>
          <p:cNvPr id="74" name="Google Shape;74;p15"/>
          <p:cNvPicPr preferRelativeResize="0"/>
          <p:nvPr/>
        </p:nvPicPr>
        <p:blipFill>
          <a:blip r:embed="rId3">
            <a:alphaModFix/>
          </a:blip>
          <a:stretch>
            <a:fillRect/>
          </a:stretch>
        </p:blipFill>
        <p:spPr>
          <a:xfrm>
            <a:off x="419950" y="1666725"/>
            <a:ext cx="1096850" cy="1096850"/>
          </a:xfrm>
          <a:prstGeom prst="rect">
            <a:avLst/>
          </a:prstGeom>
          <a:noFill/>
          <a:ln>
            <a:noFill/>
          </a:ln>
        </p:spPr>
      </p:pic>
      <p:sp>
        <p:nvSpPr>
          <p:cNvPr id="75" name="Google Shape;75;p15"/>
          <p:cNvSpPr txBox="1"/>
          <p:nvPr/>
        </p:nvSpPr>
        <p:spPr>
          <a:xfrm>
            <a:off x="1634100" y="1829200"/>
            <a:ext cx="1043700" cy="7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accent3"/>
                </a:solidFill>
                <a:latin typeface="Proxima Nova"/>
                <a:ea typeface="Proxima Nova"/>
                <a:cs typeface="Proxima Nova"/>
                <a:sym typeface="Proxima Nova"/>
              </a:rPr>
              <a:t>google cloab</a:t>
            </a:r>
            <a:endParaRPr sz="2100">
              <a:solidFill>
                <a:schemeClr val="accent3"/>
              </a:solidFill>
              <a:latin typeface="Proxima Nova"/>
              <a:ea typeface="Proxima Nova"/>
              <a:cs typeface="Proxima Nova"/>
              <a:sym typeface="Proxima Nova"/>
            </a:endParaRPr>
          </a:p>
        </p:txBody>
      </p:sp>
      <p:pic>
        <p:nvPicPr>
          <p:cNvPr id="76" name="Google Shape;76;p15"/>
          <p:cNvPicPr preferRelativeResize="0"/>
          <p:nvPr/>
        </p:nvPicPr>
        <p:blipFill>
          <a:blip r:embed="rId4">
            <a:alphaModFix/>
          </a:blip>
          <a:stretch>
            <a:fillRect/>
          </a:stretch>
        </p:blipFill>
        <p:spPr>
          <a:xfrm>
            <a:off x="5320723" y="1345020"/>
            <a:ext cx="775350" cy="771900"/>
          </a:xfrm>
          <a:prstGeom prst="rect">
            <a:avLst/>
          </a:prstGeom>
          <a:noFill/>
          <a:ln>
            <a:noFill/>
          </a:ln>
        </p:spPr>
      </p:pic>
      <p:pic>
        <p:nvPicPr>
          <p:cNvPr id="77" name="Google Shape;77;p15"/>
          <p:cNvPicPr preferRelativeResize="0"/>
          <p:nvPr/>
        </p:nvPicPr>
        <p:blipFill>
          <a:blip r:embed="rId5">
            <a:alphaModFix/>
          </a:blip>
          <a:stretch>
            <a:fillRect/>
          </a:stretch>
        </p:blipFill>
        <p:spPr>
          <a:xfrm>
            <a:off x="5355001" y="2412950"/>
            <a:ext cx="706800" cy="706800"/>
          </a:xfrm>
          <a:prstGeom prst="rect">
            <a:avLst/>
          </a:prstGeom>
          <a:noFill/>
          <a:ln>
            <a:noFill/>
          </a:ln>
        </p:spPr>
      </p:pic>
      <p:sp>
        <p:nvSpPr>
          <p:cNvPr id="78" name="Google Shape;78;p15"/>
          <p:cNvSpPr txBox="1"/>
          <p:nvPr/>
        </p:nvSpPr>
        <p:spPr>
          <a:xfrm>
            <a:off x="6096075" y="1448275"/>
            <a:ext cx="1096800" cy="4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accent3"/>
                </a:solidFill>
                <a:latin typeface="Proxima Nova"/>
                <a:ea typeface="Proxima Nova"/>
                <a:cs typeface="Proxima Nova"/>
                <a:sym typeface="Proxima Nova"/>
              </a:rPr>
              <a:t>spyder</a:t>
            </a:r>
            <a:endParaRPr sz="2100">
              <a:solidFill>
                <a:schemeClr val="accent3"/>
              </a:solidFill>
              <a:latin typeface="Proxima Nova"/>
              <a:ea typeface="Proxima Nova"/>
              <a:cs typeface="Proxima Nova"/>
              <a:sym typeface="Proxima Nova"/>
            </a:endParaRPr>
          </a:p>
        </p:txBody>
      </p:sp>
      <p:sp>
        <p:nvSpPr>
          <p:cNvPr id="79" name="Google Shape;79;p15"/>
          <p:cNvSpPr txBox="1"/>
          <p:nvPr/>
        </p:nvSpPr>
        <p:spPr>
          <a:xfrm>
            <a:off x="6188125" y="2520350"/>
            <a:ext cx="1388100" cy="4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accent3"/>
                </a:solidFill>
                <a:latin typeface="Proxima Nova"/>
                <a:ea typeface="Proxima Nova"/>
                <a:cs typeface="Proxima Nova"/>
                <a:sym typeface="Proxima Nova"/>
              </a:rPr>
              <a:t>pycharm</a:t>
            </a:r>
            <a:endParaRPr sz="2100">
              <a:solidFill>
                <a:schemeClr val="accent3"/>
              </a:solidFill>
              <a:latin typeface="Proxima Nova"/>
              <a:ea typeface="Proxima Nova"/>
              <a:cs typeface="Proxima Nova"/>
              <a:sym typeface="Proxima Nova"/>
            </a:endParaRPr>
          </a:p>
        </p:txBody>
      </p:sp>
      <p:pic>
        <p:nvPicPr>
          <p:cNvPr id="80" name="Google Shape;80;p15"/>
          <p:cNvPicPr preferRelativeResize="0"/>
          <p:nvPr/>
        </p:nvPicPr>
        <p:blipFill>
          <a:blip r:embed="rId6">
            <a:alphaModFix/>
          </a:blip>
          <a:stretch>
            <a:fillRect/>
          </a:stretch>
        </p:blipFill>
        <p:spPr>
          <a:xfrm>
            <a:off x="4935325" y="3227625"/>
            <a:ext cx="1558525" cy="1148700"/>
          </a:xfrm>
          <a:prstGeom prst="rect">
            <a:avLst/>
          </a:prstGeom>
          <a:noFill/>
          <a:ln>
            <a:noFill/>
          </a:ln>
        </p:spPr>
      </p:pic>
      <p:sp>
        <p:nvSpPr>
          <p:cNvPr id="81" name="Google Shape;81;p15"/>
          <p:cNvSpPr txBox="1"/>
          <p:nvPr/>
        </p:nvSpPr>
        <p:spPr>
          <a:xfrm>
            <a:off x="6234050" y="3503375"/>
            <a:ext cx="2332500" cy="4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accent3"/>
                </a:solidFill>
                <a:latin typeface="Proxima Nova"/>
                <a:ea typeface="Proxima Nova"/>
                <a:cs typeface="Proxima Nova"/>
                <a:sym typeface="Proxima Nova"/>
              </a:rPr>
              <a:t>visual studio code</a:t>
            </a:r>
            <a:endParaRPr sz="2100">
              <a:solidFill>
                <a:schemeClr val="accent3"/>
              </a:solidFill>
              <a:latin typeface="Proxima Nova"/>
              <a:ea typeface="Proxima Nova"/>
              <a:cs typeface="Proxima Nova"/>
              <a:sym typeface="Proxima Nova"/>
            </a:endParaRPr>
          </a:p>
        </p:txBody>
      </p:sp>
      <p:pic>
        <p:nvPicPr>
          <p:cNvPr id="82" name="Google Shape;82;p15"/>
          <p:cNvPicPr preferRelativeResize="0"/>
          <p:nvPr/>
        </p:nvPicPr>
        <p:blipFill rotWithShape="1">
          <a:blip r:embed="rId7">
            <a:alphaModFix/>
          </a:blip>
          <a:srcRect b="36527" l="0" r="0" t="31828"/>
          <a:stretch/>
        </p:blipFill>
        <p:spPr>
          <a:xfrm>
            <a:off x="503400" y="3119750"/>
            <a:ext cx="2533650" cy="572700"/>
          </a:xfrm>
          <a:prstGeom prst="rect">
            <a:avLst/>
          </a:prstGeom>
          <a:noFill/>
          <a:ln>
            <a:noFill/>
          </a:ln>
        </p:spPr>
      </p:pic>
      <p:sp>
        <p:nvSpPr>
          <p:cNvPr id="83" name="Google Shape;83;p15"/>
          <p:cNvSpPr/>
          <p:nvPr/>
        </p:nvSpPr>
        <p:spPr>
          <a:xfrm>
            <a:off x="388150" y="1628375"/>
            <a:ext cx="2533800" cy="1214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11700" y="114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開啟colab</a:t>
            </a:r>
            <a:endParaRPr/>
          </a:p>
        </p:txBody>
      </p:sp>
      <p:sp>
        <p:nvSpPr>
          <p:cNvPr id="89" name="Google Shape;89;p16"/>
          <p:cNvSpPr txBox="1"/>
          <p:nvPr/>
        </p:nvSpPr>
        <p:spPr>
          <a:xfrm>
            <a:off x="401075" y="687463"/>
            <a:ext cx="613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800">
                <a:solidFill>
                  <a:schemeClr val="accent3"/>
                </a:solidFill>
                <a:latin typeface="Proxima Nova"/>
                <a:ea typeface="Proxima Nova"/>
                <a:cs typeface="Proxima Nova"/>
                <a:sym typeface="Proxima Nova"/>
              </a:rPr>
              <a:t>方法1 直接搜尋colab</a:t>
            </a:r>
            <a:endParaRPr b="1" sz="1800">
              <a:solidFill>
                <a:schemeClr val="accent3"/>
              </a:solidFill>
              <a:latin typeface="Proxima Nova"/>
              <a:ea typeface="Proxima Nova"/>
              <a:cs typeface="Proxima Nova"/>
              <a:sym typeface="Proxima Nova"/>
            </a:endParaRPr>
          </a:p>
        </p:txBody>
      </p:sp>
      <p:sp>
        <p:nvSpPr>
          <p:cNvPr id="90" name="Google Shape;90;p16"/>
          <p:cNvSpPr txBox="1"/>
          <p:nvPr/>
        </p:nvSpPr>
        <p:spPr>
          <a:xfrm>
            <a:off x="401063" y="2970063"/>
            <a:ext cx="613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800">
                <a:solidFill>
                  <a:schemeClr val="accent3"/>
                </a:solidFill>
                <a:latin typeface="Proxima Nova"/>
                <a:ea typeface="Proxima Nova"/>
                <a:cs typeface="Proxima Nova"/>
                <a:sym typeface="Proxima Nova"/>
              </a:rPr>
              <a:t>方法2從google雲端硬碟進入</a:t>
            </a:r>
            <a:endParaRPr b="1" sz="1800">
              <a:solidFill>
                <a:schemeClr val="accent3"/>
              </a:solidFill>
              <a:latin typeface="Proxima Nova"/>
              <a:ea typeface="Proxima Nova"/>
              <a:cs typeface="Proxima Nova"/>
              <a:sym typeface="Proxima Nova"/>
            </a:endParaRPr>
          </a:p>
        </p:txBody>
      </p:sp>
      <p:pic>
        <p:nvPicPr>
          <p:cNvPr id="91" name="Google Shape;91;p16"/>
          <p:cNvPicPr preferRelativeResize="0"/>
          <p:nvPr/>
        </p:nvPicPr>
        <p:blipFill>
          <a:blip r:embed="rId3">
            <a:alphaModFix/>
          </a:blip>
          <a:stretch>
            <a:fillRect/>
          </a:stretch>
        </p:blipFill>
        <p:spPr>
          <a:xfrm>
            <a:off x="556250" y="1093325"/>
            <a:ext cx="6337676" cy="1470900"/>
          </a:xfrm>
          <a:prstGeom prst="rect">
            <a:avLst/>
          </a:prstGeom>
          <a:noFill/>
          <a:ln>
            <a:noFill/>
          </a:ln>
        </p:spPr>
      </p:pic>
      <p:sp>
        <p:nvSpPr>
          <p:cNvPr id="92" name="Google Shape;92;p16"/>
          <p:cNvSpPr txBox="1"/>
          <p:nvPr/>
        </p:nvSpPr>
        <p:spPr>
          <a:xfrm>
            <a:off x="658181" y="2509950"/>
            <a:ext cx="623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colab</a:t>
            </a:r>
            <a:r>
              <a:rPr lang="zh-TW"/>
              <a:t>連結:    </a:t>
            </a:r>
            <a:r>
              <a:rPr lang="zh-TW"/>
              <a:t>https://colab.research.google.com/?hl=zh-tw</a:t>
            </a:r>
            <a:endParaRPr/>
          </a:p>
        </p:txBody>
      </p:sp>
      <p:sp>
        <p:nvSpPr>
          <p:cNvPr id="93" name="Google Shape;93;p16"/>
          <p:cNvSpPr txBox="1"/>
          <p:nvPr/>
        </p:nvSpPr>
        <p:spPr>
          <a:xfrm>
            <a:off x="430200" y="3577125"/>
            <a:ext cx="4760100" cy="7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accent3"/>
                </a:solidFill>
                <a:latin typeface="Proxima Nova"/>
                <a:ea typeface="Proxima Nova"/>
                <a:cs typeface="Proxima Nova"/>
                <a:sym typeface="Proxima Nova"/>
              </a:rPr>
              <a:t>左上角新增→ 更</a:t>
            </a:r>
            <a:r>
              <a:rPr lang="zh-TW" sz="1800">
                <a:solidFill>
                  <a:schemeClr val="accent3"/>
                </a:solidFill>
                <a:latin typeface="Proxima Nova"/>
                <a:ea typeface="Proxima Nova"/>
                <a:cs typeface="Proxima Nova"/>
                <a:sym typeface="Proxima Nova"/>
              </a:rPr>
              <a:t>多 → 連結更多應用程式→ 搜尋colab安裝</a:t>
            </a:r>
            <a:endParaRPr sz="1800">
              <a:solidFill>
                <a:schemeClr val="accent3"/>
              </a:solidFill>
              <a:latin typeface="Proxima Nova"/>
              <a:ea typeface="Proxima Nova"/>
              <a:cs typeface="Proxima Nova"/>
              <a:sym typeface="Proxima Nova"/>
            </a:endParaRPr>
          </a:p>
        </p:txBody>
      </p:sp>
      <p:pic>
        <p:nvPicPr>
          <p:cNvPr id="94" name="Google Shape;94;p16"/>
          <p:cNvPicPr preferRelativeResize="0"/>
          <p:nvPr/>
        </p:nvPicPr>
        <p:blipFill rotWithShape="1">
          <a:blip r:embed="rId4">
            <a:alphaModFix/>
          </a:blip>
          <a:srcRect b="0" l="0" r="28678" t="0"/>
          <a:stretch/>
        </p:blipFill>
        <p:spPr>
          <a:xfrm>
            <a:off x="5190300" y="2840200"/>
            <a:ext cx="3642000" cy="22311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311700" y="171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Hello World!!</a:t>
            </a:r>
            <a:endParaRPr/>
          </a:p>
        </p:txBody>
      </p:sp>
      <p:pic>
        <p:nvPicPr>
          <p:cNvPr id="100" name="Google Shape;100;p17"/>
          <p:cNvPicPr preferRelativeResize="0"/>
          <p:nvPr/>
        </p:nvPicPr>
        <p:blipFill>
          <a:blip r:embed="rId3">
            <a:alphaModFix/>
          </a:blip>
          <a:stretch>
            <a:fillRect/>
          </a:stretch>
        </p:blipFill>
        <p:spPr>
          <a:xfrm>
            <a:off x="770550" y="890975"/>
            <a:ext cx="7886751" cy="4066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Python 基礎介紹</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註解</a:t>
            </a:r>
            <a:endParaRPr/>
          </a:p>
        </p:txBody>
      </p:sp>
      <p:sp>
        <p:nvSpPr>
          <p:cNvPr id="111" name="Google Shape;11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TW"/>
              <a:t>註解是給人看的，電腦會予以忽略</a:t>
            </a:r>
            <a:endParaRPr/>
          </a:p>
          <a:p>
            <a:pPr indent="-342900" lvl="0" marL="457200" rtl="0" algn="l">
              <a:spcBef>
                <a:spcPts val="0"/>
              </a:spcBef>
              <a:spcAft>
                <a:spcPts val="0"/>
              </a:spcAft>
              <a:buSzPts val="1800"/>
              <a:buChar char="●"/>
            </a:pPr>
            <a:r>
              <a:rPr lang="zh-TW"/>
              <a:t>單行註解： 使用#符號，#之後的文字皆視為註解。</a:t>
            </a:r>
            <a:endParaRPr/>
          </a:p>
          <a:p>
            <a:pPr indent="-342900" lvl="0" marL="457200" rtl="0" algn="l">
              <a:spcBef>
                <a:spcPts val="0"/>
              </a:spcBef>
              <a:spcAft>
                <a:spcPts val="0"/>
              </a:spcAft>
              <a:buSzPts val="1800"/>
              <a:buChar char="●"/>
            </a:pPr>
            <a:r>
              <a:rPr lang="zh-TW"/>
              <a:t>多行註解： 使用''' ... '''(連續三個單引號)框住的段 落，可以多行。</a:t>
            </a:r>
            <a:endParaRPr/>
          </a:p>
        </p:txBody>
      </p:sp>
      <p:pic>
        <p:nvPicPr>
          <p:cNvPr id="112" name="Google Shape;112;p19"/>
          <p:cNvPicPr preferRelativeResize="0"/>
          <p:nvPr/>
        </p:nvPicPr>
        <p:blipFill>
          <a:blip r:embed="rId3">
            <a:alphaModFix/>
          </a:blip>
          <a:stretch>
            <a:fillRect/>
          </a:stretch>
        </p:blipFill>
        <p:spPr>
          <a:xfrm>
            <a:off x="2102650" y="2274950"/>
            <a:ext cx="3544475" cy="2672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Python</a:t>
            </a:r>
            <a:r>
              <a:rPr lang="zh-TW"/>
              <a:t>重要規則</a:t>
            </a:r>
            <a:endParaRPr/>
          </a:p>
        </p:txBody>
      </p:sp>
      <p:sp>
        <p:nvSpPr>
          <p:cNvPr id="118" name="Google Shape;11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zh-TW" sz="3700">
                <a:solidFill>
                  <a:srgbClr val="FF0000"/>
                </a:solidFill>
              </a:rPr>
              <a:t>Python要求嚴格的縮排</a:t>
            </a:r>
            <a:endParaRPr b="1" sz="3700">
              <a:solidFill>
                <a:srgbClr val="FF0000"/>
              </a:solidFill>
            </a:endParaRPr>
          </a:p>
          <a:p>
            <a:pPr indent="0" lvl="0" marL="0" rtl="0" algn="l">
              <a:spcBef>
                <a:spcPts val="1200"/>
              </a:spcBef>
              <a:spcAft>
                <a:spcPts val="0"/>
              </a:spcAft>
              <a:buNone/>
            </a:pPr>
            <a:r>
              <a:rPr b="1" lang="zh-TW" sz="2100"/>
              <a:t>同一區段該縮排要縮排，要確實對齊。</a:t>
            </a:r>
            <a:endParaRPr b="1" sz="2100"/>
          </a:p>
          <a:p>
            <a:pPr indent="0" lvl="0" marL="0" rtl="0" algn="l">
              <a:spcBef>
                <a:spcPts val="1200"/>
              </a:spcBef>
              <a:spcAft>
                <a:spcPts val="1200"/>
              </a:spcAft>
              <a:buNone/>
            </a:pPr>
            <a:r>
              <a:t/>
            </a:r>
            <a:endParaRPr/>
          </a:p>
        </p:txBody>
      </p:sp>
      <p:pic>
        <p:nvPicPr>
          <p:cNvPr id="119" name="Google Shape;119;p20"/>
          <p:cNvPicPr preferRelativeResize="0"/>
          <p:nvPr/>
        </p:nvPicPr>
        <p:blipFill>
          <a:blip r:embed="rId3">
            <a:alphaModFix/>
          </a:blip>
          <a:stretch>
            <a:fillRect/>
          </a:stretch>
        </p:blipFill>
        <p:spPr>
          <a:xfrm>
            <a:off x="311700" y="2862725"/>
            <a:ext cx="4080500" cy="1706150"/>
          </a:xfrm>
          <a:prstGeom prst="rect">
            <a:avLst/>
          </a:prstGeom>
          <a:noFill/>
          <a:ln>
            <a:noFill/>
          </a:ln>
        </p:spPr>
      </p:pic>
      <p:pic>
        <p:nvPicPr>
          <p:cNvPr id="120" name="Google Shape;120;p20"/>
          <p:cNvPicPr preferRelativeResize="0"/>
          <p:nvPr/>
        </p:nvPicPr>
        <p:blipFill>
          <a:blip r:embed="rId4">
            <a:alphaModFix/>
          </a:blip>
          <a:stretch>
            <a:fillRect/>
          </a:stretch>
        </p:blipFill>
        <p:spPr>
          <a:xfrm>
            <a:off x="4477400" y="2961700"/>
            <a:ext cx="4611050" cy="1508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變數命名規則</a:t>
            </a:r>
            <a:endParaRPr/>
          </a:p>
        </p:txBody>
      </p:sp>
      <p:sp>
        <p:nvSpPr>
          <p:cNvPr id="126" name="Google Shape;12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 只能由字母、數字或底線組成，不可以用標點符號或特殊字元。</a:t>
            </a:r>
            <a:endParaRPr/>
          </a:p>
          <a:p>
            <a:pPr indent="0" lvl="0" marL="0" rtl="0" algn="l">
              <a:spcBef>
                <a:spcPts val="1200"/>
              </a:spcBef>
              <a:spcAft>
                <a:spcPts val="0"/>
              </a:spcAft>
              <a:buNone/>
            </a:pPr>
            <a:r>
              <a:rPr lang="zh-TW"/>
              <a:t>• 須以英文字母或底線開頭。 </a:t>
            </a:r>
            <a:endParaRPr/>
          </a:p>
          <a:p>
            <a:pPr indent="0" lvl="0" marL="0" rtl="0" algn="l">
              <a:spcBef>
                <a:spcPts val="1200"/>
              </a:spcBef>
              <a:spcAft>
                <a:spcPts val="0"/>
              </a:spcAft>
              <a:buNone/>
            </a:pPr>
            <a:r>
              <a:rPr lang="zh-TW"/>
              <a:t>• 不能使用保留字(關鍵字)命名。 </a:t>
            </a:r>
            <a:endParaRPr/>
          </a:p>
          <a:p>
            <a:pPr indent="0" lvl="0" marL="0" rtl="0" algn="l">
              <a:spcBef>
                <a:spcPts val="1200"/>
              </a:spcBef>
              <a:spcAft>
                <a:spcPts val="0"/>
              </a:spcAft>
              <a:buNone/>
            </a:pPr>
            <a:r>
              <a:rPr lang="zh-TW"/>
              <a:t>• 英文有大小寫之分，也就是</a:t>
            </a:r>
            <a:r>
              <a:rPr lang="zh-TW"/>
              <a:t>cat</a:t>
            </a:r>
            <a:r>
              <a:rPr lang="zh-TW"/>
              <a:t>與Cat是不同的變數。 </a:t>
            </a:r>
            <a:endParaRPr/>
          </a:p>
          <a:p>
            <a:pPr indent="0" lvl="0" marL="0" rtl="0" algn="l">
              <a:spcBef>
                <a:spcPts val="1200"/>
              </a:spcBef>
              <a:spcAft>
                <a:spcPts val="0"/>
              </a:spcAft>
              <a:buNone/>
            </a:pPr>
            <a:r>
              <a:rPr lang="zh-TW"/>
              <a:t>• 可以使用中文命名，但不建議。 </a:t>
            </a:r>
            <a:endParaRPr/>
          </a:p>
          <a:p>
            <a:pPr indent="0" lvl="0" marL="0" rtl="0" algn="l">
              <a:spcBef>
                <a:spcPts val="1200"/>
              </a:spcBef>
              <a:spcAft>
                <a:spcPts val="1200"/>
              </a:spcAft>
              <a:buNone/>
            </a:pPr>
            <a:r>
              <a:rPr lang="zh-TW"/>
              <a:t>• 命名長度沒有限制。</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保留字(關鍵字)</a:t>
            </a:r>
            <a:endParaRPr/>
          </a:p>
        </p:txBody>
      </p:sp>
      <p:sp>
        <p:nvSpPr>
          <p:cNvPr id="132" name="Google Shape;13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保留字又稱關鍵字，python已建立好之具有特殊意義的字，不可作為變數之命名使用。(每種程式語言之保留字略有不同)</a:t>
            </a:r>
            <a:endParaRPr/>
          </a:p>
          <a:p>
            <a:pPr indent="0" lvl="0" marL="0" rtl="0" algn="l">
              <a:spcBef>
                <a:spcPts val="1200"/>
              </a:spcBef>
              <a:spcAft>
                <a:spcPts val="1200"/>
              </a:spcAft>
              <a:buNone/>
            </a:pPr>
            <a:r>
              <a:t/>
            </a:r>
            <a:endParaRPr/>
          </a:p>
        </p:txBody>
      </p:sp>
      <p:graphicFrame>
        <p:nvGraphicFramePr>
          <p:cNvPr id="133" name="Google Shape;133;p22"/>
          <p:cNvGraphicFramePr/>
          <p:nvPr/>
        </p:nvGraphicFramePr>
        <p:xfrm>
          <a:off x="983025" y="2207700"/>
          <a:ext cx="3000000" cy="3000000"/>
        </p:xfrm>
        <a:graphic>
          <a:graphicData uri="http://schemas.openxmlformats.org/drawingml/2006/table">
            <a:tbl>
              <a:tblPr>
                <a:solidFill>
                  <a:srgbClr val="FFFFFF"/>
                </a:solidFill>
                <a:tableStyleId>{AB446C50-BEC6-4478-9F0E-8E2411E21F89}</a:tableStyleId>
              </a:tblPr>
              <a:tblGrid>
                <a:gridCol w="919425"/>
                <a:gridCol w="859450"/>
                <a:gridCol w="1219225"/>
                <a:gridCol w="1359150"/>
                <a:gridCol w="1099300"/>
                <a:gridCol w="1379125"/>
              </a:tblGrid>
              <a:tr h="276225">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and</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as</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assert</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break</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class</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continue</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276225">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def</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del</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elif</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else</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except</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finally</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276225">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for</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from</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False</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global</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if</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import</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276225">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in</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is</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lambda</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nonlocal</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not</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None</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276225">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or</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pass</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raise</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return</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try</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True</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276225">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while</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with</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zh-TW" sz="1750">
                          <a:solidFill>
                            <a:srgbClr val="444444"/>
                          </a:solidFill>
                          <a:highlight>
                            <a:srgbClr val="FFFFFF"/>
                          </a:highlight>
                          <a:latin typeface="Microsoft Yahei"/>
                          <a:ea typeface="Microsoft Yahei"/>
                          <a:cs typeface="Microsoft Yahei"/>
                          <a:sym typeface="Microsoft Yahei"/>
                        </a:rPr>
                        <a:t>yield</a:t>
                      </a:r>
                      <a:endParaRPr sz="1750">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sz="2100"/>
                    </a:p>
                  </a:txBody>
                  <a:tcPr marT="91425" marB="91425" marR="91425" marL="91425">
                    <a:lnL cap="flat" cmpd="sng" w="5300">
                      <a:solidFill>
                        <a:srgbClr val="CCCCCC"/>
                      </a:solidFill>
                      <a:prstDash val="solid"/>
                      <a:round/>
                      <a:headEnd len="sm" w="sm" type="none"/>
                      <a:tailEnd len="sm" w="sm" type="none"/>
                    </a:lnL>
                    <a:lnT cap="flat" cmpd="sng" w="5300">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t/>
                      </a:r>
                      <a:endParaRPr sz="2100"/>
                    </a:p>
                  </a:txBody>
                  <a:tcPr marT="91425" marB="91425" marR="91425" marL="91425">
                    <a:lnT cap="flat" cmpd="sng" w="5300">
                      <a:solidFill>
                        <a:srgbClr val="CCCCCC"/>
                      </a:solidFill>
                      <a:prstDash val="solid"/>
                      <a:round/>
                      <a:headEnd len="sm" w="sm" type="none"/>
                      <a:tailEnd len="sm" w="sm" type="none"/>
                    </a:lnT>
                  </a:tcPr>
                </a:tc>
                <a:tc>
                  <a:txBody>
                    <a:bodyPr/>
                    <a:lstStyle/>
                    <a:p>
                      <a:pPr indent="0" lvl="0" marL="0" rtl="0" algn="l">
                        <a:spcBef>
                          <a:spcPts val="0"/>
                        </a:spcBef>
                        <a:spcAft>
                          <a:spcPts val="0"/>
                        </a:spcAft>
                        <a:buNone/>
                      </a:pPr>
                      <a:r>
                        <a:t/>
                      </a:r>
                      <a:endParaRPr sz="2100"/>
                    </a:p>
                  </a:txBody>
                  <a:tcPr marT="91425" marB="91425" marR="91425" marL="91425">
                    <a:lnT cap="flat" cmpd="sng" w="5300">
                      <a:solidFill>
                        <a:srgbClr val="CCCCCC"/>
                      </a:solidFill>
                      <a:prstDash val="solid"/>
                      <a:round/>
                      <a:headEnd len="sm" w="sm" type="none"/>
                      <a:tailEnd len="sm" w="sm" type="none"/>
                    </a:lnT>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資料型態</a:t>
            </a:r>
            <a:endParaRPr/>
          </a:p>
        </p:txBody>
      </p:sp>
      <p:sp>
        <p:nvSpPr>
          <p:cNvPr id="139" name="Google Shape;13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zh-TW" sz="1500">
                <a:solidFill>
                  <a:srgbClr val="000000"/>
                </a:solidFill>
                <a:latin typeface="Arial"/>
                <a:ea typeface="Arial"/>
                <a:cs typeface="Arial"/>
                <a:sym typeface="Arial"/>
              </a:rPr>
              <a:t>在 Python 中，變數用來儲存資料，並且可以在程式中重複使用。變數不需要明確定義其型別，Python 會自動推斷。</a:t>
            </a:r>
            <a:endParaRPr sz="1500">
              <a:solidFill>
                <a:srgbClr val="000000"/>
              </a:solidFill>
              <a:latin typeface="Arial"/>
              <a:ea typeface="Arial"/>
              <a:cs typeface="Arial"/>
              <a:sym typeface="Arial"/>
            </a:endParaRPr>
          </a:p>
          <a:p>
            <a:pPr indent="0" lvl="0" marL="0" rtl="0" algn="l">
              <a:spcBef>
                <a:spcPts val="1200"/>
              </a:spcBef>
              <a:spcAft>
                <a:spcPts val="0"/>
              </a:spcAft>
              <a:buNone/>
            </a:pPr>
            <a:r>
              <a:rPr b="1" lang="zh-TW" sz="1400">
                <a:solidFill>
                  <a:srgbClr val="000000"/>
                </a:solidFill>
                <a:latin typeface="Arial"/>
                <a:ea typeface="Arial"/>
                <a:cs typeface="Arial"/>
                <a:sym typeface="Arial"/>
              </a:rPr>
              <a:t>常見資料型態：</a:t>
            </a:r>
            <a:endParaRPr b="1" sz="14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AutoNum type="arabicPeriod"/>
            </a:pPr>
            <a:r>
              <a:rPr b="1" lang="zh-TW" sz="1500">
                <a:solidFill>
                  <a:srgbClr val="000000"/>
                </a:solidFill>
                <a:latin typeface="Arial"/>
                <a:ea typeface="Arial"/>
                <a:cs typeface="Arial"/>
                <a:sym typeface="Arial"/>
              </a:rPr>
              <a:t>整數型別 (int)</a:t>
            </a:r>
            <a:r>
              <a:rPr lang="zh-TW" sz="1500">
                <a:solidFill>
                  <a:srgbClr val="000000"/>
                </a:solidFill>
                <a:latin typeface="Arial"/>
                <a:ea typeface="Arial"/>
                <a:cs typeface="Arial"/>
                <a:sym typeface="Arial"/>
              </a:rPr>
              <a:t>：表示整數值，如 </a:t>
            </a:r>
            <a:r>
              <a:rPr lang="zh-TW" sz="1500">
                <a:solidFill>
                  <a:srgbClr val="188038"/>
                </a:solidFill>
                <a:latin typeface="Roboto Mono"/>
                <a:ea typeface="Roboto Mono"/>
                <a:cs typeface="Roboto Mono"/>
                <a:sym typeface="Roboto Mono"/>
              </a:rPr>
              <a:t>5</a:t>
            </a:r>
            <a:r>
              <a:rPr lang="zh-TW" sz="1500">
                <a:solidFill>
                  <a:srgbClr val="000000"/>
                </a:solidFill>
                <a:latin typeface="Arial"/>
                <a:ea typeface="Arial"/>
                <a:cs typeface="Arial"/>
                <a:sym typeface="Arial"/>
              </a:rPr>
              <a:t>、</a:t>
            </a:r>
            <a:r>
              <a:rPr lang="zh-TW" sz="1500">
                <a:solidFill>
                  <a:srgbClr val="188038"/>
                </a:solidFill>
                <a:latin typeface="Roboto Mono"/>
                <a:ea typeface="Roboto Mono"/>
                <a:cs typeface="Roboto Mono"/>
                <a:sym typeface="Roboto Mono"/>
              </a:rPr>
              <a:t>-3</a:t>
            </a:r>
            <a:r>
              <a:rPr lang="zh-TW"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zh-TW" sz="1500">
                <a:solidFill>
                  <a:srgbClr val="000000"/>
                </a:solidFill>
                <a:latin typeface="Arial"/>
                <a:ea typeface="Arial"/>
                <a:cs typeface="Arial"/>
                <a:sym typeface="Arial"/>
              </a:rPr>
              <a:t>浮點數型別 (float)</a:t>
            </a:r>
            <a:r>
              <a:rPr lang="zh-TW" sz="1500">
                <a:solidFill>
                  <a:srgbClr val="000000"/>
                </a:solidFill>
                <a:latin typeface="Arial"/>
                <a:ea typeface="Arial"/>
                <a:cs typeface="Arial"/>
                <a:sym typeface="Arial"/>
              </a:rPr>
              <a:t>：表示有小數點的數字，如 </a:t>
            </a:r>
            <a:r>
              <a:rPr lang="zh-TW" sz="1500">
                <a:solidFill>
                  <a:srgbClr val="188038"/>
                </a:solidFill>
                <a:latin typeface="Roboto Mono"/>
                <a:ea typeface="Roboto Mono"/>
                <a:cs typeface="Roboto Mono"/>
                <a:sym typeface="Roboto Mono"/>
              </a:rPr>
              <a:t>3.14</a:t>
            </a:r>
            <a:r>
              <a:rPr lang="zh-TW" sz="1500">
                <a:solidFill>
                  <a:srgbClr val="000000"/>
                </a:solidFill>
                <a:latin typeface="Arial"/>
                <a:ea typeface="Arial"/>
                <a:cs typeface="Arial"/>
                <a:sym typeface="Arial"/>
              </a:rPr>
              <a:t>、</a:t>
            </a:r>
            <a:r>
              <a:rPr lang="zh-TW" sz="1500">
                <a:solidFill>
                  <a:srgbClr val="188038"/>
                </a:solidFill>
                <a:latin typeface="Roboto Mono"/>
                <a:ea typeface="Roboto Mono"/>
                <a:cs typeface="Roboto Mono"/>
                <a:sym typeface="Roboto Mono"/>
              </a:rPr>
              <a:t>-0.5</a:t>
            </a:r>
            <a:r>
              <a:rPr lang="zh-TW"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zh-TW" sz="1500">
                <a:solidFill>
                  <a:srgbClr val="000000"/>
                </a:solidFill>
                <a:latin typeface="Arial"/>
                <a:ea typeface="Arial"/>
                <a:cs typeface="Arial"/>
                <a:sym typeface="Arial"/>
              </a:rPr>
              <a:t>字串型別 (str)</a:t>
            </a:r>
            <a:r>
              <a:rPr lang="zh-TW" sz="1500">
                <a:solidFill>
                  <a:srgbClr val="000000"/>
                </a:solidFill>
                <a:latin typeface="Arial"/>
                <a:ea typeface="Arial"/>
                <a:cs typeface="Arial"/>
                <a:sym typeface="Arial"/>
              </a:rPr>
              <a:t>：表示文字資料，用單引號或雙引號括起來，如 </a:t>
            </a:r>
            <a:r>
              <a:rPr lang="zh-TW" sz="1500">
                <a:solidFill>
                  <a:srgbClr val="188038"/>
                </a:solidFill>
                <a:latin typeface="Roboto Mono"/>
                <a:ea typeface="Roboto Mono"/>
                <a:cs typeface="Roboto Mono"/>
                <a:sym typeface="Roboto Mono"/>
              </a:rPr>
              <a:t>'Hello'</a:t>
            </a:r>
            <a:r>
              <a:rPr lang="zh-TW" sz="1500">
                <a:solidFill>
                  <a:srgbClr val="000000"/>
                </a:solidFill>
                <a:latin typeface="Arial"/>
                <a:ea typeface="Arial"/>
                <a:cs typeface="Arial"/>
                <a:sym typeface="Arial"/>
              </a:rPr>
              <a:t> 或 </a:t>
            </a:r>
            <a:r>
              <a:rPr lang="zh-TW" sz="1500">
                <a:solidFill>
                  <a:srgbClr val="188038"/>
                </a:solidFill>
                <a:latin typeface="Roboto Mono"/>
                <a:ea typeface="Roboto Mono"/>
                <a:cs typeface="Roboto Mono"/>
                <a:sym typeface="Roboto Mono"/>
              </a:rPr>
              <a:t>"World"</a:t>
            </a:r>
            <a:r>
              <a:rPr lang="zh-TW"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AutoNum type="arabicPeriod"/>
            </a:pPr>
            <a:r>
              <a:rPr b="1" lang="zh-TW" sz="1500">
                <a:solidFill>
                  <a:srgbClr val="000000"/>
                </a:solidFill>
                <a:latin typeface="Arial"/>
                <a:ea typeface="Arial"/>
                <a:cs typeface="Arial"/>
                <a:sym typeface="Arial"/>
              </a:rPr>
              <a:t>布林型別 (bool)</a:t>
            </a:r>
            <a:r>
              <a:rPr lang="zh-TW" sz="1500">
                <a:solidFill>
                  <a:srgbClr val="000000"/>
                </a:solidFill>
                <a:latin typeface="Arial"/>
                <a:ea typeface="Arial"/>
                <a:cs typeface="Arial"/>
                <a:sym typeface="Arial"/>
              </a:rPr>
              <a:t>：表示邏輯值，只有 </a:t>
            </a:r>
            <a:r>
              <a:rPr lang="zh-TW" sz="1500">
                <a:solidFill>
                  <a:srgbClr val="188038"/>
                </a:solidFill>
                <a:latin typeface="Roboto Mono"/>
                <a:ea typeface="Roboto Mono"/>
                <a:cs typeface="Roboto Mono"/>
                <a:sym typeface="Roboto Mono"/>
              </a:rPr>
              <a:t>True</a:t>
            </a:r>
            <a:r>
              <a:rPr lang="zh-TW" sz="1500">
                <a:solidFill>
                  <a:srgbClr val="000000"/>
                </a:solidFill>
                <a:latin typeface="Arial"/>
                <a:ea typeface="Arial"/>
                <a:cs typeface="Arial"/>
                <a:sym typeface="Arial"/>
              </a:rPr>
              <a:t> 或 </a:t>
            </a:r>
            <a:r>
              <a:rPr lang="zh-TW" sz="1500">
                <a:solidFill>
                  <a:srgbClr val="188038"/>
                </a:solidFill>
                <a:latin typeface="Roboto Mono"/>
                <a:ea typeface="Roboto Mono"/>
                <a:cs typeface="Roboto Mono"/>
                <a:sym typeface="Roboto Mono"/>
              </a:rPr>
              <a:t>False</a:t>
            </a:r>
            <a:r>
              <a:rPr lang="zh-TW"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數字型態</a:t>
            </a:r>
            <a:endParaRPr/>
          </a:p>
        </p:txBody>
      </p:sp>
      <p:sp>
        <p:nvSpPr>
          <p:cNvPr id="145" name="Google Shape;145;p24"/>
          <p:cNvSpPr txBox="1"/>
          <p:nvPr>
            <p:ph idx="1" type="body"/>
          </p:nvPr>
        </p:nvSpPr>
        <p:spPr>
          <a:xfrm>
            <a:off x="311700" y="1139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1.</a:t>
            </a:r>
            <a:r>
              <a:rPr lang="zh-TW"/>
              <a:t>整數(</a:t>
            </a:r>
            <a:r>
              <a:rPr lang="zh-TW"/>
              <a:t>int)</a:t>
            </a:r>
            <a:endParaRPr/>
          </a:p>
          <a:p>
            <a:pPr indent="0" lvl="0" marL="0" rtl="0" algn="l">
              <a:spcBef>
                <a:spcPts val="1200"/>
              </a:spcBef>
              <a:spcAft>
                <a:spcPts val="0"/>
              </a:spcAft>
              <a:buNone/>
            </a:pPr>
            <a:r>
              <a:rPr lang="zh-TW"/>
              <a:t>ex: 100,10000,5,-5,-100…..</a:t>
            </a:r>
            <a:endParaRPr/>
          </a:p>
          <a:p>
            <a:pPr indent="0" lvl="0" marL="0" rtl="0" algn="l">
              <a:spcBef>
                <a:spcPts val="1200"/>
              </a:spcBef>
              <a:spcAft>
                <a:spcPts val="0"/>
              </a:spcAft>
              <a:buNone/>
            </a:pPr>
            <a:r>
              <a:rPr lang="zh-TW"/>
              <a:t>2.浮</a:t>
            </a:r>
            <a:r>
              <a:rPr lang="zh-TW"/>
              <a:t>點數(float):</a:t>
            </a:r>
            <a:endParaRPr/>
          </a:p>
          <a:p>
            <a:pPr indent="0" lvl="0" marL="0" rtl="0" algn="l">
              <a:spcBef>
                <a:spcPts val="1200"/>
              </a:spcBef>
              <a:spcAft>
                <a:spcPts val="0"/>
              </a:spcAft>
              <a:buNone/>
            </a:pPr>
            <a:r>
              <a:rPr lang="zh-TW"/>
              <a:t>ex: 100.11 , 5000.444 , 5.54 , -5.111, -100.476 …..</a:t>
            </a:r>
            <a:endParaRPr/>
          </a:p>
          <a:p>
            <a:pPr indent="0" lvl="0" marL="0" rtl="0" algn="l">
              <a:spcBef>
                <a:spcPts val="1200"/>
              </a:spcBef>
              <a:spcAft>
                <a:spcPts val="0"/>
              </a:spcAft>
              <a:buNone/>
            </a:pPr>
            <a:r>
              <a:rPr lang="zh-TW"/>
              <a:t>3.複數(complex)</a:t>
            </a:r>
            <a:endParaRPr/>
          </a:p>
          <a:p>
            <a:pPr indent="0" lvl="0" marL="0" rtl="0" algn="l">
              <a:spcBef>
                <a:spcPts val="1200"/>
              </a:spcBef>
              <a:spcAft>
                <a:spcPts val="1200"/>
              </a:spcAft>
              <a:buNone/>
            </a:pPr>
            <a:r>
              <a:rPr lang="zh-TW"/>
              <a:t>ex: 1+2j</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字串(string)</a:t>
            </a:r>
            <a:endParaRPr/>
          </a:p>
        </p:txBody>
      </p:sp>
      <p:sp>
        <p:nvSpPr>
          <p:cNvPr id="151" name="Google Shape;15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zh-TW"/>
              <a:t>1.</a:t>
            </a:r>
            <a:r>
              <a:rPr lang="zh-TW"/>
              <a:t>單引號包圍</a:t>
            </a:r>
            <a:endParaRPr/>
          </a:p>
          <a:p>
            <a:pPr indent="457200" lvl="0" marL="0" rtl="0" algn="l">
              <a:spcBef>
                <a:spcPts val="1200"/>
              </a:spcBef>
              <a:spcAft>
                <a:spcPts val="0"/>
              </a:spcAft>
              <a:buNone/>
            </a:pPr>
            <a:r>
              <a:rPr lang="zh-TW"/>
              <a:t>ex:'this is “a” book'</a:t>
            </a:r>
            <a:endParaRPr/>
          </a:p>
          <a:p>
            <a:pPr indent="0" lvl="0" marL="0" rtl="0" algn="l">
              <a:spcBef>
                <a:spcPts val="1200"/>
              </a:spcBef>
              <a:spcAft>
                <a:spcPts val="0"/>
              </a:spcAft>
              <a:buNone/>
            </a:pPr>
            <a:r>
              <a:rPr lang="zh-TW"/>
              <a:t>2</a:t>
            </a:r>
            <a:r>
              <a:rPr lang="zh-TW"/>
              <a:t>.雙引號包圍</a:t>
            </a:r>
            <a:endParaRPr/>
          </a:p>
          <a:p>
            <a:pPr indent="457200" lvl="0" marL="0" rtl="0" algn="l">
              <a:spcBef>
                <a:spcPts val="1200"/>
              </a:spcBef>
              <a:spcAft>
                <a:spcPts val="0"/>
              </a:spcAft>
              <a:buNone/>
            </a:pPr>
            <a:r>
              <a:rPr lang="zh-TW"/>
              <a:t>ex: "this is 'a' book"</a:t>
            </a:r>
            <a:endParaRPr/>
          </a:p>
          <a:p>
            <a:pPr indent="0" lvl="0" marL="0" rtl="0" algn="l">
              <a:spcBef>
                <a:spcPts val="1200"/>
              </a:spcBef>
              <a:spcAft>
                <a:spcPts val="0"/>
              </a:spcAft>
              <a:buNone/>
            </a:pPr>
            <a:r>
              <a:rPr lang="zh-TW"/>
              <a:t>3.三引號包圍(三個單引號) :可以當作字串也可以用於多行註解</a:t>
            </a:r>
            <a:endParaRPr/>
          </a:p>
          <a:p>
            <a:pPr indent="457200" lvl="0" marL="0" rtl="0" algn="l">
              <a:spcBef>
                <a:spcPts val="1200"/>
              </a:spcBef>
              <a:spcAft>
                <a:spcPts val="0"/>
              </a:spcAft>
              <a:buNone/>
            </a:pPr>
            <a:r>
              <a:rPr lang="zh-TW"/>
              <a:t>'''this is a triply-quoted string </a:t>
            </a:r>
            <a:endParaRPr/>
          </a:p>
          <a:p>
            <a:pPr indent="457200" lvl="0" marL="0" rtl="0" algn="l">
              <a:spcBef>
                <a:spcPts val="1200"/>
              </a:spcBef>
              <a:spcAft>
                <a:spcPts val="0"/>
              </a:spcAft>
              <a:buNone/>
            </a:pPr>
            <a:r>
              <a:rPr lang="zh-TW"/>
              <a:t>字串中可以換行,不用加跳脫字元， </a:t>
            </a:r>
            <a:endParaRPr/>
          </a:p>
          <a:p>
            <a:pPr indent="457200" lvl="0" marL="0" rtl="0" algn="l">
              <a:spcBef>
                <a:spcPts val="1200"/>
              </a:spcBef>
              <a:spcAft>
                <a:spcPts val="1200"/>
              </a:spcAft>
              <a:buNone/>
            </a:pPr>
            <a:r>
              <a:rPr lang="zh-TW"/>
              <a:t>也可以用'單引號'和"雙引號" '''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布林型別 (boolean)</a:t>
            </a:r>
            <a:endParaRPr/>
          </a:p>
        </p:txBody>
      </p:sp>
      <p:sp>
        <p:nvSpPr>
          <p:cNvPr id="157" name="Google Shape;15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布林值只有「True」和「False」兩種，只有0 或空值(Null)視為假，其餘皆視為真。</a:t>
            </a:r>
            <a:endParaRPr/>
          </a:p>
          <a:p>
            <a:pPr indent="0" lvl="0" marL="0" rtl="0" algn="l">
              <a:spcBef>
                <a:spcPts val="1200"/>
              </a:spcBef>
              <a:spcAft>
                <a:spcPts val="0"/>
              </a:spcAft>
              <a:buNone/>
            </a:pPr>
            <a:r>
              <a:rPr lang="zh-TW"/>
              <a:t>ex:   a=</a:t>
            </a:r>
            <a:r>
              <a:rPr lang="zh-TW">
                <a:solidFill>
                  <a:srgbClr val="0000FF"/>
                </a:solidFill>
              </a:rPr>
              <a:t>True</a:t>
            </a:r>
            <a:endParaRPr>
              <a:solidFill>
                <a:srgbClr val="0000FF"/>
              </a:solidFill>
            </a:endParaRPr>
          </a:p>
          <a:p>
            <a:pPr indent="0" lvl="0" marL="0" rtl="0" algn="l">
              <a:spcBef>
                <a:spcPts val="1200"/>
              </a:spcBef>
              <a:spcAft>
                <a:spcPts val="0"/>
              </a:spcAft>
              <a:buNone/>
            </a:pPr>
            <a:r>
              <a:rPr lang="zh-TW"/>
              <a:t>	b=</a:t>
            </a:r>
            <a:r>
              <a:rPr lang="zh-TW">
                <a:solidFill>
                  <a:srgbClr val="0000FF"/>
                </a:solidFill>
              </a:rPr>
              <a:t>False</a:t>
            </a:r>
            <a:endParaRPr>
              <a:solidFill>
                <a:srgbClr val="0000FF"/>
              </a:solidFill>
            </a:endParaRPr>
          </a:p>
          <a:p>
            <a:pPr indent="0" lvl="0" marL="0" rtl="0" algn="l">
              <a:spcBef>
                <a:spcPts val="1200"/>
              </a:spcBef>
              <a:spcAft>
                <a:spcPts val="1200"/>
              </a:spcAft>
              <a:buNone/>
            </a:pPr>
            <a:r>
              <a:rPr lang="zh-TW">
                <a:solidFill>
                  <a:schemeClr val="dk1"/>
                </a:solidFill>
              </a:rPr>
              <a:t>此處之</a:t>
            </a:r>
            <a:r>
              <a:rPr lang="zh-TW">
                <a:solidFill>
                  <a:srgbClr val="0000FF"/>
                </a:solidFill>
              </a:rPr>
              <a:t>True,False為系統保留字</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資料型別轉換</a:t>
            </a:r>
            <a:endParaRPr/>
          </a:p>
        </p:txBody>
      </p:sp>
      <p:sp>
        <p:nvSpPr>
          <p:cNvPr id="163" name="Google Shape;16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常用的型別轉換： </a:t>
            </a:r>
            <a:endParaRPr/>
          </a:p>
          <a:p>
            <a:pPr indent="0" lvl="0" marL="0" rtl="0" algn="l">
              <a:spcBef>
                <a:spcPts val="1200"/>
              </a:spcBef>
              <a:spcAft>
                <a:spcPts val="0"/>
              </a:spcAft>
              <a:buNone/>
            </a:pPr>
            <a:r>
              <a:rPr lang="zh-TW"/>
              <a:t>• str(x)  #將變數x的內容轉換成字串 </a:t>
            </a:r>
            <a:endParaRPr/>
          </a:p>
          <a:p>
            <a:pPr indent="0" lvl="0" marL="0" rtl="0" algn="l">
              <a:spcBef>
                <a:spcPts val="1200"/>
              </a:spcBef>
              <a:spcAft>
                <a:spcPts val="0"/>
              </a:spcAft>
              <a:buNone/>
            </a:pPr>
            <a:r>
              <a:rPr lang="zh-TW"/>
              <a:t>• int(x)  #將變數x的內容轉換成整數 </a:t>
            </a:r>
            <a:endParaRPr/>
          </a:p>
          <a:p>
            <a:pPr indent="0" lvl="0" marL="0" rtl="0" algn="l">
              <a:spcBef>
                <a:spcPts val="1200"/>
              </a:spcBef>
              <a:spcAft>
                <a:spcPts val="0"/>
              </a:spcAft>
              <a:buNone/>
            </a:pPr>
            <a:r>
              <a:rPr lang="zh-TW"/>
              <a:t>• float(x)  #將變數x的內容轉換成浮點數 </a:t>
            </a:r>
            <a:endParaRPr/>
          </a:p>
          <a:p>
            <a:pPr indent="0" lvl="0" marL="0" rtl="0" algn="l">
              <a:spcBef>
                <a:spcPts val="1200"/>
              </a:spcBef>
              <a:spcAft>
                <a:spcPts val="1200"/>
              </a:spcAft>
              <a:buNone/>
            </a:pPr>
            <a:r>
              <a:rPr lang="zh-TW"/>
              <a:t>• complex(x)  #將變數x的內容轉換為複數</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想想看</a:t>
            </a:r>
            <a:endParaRPr/>
          </a:p>
        </p:txBody>
      </p:sp>
      <p:sp>
        <p:nvSpPr>
          <p:cNvPr id="169" name="Google Shape;169;p28"/>
          <p:cNvSpPr/>
          <p:nvPr/>
        </p:nvSpPr>
        <p:spPr>
          <a:xfrm>
            <a:off x="398825" y="1308875"/>
            <a:ext cx="8596528" cy="1017926"/>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5 + 5 = 10 ?</a:t>
            </a:r>
          </a:p>
        </p:txBody>
      </p:sp>
      <p:pic>
        <p:nvPicPr>
          <p:cNvPr id="170" name="Google Shape;170;p28"/>
          <p:cNvPicPr preferRelativeResize="0"/>
          <p:nvPr/>
        </p:nvPicPr>
        <p:blipFill>
          <a:blip r:embed="rId3">
            <a:alphaModFix/>
          </a:blip>
          <a:stretch>
            <a:fillRect/>
          </a:stretch>
        </p:blipFill>
        <p:spPr>
          <a:xfrm>
            <a:off x="1136825" y="2479101"/>
            <a:ext cx="3111330" cy="2511899"/>
          </a:xfrm>
          <a:prstGeom prst="rect">
            <a:avLst/>
          </a:prstGeom>
          <a:noFill/>
          <a:ln>
            <a:noFill/>
          </a:ln>
        </p:spPr>
      </p:pic>
      <p:sp>
        <p:nvSpPr>
          <p:cNvPr id="171" name="Google Shape;171;p28"/>
          <p:cNvSpPr txBox="1"/>
          <p:nvPr/>
        </p:nvSpPr>
        <p:spPr>
          <a:xfrm>
            <a:off x="4630250" y="3299975"/>
            <a:ext cx="2225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accent3"/>
                </a:solidFill>
                <a:latin typeface="Proxima Nova"/>
                <a:ea typeface="Proxima Nova"/>
                <a:cs typeface="Proxima Nova"/>
                <a:sym typeface="Proxima Nova"/>
              </a:rPr>
              <a:t>數字相加: 5+5 = 10 </a:t>
            </a:r>
            <a:endParaRPr sz="18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zh-TW" sz="1800">
                <a:solidFill>
                  <a:schemeClr val="accent3"/>
                </a:solidFill>
                <a:latin typeface="Proxima Nova"/>
                <a:ea typeface="Proxima Nova"/>
                <a:cs typeface="Proxima Nova"/>
                <a:sym typeface="Proxima Nova"/>
              </a:rPr>
              <a:t>字串相加: 5+5 = 55</a:t>
            </a:r>
            <a:endParaRPr sz="1800">
              <a:solidFill>
                <a:schemeClr val="accent3"/>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資料結構</a:t>
            </a:r>
            <a:endParaRPr/>
          </a:p>
        </p:txBody>
      </p:sp>
      <p:sp>
        <p:nvSpPr>
          <p:cNvPr id="177" name="Google Shape;17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lang="zh-TW" sz="2060">
                <a:solidFill>
                  <a:srgbClr val="000000"/>
                </a:solidFill>
                <a:latin typeface="Arial"/>
                <a:ea typeface="Arial"/>
                <a:cs typeface="Arial"/>
                <a:sym typeface="Arial"/>
              </a:rPr>
              <a:t>Python 有幾種內建的資料結構來存儲和管理資料，包括列表、元組、字典和集合。</a:t>
            </a:r>
            <a:endParaRPr sz="2060">
              <a:solidFill>
                <a:srgbClr val="000000"/>
              </a:solidFill>
              <a:latin typeface="Arial"/>
              <a:ea typeface="Arial"/>
              <a:cs typeface="Arial"/>
              <a:sym typeface="Arial"/>
            </a:endParaRPr>
          </a:p>
          <a:p>
            <a:pPr indent="0" lvl="0" marL="0" rtl="0" algn="l">
              <a:spcBef>
                <a:spcPts val="1200"/>
              </a:spcBef>
              <a:spcAft>
                <a:spcPts val="0"/>
              </a:spcAft>
              <a:buNone/>
            </a:pPr>
            <a:r>
              <a:rPr b="1" lang="zh-TW" sz="2060">
                <a:solidFill>
                  <a:srgbClr val="000000"/>
                </a:solidFill>
                <a:latin typeface="Arial"/>
                <a:ea typeface="Arial"/>
                <a:cs typeface="Arial"/>
                <a:sym typeface="Arial"/>
              </a:rPr>
              <a:t>串列 (List)：</a:t>
            </a:r>
            <a:endParaRPr b="1" sz="2060">
              <a:solidFill>
                <a:srgbClr val="000000"/>
              </a:solidFill>
              <a:latin typeface="Arial"/>
              <a:ea typeface="Arial"/>
              <a:cs typeface="Arial"/>
              <a:sym typeface="Arial"/>
            </a:endParaRPr>
          </a:p>
          <a:p>
            <a:pPr indent="0" lvl="0" marL="0" rtl="0" algn="l">
              <a:spcBef>
                <a:spcPts val="1200"/>
              </a:spcBef>
              <a:spcAft>
                <a:spcPts val="0"/>
              </a:spcAft>
              <a:buNone/>
            </a:pPr>
            <a:r>
              <a:rPr lang="zh-TW" sz="2060">
                <a:solidFill>
                  <a:srgbClr val="000000"/>
                </a:solidFill>
                <a:latin typeface="Arial"/>
                <a:ea typeface="Arial"/>
                <a:cs typeface="Arial"/>
                <a:sym typeface="Arial"/>
              </a:rPr>
              <a:t>列表是有序且可變的資料結構，使用方括號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來定義。它可以包含不同型別的元素。</a:t>
            </a:r>
            <a:endParaRPr sz="2060">
              <a:solidFill>
                <a:srgbClr val="000000"/>
              </a:solidFill>
              <a:latin typeface="Arial"/>
              <a:ea typeface="Arial"/>
              <a:cs typeface="Arial"/>
              <a:sym typeface="Arial"/>
            </a:endParaRPr>
          </a:p>
          <a:p>
            <a:pPr indent="0" lvl="0" marL="0" rtl="0" algn="l">
              <a:spcBef>
                <a:spcPts val="1200"/>
              </a:spcBef>
              <a:spcAft>
                <a:spcPts val="0"/>
              </a:spcAft>
              <a:buNone/>
            </a:pPr>
            <a:r>
              <a:rPr b="1" lang="zh-TW" sz="2060">
                <a:solidFill>
                  <a:srgbClr val="000000"/>
                </a:solidFill>
                <a:latin typeface="Arial"/>
                <a:ea typeface="Arial"/>
                <a:cs typeface="Arial"/>
                <a:sym typeface="Arial"/>
              </a:rPr>
              <a:t>序對 (Tuple)：</a:t>
            </a:r>
            <a:endParaRPr b="1" sz="2060">
              <a:solidFill>
                <a:srgbClr val="000000"/>
              </a:solidFill>
              <a:latin typeface="Arial"/>
              <a:ea typeface="Arial"/>
              <a:cs typeface="Arial"/>
              <a:sym typeface="Arial"/>
            </a:endParaRPr>
          </a:p>
          <a:p>
            <a:pPr indent="0" lvl="0" marL="0" rtl="0" algn="l">
              <a:spcBef>
                <a:spcPts val="1200"/>
              </a:spcBef>
              <a:spcAft>
                <a:spcPts val="0"/>
              </a:spcAft>
              <a:buNone/>
            </a:pPr>
            <a:r>
              <a:rPr lang="zh-TW" sz="2060">
                <a:solidFill>
                  <a:srgbClr val="000000"/>
                </a:solidFill>
                <a:latin typeface="Arial"/>
                <a:ea typeface="Arial"/>
                <a:cs typeface="Arial"/>
                <a:sym typeface="Arial"/>
              </a:rPr>
              <a:t>序對和列表相似，但它是不可變的，意思是定義後不能修改。使用小括號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來定義。</a:t>
            </a:r>
            <a:endParaRPr sz="2060">
              <a:solidFill>
                <a:srgbClr val="000000"/>
              </a:solidFill>
              <a:latin typeface="Arial"/>
              <a:ea typeface="Arial"/>
              <a:cs typeface="Arial"/>
              <a:sym typeface="Arial"/>
            </a:endParaRPr>
          </a:p>
          <a:p>
            <a:pPr indent="0" lvl="0" marL="0" rtl="0" algn="l">
              <a:spcBef>
                <a:spcPts val="1200"/>
              </a:spcBef>
              <a:spcAft>
                <a:spcPts val="0"/>
              </a:spcAft>
              <a:buNone/>
            </a:pPr>
            <a:r>
              <a:rPr b="1" lang="zh-TW" sz="2060">
                <a:solidFill>
                  <a:srgbClr val="000000"/>
                </a:solidFill>
                <a:latin typeface="Arial"/>
                <a:ea typeface="Arial"/>
                <a:cs typeface="Arial"/>
                <a:sym typeface="Arial"/>
              </a:rPr>
              <a:t>字典 (Dictionary)：</a:t>
            </a:r>
            <a:endParaRPr b="1" sz="2060">
              <a:solidFill>
                <a:srgbClr val="000000"/>
              </a:solidFill>
              <a:latin typeface="Arial"/>
              <a:ea typeface="Arial"/>
              <a:cs typeface="Arial"/>
              <a:sym typeface="Arial"/>
            </a:endParaRPr>
          </a:p>
          <a:p>
            <a:pPr indent="0" lvl="0" marL="0" rtl="0" algn="l">
              <a:spcBef>
                <a:spcPts val="1200"/>
              </a:spcBef>
              <a:spcAft>
                <a:spcPts val="0"/>
              </a:spcAft>
              <a:buNone/>
            </a:pPr>
            <a:r>
              <a:rPr lang="zh-TW" sz="2060">
                <a:solidFill>
                  <a:srgbClr val="000000"/>
                </a:solidFill>
                <a:latin typeface="Arial"/>
                <a:ea typeface="Arial"/>
                <a:cs typeface="Arial"/>
                <a:sym typeface="Arial"/>
              </a:rPr>
              <a:t>字典是一種鍵值對 (key-value) 的集合，使用大括號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定義，鍵和值之間用冒號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隔開。</a:t>
            </a:r>
            <a:endParaRPr sz="2060">
              <a:solidFill>
                <a:srgbClr val="000000"/>
              </a:solidFill>
              <a:latin typeface="Arial"/>
              <a:ea typeface="Arial"/>
              <a:cs typeface="Arial"/>
              <a:sym typeface="Arial"/>
            </a:endParaRPr>
          </a:p>
          <a:p>
            <a:pPr indent="0" lvl="0" marL="0" rtl="0" algn="l">
              <a:spcBef>
                <a:spcPts val="1200"/>
              </a:spcBef>
              <a:spcAft>
                <a:spcPts val="0"/>
              </a:spcAft>
              <a:buNone/>
            </a:pPr>
            <a:r>
              <a:rPr b="1" lang="zh-TW" sz="2060">
                <a:solidFill>
                  <a:srgbClr val="000000"/>
                </a:solidFill>
                <a:latin typeface="Arial"/>
                <a:ea typeface="Arial"/>
                <a:cs typeface="Arial"/>
                <a:sym typeface="Arial"/>
              </a:rPr>
              <a:t>集合 (Set)：</a:t>
            </a:r>
            <a:endParaRPr b="1" sz="2060">
              <a:solidFill>
                <a:srgbClr val="000000"/>
              </a:solidFill>
              <a:latin typeface="Arial"/>
              <a:ea typeface="Arial"/>
              <a:cs typeface="Arial"/>
              <a:sym typeface="Arial"/>
            </a:endParaRPr>
          </a:p>
          <a:p>
            <a:pPr indent="0" lvl="0" marL="0" rtl="0" algn="l">
              <a:spcBef>
                <a:spcPts val="1200"/>
              </a:spcBef>
              <a:spcAft>
                <a:spcPts val="0"/>
              </a:spcAft>
              <a:buNone/>
            </a:pPr>
            <a:r>
              <a:rPr lang="zh-TW" sz="2060">
                <a:solidFill>
                  <a:srgbClr val="000000"/>
                </a:solidFill>
                <a:latin typeface="Arial"/>
                <a:ea typeface="Arial"/>
                <a:cs typeface="Arial"/>
                <a:sym typeface="Arial"/>
              </a:rPr>
              <a:t>集合是一組無序且不重複的元素，使用大括號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定義。</a:t>
            </a:r>
            <a:endParaRPr sz="206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串列 </a:t>
            </a:r>
            <a:r>
              <a:rPr lang="zh-TW"/>
              <a:t>list</a:t>
            </a:r>
            <a:endParaRPr/>
          </a:p>
        </p:txBody>
      </p:sp>
      <p:sp>
        <p:nvSpPr>
          <p:cNvPr id="183" name="Google Shape;18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•list中的元素允許是list </a:t>
            </a:r>
            <a:endParaRPr/>
          </a:p>
          <a:p>
            <a:pPr indent="0" lvl="0" marL="0" rtl="0" algn="l">
              <a:spcBef>
                <a:spcPts val="1200"/>
              </a:spcBef>
              <a:spcAft>
                <a:spcPts val="0"/>
              </a:spcAft>
              <a:buNone/>
            </a:pPr>
            <a:r>
              <a:rPr lang="zh-TW"/>
              <a:t>•可以集合不同資料型態的元素</a:t>
            </a:r>
            <a:endParaRPr/>
          </a:p>
          <a:p>
            <a:pPr indent="0" lvl="0" marL="0" rtl="0" algn="l">
              <a:spcBef>
                <a:spcPts val="1200"/>
              </a:spcBef>
              <a:spcAft>
                <a:spcPts val="0"/>
              </a:spcAft>
              <a:buNone/>
            </a:pPr>
            <a:r>
              <a:rPr lang="zh-TW"/>
              <a:t>•list的元素是有序的(誰前誰後有關係) </a:t>
            </a:r>
            <a:endParaRPr/>
          </a:p>
          <a:p>
            <a:pPr indent="0" lvl="0" marL="0" rtl="0" algn="l">
              <a:spcBef>
                <a:spcPts val="1200"/>
              </a:spcBef>
              <a:spcAft>
                <a:spcPts val="0"/>
              </a:spcAft>
              <a:buNone/>
            </a:pPr>
            <a:r>
              <a:rPr lang="zh-TW"/>
              <a:t>•list的特徵是中括號[ ], 使⽤索引位置可以存取元素</a:t>
            </a:r>
            <a:endParaRPr/>
          </a:p>
          <a:p>
            <a:pPr indent="0" lvl="0" marL="0" rtl="0" algn="l">
              <a:spcBef>
                <a:spcPts val="1200"/>
              </a:spcBef>
              <a:spcAft>
                <a:spcPts val="0"/>
              </a:spcAft>
              <a:buNone/>
            </a:pPr>
            <a:r>
              <a:rPr lang="zh-TW"/>
              <a:t>，位置索引從0開始</a:t>
            </a:r>
            <a:endParaRPr/>
          </a:p>
          <a:p>
            <a:pPr indent="0" lvl="0" marL="0" rtl="0" algn="l">
              <a:spcBef>
                <a:spcPts val="1200"/>
              </a:spcBef>
              <a:spcAft>
                <a:spcPts val="1200"/>
              </a:spcAft>
              <a:buNone/>
            </a:pPr>
            <a:r>
              <a:rPr lang="zh-TW"/>
              <a:t>ex: list1 = [24, -5, [1,2,3], 'test']</a:t>
            </a:r>
            <a:endParaRPr/>
          </a:p>
        </p:txBody>
      </p:sp>
      <p:cxnSp>
        <p:nvCxnSpPr>
          <p:cNvPr id="184" name="Google Shape;184;p30"/>
          <p:cNvCxnSpPr/>
          <p:nvPr/>
        </p:nvCxnSpPr>
        <p:spPr>
          <a:xfrm>
            <a:off x="2389350" y="3833575"/>
            <a:ext cx="131400" cy="273600"/>
          </a:xfrm>
          <a:prstGeom prst="straightConnector1">
            <a:avLst/>
          </a:prstGeom>
          <a:noFill/>
          <a:ln cap="flat" cmpd="sng" w="9525">
            <a:solidFill>
              <a:schemeClr val="dk2"/>
            </a:solidFill>
            <a:prstDash val="solid"/>
            <a:round/>
            <a:headEnd len="med" w="med" type="none"/>
            <a:tailEnd len="med" w="med" type="triangle"/>
          </a:ln>
        </p:spPr>
      </p:cxnSp>
      <p:sp>
        <p:nvSpPr>
          <p:cNvPr id="185" name="Google Shape;185;p30"/>
          <p:cNvSpPr txBox="1"/>
          <p:nvPr/>
        </p:nvSpPr>
        <p:spPr>
          <a:xfrm>
            <a:off x="1350250" y="4107175"/>
            <a:ext cx="4779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accent3"/>
                </a:solidFill>
                <a:latin typeface="Proxima Nova"/>
                <a:ea typeface="Proxima Nova"/>
                <a:cs typeface="Proxima Nova"/>
                <a:sym typeface="Proxima Nova"/>
              </a:rPr>
              <a:t>list中之元素為list,且與其他元素之型態不同</a:t>
            </a:r>
            <a:endParaRPr sz="1800">
              <a:solidFill>
                <a:schemeClr val="accent3"/>
              </a:solidFill>
              <a:latin typeface="Proxima Nova"/>
              <a:ea typeface="Proxima Nova"/>
              <a:cs typeface="Proxima Nova"/>
              <a:sym typeface="Proxima Nova"/>
            </a:endParaRPr>
          </a:p>
        </p:txBody>
      </p:sp>
      <p:cxnSp>
        <p:nvCxnSpPr>
          <p:cNvPr id="186" name="Google Shape;186;p30"/>
          <p:cNvCxnSpPr/>
          <p:nvPr/>
        </p:nvCxnSpPr>
        <p:spPr>
          <a:xfrm flipH="1">
            <a:off x="879025" y="3936650"/>
            <a:ext cx="547800" cy="552300"/>
          </a:xfrm>
          <a:prstGeom prst="straightConnector1">
            <a:avLst/>
          </a:prstGeom>
          <a:noFill/>
          <a:ln cap="flat" cmpd="sng" w="9525">
            <a:solidFill>
              <a:schemeClr val="dk2"/>
            </a:solidFill>
            <a:prstDash val="solid"/>
            <a:round/>
            <a:headEnd len="med" w="med" type="none"/>
            <a:tailEnd len="med" w="med" type="triangle"/>
          </a:ln>
        </p:spPr>
      </p:cxnSp>
      <p:sp>
        <p:nvSpPr>
          <p:cNvPr id="187" name="Google Shape;187;p30"/>
          <p:cNvSpPr txBox="1"/>
          <p:nvPr/>
        </p:nvSpPr>
        <p:spPr>
          <a:xfrm>
            <a:off x="376025" y="4428125"/>
            <a:ext cx="109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accent3"/>
                </a:solidFill>
                <a:latin typeface="Proxima Nova"/>
                <a:ea typeface="Proxima Nova"/>
                <a:cs typeface="Proxima Nova"/>
                <a:sym typeface="Proxima Nova"/>
              </a:rPr>
              <a:t>index=0</a:t>
            </a:r>
            <a:endParaRPr sz="1800">
              <a:solidFill>
                <a:schemeClr val="accent3"/>
              </a:solidFill>
              <a:latin typeface="Proxima Nova"/>
              <a:ea typeface="Proxima Nova"/>
              <a:cs typeface="Proxima Nova"/>
              <a:sym typeface="Proxima Nova"/>
            </a:endParaRPr>
          </a:p>
        </p:txBody>
      </p:sp>
      <p:pic>
        <p:nvPicPr>
          <p:cNvPr id="188" name="Google Shape;188;p30"/>
          <p:cNvPicPr preferRelativeResize="0"/>
          <p:nvPr/>
        </p:nvPicPr>
        <p:blipFill>
          <a:blip r:embed="rId3">
            <a:alphaModFix/>
          </a:blip>
          <a:stretch>
            <a:fillRect/>
          </a:stretch>
        </p:blipFill>
        <p:spPr>
          <a:xfrm>
            <a:off x="5455275" y="1703550"/>
            <a:ext cx="3688724" cy="2314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list 之</a:t>
            </a:r>
            <a:r>
              <a:rPr lang="zh-TW"/>
              <a:t>常用指令</a:t>
            </a:r>
            <a:endParaRPr/>
          </a:p>
        </p:txBody>
      </p:sp>
      <p:graphicFrame>
        <p:nvGraphicFramePr>
          <p:cNvPr id="194" name="Google Shape;194;p31"/>
          <p:cNvGraphicFramePr/>
          <p:nvPr/>
        </p:nvGraphicFramePr>
        <p:xfrm>
          <a:off x="952500" y="1238250"/>
          <a:ext cx="3000000" cy="3000000"/>
        </p:xfrm>
        <a:graphic>
          <a:graphicData uri="http://schemas.openxmlformats.org/drawingml/2006/table">
            <a:tbl>
              <a:tblPr>
                <a:noFill/>
                <a:tableStyleId>{7C26E4BD-2EE1-4CC8-BD85-72C400897770}</a:tableStyleId>
              </a:tblPr>
              <a:tblGrid>
                <a:gridCol w="3023150"/>
                <a:gridCol w="4215850"/>
              </a:tblGrid>
              <a:tr h="381000">
                <a:tc>
                  <a:txBody>
                    <a:bodyPr/>
                    <a:lstStyle/>
                    <a:p>
                      <a:pPr indent="0" lvl="0" marL="0" rtl="0" algn="l">
                        <a:spcBef>
                          <a:spcPts val="0"/>
                        </a:spcBef>
                        <a:spcAft>
                          <a:spcPts val="0"/>
                        </a:spcAft>
                        <a:buNone/>
                      </a:pPr>
                      <a:r>
                        <a:rPr lang="zh-TW"/>
                        <a:t>用法</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r>
              <a:tr h="381000">
                <a:tc>
                  <a:txBody>
                    <a:bodyPr/>
                    <a:lstStyle/>
                    <a:p>
                      <a:pPr indent="0" lvl="0" marL="0" rtl="0" algn="l">
                        <a:spcBef>
                          <a:spcPts val="0"/>
                        </a:spcBef>
                        <a:spcAft>
                          <a:spcPts val="0"/>
                        </a:spcAft>
                        <a:buNone/>
                      </a:pPr>
                      <a:r>
                        <a:rPr lang="zh-TW"/>
                        <a:t>list.pop()</a:t>
                      </a:r>
                      <a:endParaRPr/>
                    </a:p>
                  </a:txBody>
                  <a:tcPr marT="91425" marB="91425" marR="91425" marL="91425"/>
                </a:tc>
                <a:tc>
                  <a:txBody>
                    <a:bodyPr/>
                    <a:lstStyle/>
                    <a:p>
                      <a:pPr indent="0" lvl="0" marL="0" rtl="0" algn="l">
                        <a:spcBef>
                          <a:spcPts val="0"/>
                        </a:spcBef>
                        <a:spcAft>
                          <a:spcPts val="0"/>
                        </a:spcAft>
                        <a:buNone/>
                      </a:pPr>
                      <a:r>
                        <a:rPr lang="zh-TW"/>
                        <a:t>刪除最後一個元素</a:t>
                      </a:r>
                      <a:endParaRPr/>
                    </a:p>
                  </a:txBody>
                  <a:tcPr marT="91425" marB="91425" marR="91425" marL="91425"/>
                </a:tc>
              </a:tr>
              <a:tr h="381000">
                <a:tc>
                  <a:txBody>
                    <a:bodyPr/>
                    <a:lstStyle/>
                    <a:p>
                      <a:pPr indent="0" lvl="0" marL="0" rtl="0" algn="l">
                        <a:spcBef>
                          <a:spcPts val="0"/>
                        </a:spcBef>
                        <a:spcAft>
                          <a:spcPts val="0"/>
                        </a:spcAft>
                        <a:buNone/>
                      </a:pPr>
                      <a:r>
                        <a:rPr lang="zh-TW"/>
                        <a:t>list.append(x)</a:t>
                      </a:r>
                      <a:endParaRPr/>
                    </a:p>
                  </a:txBody>
                  <a:tcPr marT="91425" marB="91425" marR="91425" marL="91425"/>
                </a:tc>
                <a:tc>
                  <a:txBody>
                    <a:bodyPr/>
                    <a:lstStyle/>
                    <a:p>
                      <a:pPr indent="0" lvl="0" marL="0" rtl="0" algn="l">
                        <a:spcBef>
                          <a:spcPts val="0"/>
                        </a:spcBef>
                        <a:spcAft>
                          <a:spcPts val="0"/>
                        </a:spcAft>
                        <a:buNone/>
                      </a:pPr>
                      <a:r>
                        <a:rPr lang="zh-TW"/>
                        <a:t>新增元素x到最後面</a:t>
                      </a:r>
                      <a:endParaRPr/>
                    </a:p>
                  </a:txBody>
                  <a:tcPr marT="91425" marB="91425" marR="91425" marL="91425"/>
                </a:tc>
              </a:tr>
              <a:tr h="381000">
                <a:tc>
                  <a:txBody>
                    <a:bodyPr/>
                    <a:lstStyle/>
                    <a:p>
                      <a:pPr indent="0" lvl="0" marL="0" rtl="0" algn="l">
                        <a:spcBef>
                          <a:spcPts val="0"/>
                        </a:spcBef>
                        <a:spcAft>
                          <a:spcPts val="0"/>
                        </a:spcAft>
                        <a:buNone/>
                      </a:pPr>
                      <a:r>
                        <a:rPr lang="zh-TW"/>
                        <a:t>list.insert(index, x)</a:t>
                      </a:r>
                      <a:endParaRPr/>
                    </a:p>
                  </a:txBody>
                  <a:tcPr marT="91425" marB="91425" marR="91425" marL="91425"/>
                </a:tc>
                <a:tc>
                  <a:txBody>
                    <a:bodyPr/>
                    <a:lstStyle/>
                    <a:p>
                      <a:pPr indent="0" lvl="0" marL="0" rtl="0" algn="l">
                        <a:spcBef>
                          <a:spcPts val="0"/>
                        </a:spcBef>
                        <a:spcAft>
                          <a:spcPts val="0"/>
                        </a:spcAft>
                        <a:buNone/>
                      </a:pPr>
                      <a:r>
                        <a:rPr lang="zh-TW"/>
                        <a:t>新增元素x到index之位置</a:t>
                      </a:r>
                      <a:endParaRPr/>
                    </a:p>
                  </a:txBody>
                  <a:tcPr marT="91425" marB="91425" marR="91425" marL="91425"/>
                </a:tc>
              </a:tr>
              <a:tr h="381000">
                <a:tc>
                  <a:txBody>
                    <a:bodyPr/>
                    <a:lstStyle/>
                    <a:p>
                      <a:pPr indent="0" lvl="0" marL="0" rtl="0" algn="l">
                        <a:spcBef>
                          <a:spcPts val="0"/>
                        </a:spcBef>
                        <a:spcAft>
                          <a:spcPts val="0"/>
                        </a:spcAft>
                        <a:buNone/>
                      </a:pPr>
                      <a:r>
                        <a:rPr lang="zh-TW"/>
                        <a:t>list.sort(reverse=boolean)</a:t>
                      </a:r>
                      <a:endParaRPr/>
                    </a:p>
                  </a:txBody>
                  <a:tcPr marT="91425" marB="91425" marR="91425" marL="91425"/>
                </a:tc>
                <a:tc>
                  <a:txBody>
                    <a:bodyPr/>
                    <a:lstStyle/>
                    <a:p>
                      <a:pPr indent="0" lvl="0" marL="0" rtl="0" algn="l">
                        <a:spcBef>
                          <a:spcPts val="0"/>
                        </a:spcBef>
                        <a:spcAft>
                          <a:spcPts val="0"/>
                        </a:spcAft>
                        <a:buNone/>
                      </a:pPr>
                      <a:r>
                        <a:rPr lang="zh-TW"/>
                        <a:t>當b為False時</a:t>
                      </a:r>
                      <a:r>
                        <a:rPr lang="zh-TW"/>
                        <a:t>從小排到大(升冪排列)，True為降冪</a:t>
                      </a:r>
                      <a:endParaRPr/>
                    </a:p>
                  </a:txBody>
                  <a:tcPr marT="91425" marB="91425" marR="91425" marL="91425"/>
                </a:tc>
              </a:tr>
              <a:tr h="381000">
                <a:tc>
                  <a:txBody>
                    <a:bodyPr/>
                    <a:lstStyle/>
                    <a:p>
                      <a:pPr indent="0" lvl="0" marL="0" rtl="0" algn="l">
                        <a:spcBef>
                          <a:spcPts val="0"/>
                        </a:spcBef>
                        <a:spcAft>
                          <a:spcPts val="0"/>
                        </a:spcAft>
                        <a:buNone/>
                      </a:pPr>
                      <a:r>
                        <a:rPr lang="zh-TW"/>
                        <a:t>list.extend(x)</a:t>
                      </a:r>
                      <a:endParaRPr/>
                    </a:p>
                  </a:txBody>
                  <a:tcPr marT="91425" marB="91425" marR="91425" marL="91425"/>
                </a:tc>
                <a:tc>
                  <a:txBody>
                    <a:bodyPr/>
                    <a:lstStyle/>
                    <a:p>
                      <a:pPr indent="0" lvl="0" marL="0" rtl="0" algn="l">
                        <a:spcBef>
                          <a:spcPts val="0"/>
                        </a:spcBef>
                        <a:spcAft>
                          <a:spcPts val="0"/>
                        </a:spcAft>
                        <a:buNone/>
                      </a:pPr>
                      <a:r>
                        <a:rPr lang="zh-TW"/>
                        <a:t>將x中的元素接到 list 的尾端。</a:t>
                      </a:r>
                      <a:endParaRPr/>
                    </a:p>
                  </a:txBody>
                  <a:tcPr marT="91425" marB="91425" marR="91425" marL="91425"/>
                </a:tc>
              </a:tr>
              <a:tr h="381000">
                <a:tc>
                  <a:txBody>
                    <a:bodyPr/>
                    <a:lstStyle/>
                    <a:p>
                      <a:pPr indent="0" lvl="0" marL="0" rtl="0" algn="l">
                        <a:spcBef>
                          <a:spcPts val="0"/>
                        </a:spcBef>
                        <a:spcAft>
                          <a:spcPts val="0"/>
                        </a:spcAft>
                        <a:buNone/>
                      </a:pPr>
                      <a:r>
                        <a:rPr lang="zh-TW"/>
                        <a:t>list.remove(x)</a:t>
                      </a:r>
                      <a:endParaRPr/>
                    </a:p>
                  </a:txBody>
                  <a:tcPr marT="91425" marB="91425" marR="91425" marL="91425"/>
                </a:tc>
                <a:tc>
                  <a:txBody>
                    <a:bodyPr/>
                    <a:lstStyle/>
                    <a:p>
                      <a:pPr indent="0" lvl="0" marL="0" rtl="0" algn="l">
                        <a:spcBef>
                          <a:spcPts val="0"/>
                        </a:spcBef>
                        <a:spcAft>
                          <a:spcPts val="0"/>
                        </a:spcAft>
                        <a:buNone/>
                      </a:pPr>
                      <a:r>
                        <a:rPr lang="zh-TW"/>
                        <a:t>刪除 list 中第一個值等於 x 的元素。</a:t>
                      </a:r>
                      <a:endParaRPr/>
                    </a:p>
                  </a:txBody>
                  <a:tcPr marT="91425" marB="91425" marR="91425" marL="91425"/>
                </a:tc>
              </a:tr>
              <a:tr h="381000">
                <a:tc>
                  <a:txBody>
                    <a:bodyPr/>
                    <a:lstStyle/>
                    <a:p>
                      <a:pPr indent="0" lvl="0" marL="0" rtl="0" algn="l">
                        <a:spcBef>
                          <a:spcPts val="0"/>
                        </a:spcBef>
                        <a:spcAft>
                          <a:spcPts val="0"/>
                        </a:spcAft>
                        <a:buNone/>
                      </a:pPr>
                      <a:r>
                        <a:rPr lang="zh-TW"/>
                        <a:t>list.clear()</a:t>
                      </a:r>
                      <a:endParaRPr/>
                    </a:p>
                  </a:txBody>
                  <a:tcPr marT="91425" marB="91425" marR="91425" marL="91425"/>
                </a:tc>
                <a:tc>
                  <a:txBody>
                    <a:bodyPr/>
                    <a:lstStyle/>
                    <a:p>
                      <a:pPr indent="0" lvl="0" marL="0" rtl="0" algn="l">
                        <a:spcBef>
                          <a:spcPts val="0"/>
                        </a:spcBef>
                        <a:spcAft>
                          <a:spcPts val="0"/>
                        </a:spcAft>
                        <a:buNone/>
                      </a:pPr>
                      <a:r>
                        <a:rPr lang="zh-TW"/>
                        <a:t>刪除 list 中所有項目。</a:t>
                      </a:r>
                      <a:endParaRPr/>
                    </a:p>
                  </a:txBody>
                  <a:tcPr marT="91425" marB="91425" marR="91425" marL="91425"/>
                </a:tc>
              </a:tr>
            </a:tbl>
          </a:graphicData>
        </a:graphic>
      </p:graphicFrame>
      <p:sp>
        <p:nvSpPr>
          <p:cNvPr id="195" name="Google Shape;195;p31"/>
          <p:cNvSpPr txBox="1"/>
          <p:nvPr/>
        </p:nvSpPr>
        <p:spPr>
          <a:xfrm>
            <a:off x="2385400" y="4664300"/>
            <a:ext cx="380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https://codingman.cc/python-list-intro/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序對(</a:t>
            </a:r>
            <a:r>
              <a:rPr lang="zh-TW"/>
              <a:t>tuple</a:t>
            </a:r>
            <a:r>
              <a:rPr lang="zh-TW"/>
              <a:t>)</a:t>
            </a:r>
            <a:endParaRPr/>
          </a:p>
        </p:txBody>
      </p:sp>
      <p:sp>
        <p:nvSpPr>
          <p:cNvPr id="201" name="Google Shape;20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TW"/>
              <a:t>•tuple</a:t>
            </a:r>
            <a:r>
              <a:rPr lang="zh-TW"/>
              <a:t>中的元素允許是tuple </a:t>
            </a:r>
            <a:endParaRPr/>
          </a:p>
          <a:p>
            <a:pPr indent="0" lvl="0" marL="0" rtl="0" algn="l">
              <a:spcBef>
                <a:spcPts val="1200"/>
              </a:spcBef>
              <a:spcAft>
                <a:spcPts val="0"/>
              </a:spcAft>
              <a:buNone/>
            </a:pPr>
            <a:r>
              <a:rPr lang="zh-TW"/>
              <a:t>•可以集合不同資料型態的元素</a:t>
            </a:r>
            <a:endParaRPr/>
          </a:p>
          <a:p>
            <a:pPr indent="0" lvl="0" marL="0" rtl="0" algn="l">
              <a:spcBef>
                <a:spcPts val="1200"/>
              </a:spcBef>
              <a:spcAft>
                <a:spcPts val="0"/>
              </a:spcAft>
              <a:buNone/>
            </a:pPr>
            <a:r>
              <a:rPr lang="zh-TW"/>
              <a:t>•tuple的元素是有序的(誰前誰後有關係) </a:t>
            </a:r>
            <a:endParaRPr/>
          </a:p>
          <a:p>
            <a:pPr indent="0" lvl="0" marL="0" rtl="0" algn="l">
              <a:spcBef>
                <a:spcPts val="1200"/>
              </a:spcBef>
              <a:spcAft>
                <a:spcPts val="0"/>
              </a:spcAft>
              <a:buNone/>
            </a:pPr>
            <a:r>
              <a:rPr lang="zh-TW"/>
              <a:t>•tuple的特徵是小括號(), 使⽤索引位置可以存取元素</a:t>
            </a:r>
            <a:endParaRPr/>
          </a:p>
          <a:p>
            <a:pPr indent="0" lvl="0" marL="0" rtl="0" algn="l">
              <a:spcBef>
                <a:spcPts val="1200"/>
              </a:spcBef>
              <a:spcAft>
                <a:spcPts val="0"/>
              </a:spcAft>
              <a:buNone/>
            </a:pPr>
            <a:r>
              <a:rPr lang="zh-TW"/>
              <a:t>，位置索引從0開始</a:t>
            </a:r>
            <a:endParaRPr/>
          </a:p>
          <a:p>
            <a:pPr indent="0" lvl="0" marL="0" rtl="0" algn="l">
              <a:spcBef>
                <a:spcPts val="1200"/>
              </a:spcBef>
              <a:spcAft>
                <a:spcPts val="0"/>
              </a:spcAft>
              <a:buNone/>
            </a:pPr>
            <a:r>
              <a:rPr lang="zh-TW"/>
              <a:t>•與list類似，最⼤的不同tuple是⼀種唯讀且不可 變更的資料結構，不可取代tuple中的任意⼀個元素，因為它是唯讀不可變更的</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序對(tuple)</a:t>
            </a:r>
            <a:endParaRPr/>
          </a:p>
        </p:txBody>
      </p:sp>
      <p:sp>
        <p:nvSpPr>
          <p:cNvPr id="207" name="Google Shape;20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zh-TW"/>
              <a:t>•</a:t>
            </a:r>
            <a:r>
              <a:rPr lang="zh-TW"/>
              <a:t>tuple </a:t>
            </a:r>
            <a:endParaRPr/>
          </a:p>
          <a:p>
            <a:pPr indent="457200" lvl="0" marL="0" rtl="0" algn="l">
              <a:spcBef>
                <a:spcPts val="1200"/>
              </a:spcBef>
              <a:spcAft>
                <a:spcPts val="0"/>
              </a:spcAft>
              <a:buNone/>
            </a:pPr>
            <a:r>
              <a:rPr lang="zh-TW"/>
              <a:t>f = (5,3,8,7)  </a:t>
            </a:r>
            <a:r>
              <a:rPr lang="zh-TW"/>
              <a:t># A tuple of integers</a:t>
            </a:r>
            <a:endParaRPr/>
          </a:p>
          <a:p>
            <a:pPr indent="457200" lvl="0" marL="0" rtl="0" algn="l">
              <a:spcBef>
                <a:spcPts val="1200"/>
              </a:spcBef>
              <a:spcAft>
                <a:spcPts val="0"/>
              </a:spcAft>
              <a:buNone/>
            </a:pPr>
            <a:r>
              <a:rPr lang="zh-TW"/>
              <a:t>g = ()  </a:t>
            </a:r>
            <a:r>
              <a:rPr lang="zh-TW"/>
              <a:t># An empty tuple</a:t>
            </a:r>
            <a:endParaRPr/>
          </a:p>
          <a:p>
            <a:pPr indent="457200" lvl="0" marL="0" rtl="0" algn="l">
              <a:spcBef>
                <a:spcPts val="1200"/>
              </a:spcBef>
              <a:spcAft>
                <a:spcPts val="0"/>
              </a:spcAft>
              <a:buNone/>
            </a:pPr>
            <a:r>
              <a:rPr lang="zh-TW"/>
              <a:t>h = (2, [3,4], (10,11,12))  # A tuple containing mixed objects </a:t>
            </a:r>
            <a:endParaRPr/>
          </a:p>
          <a:p>
            <a:pPr indent="0" lvl="0" marL="0" rtl="0" algn="l">
              <a:spcBef>
                <a:spcPts val="1200"/>
              </a:spcBef>
              <a:spcAft>
                <a:spcPts val="0"/>
              </a:spcAft>
              <a:buNone/>
            </a:pPr>
            <a:r>
              <a:rPr lang="zh-TW"/>
              <a:t>•tuple的操作 </a:t>
            </a:r>
            <a:endParaRPr/>
          </a:p>
          <a:p>
            <a:pPr indent="457200" lvl="0" marL="0" rtl="0" algn="l">
              <a:spcBef>
                <a:spcPts val="1200"/>
              </a:spcBef>
              <a:spcAft>
                <a:spcPts val="0"/>
              </a:spcAft>
              <a:buNone/>
            </a:pPr>
            <a:r>
              <a:rPr lang="zh-TW"/>
              <a:t>x = f[1]  </a:t>
            </a:r>
            <a:r>
              <a:rPr lang="zh-TW"/>
              <a:t># Element access. x = 3 </a:t>
            </a:r>
            <a:endParaRPr/>
          </a:p>
          <a:p>
            <a:pPr indent="457200" lvl="0" marL="0" rtl="0" algn="l">
              <a:spcBef>
                <a:spcPts val="1200"/>
              </a:spcBef>
              <a:spcAft>
                <a:spcPts val="0"/>
              </a:spcAft>
              <a:buNone/>
            </a:pPr>
            <a:r>
              <a:rPr lang="zh-TW"/>
              <a:t>y = f[1:3] </a:t>
            </a:r>
            <a:r>
              <a:rPr lang="zh-TW"/>
              <a:t># Slices. y = (3,8)</a:t>
            </a:r>
            <a:endParaRPr/>
          </a:p>
          <a:p>
            <a:pPr indent="457200" lvl="0" marL="0" rtl="0" algn="l">
              <a:spcBef>
                <a:spcPts val="1200"/>
              </a:spcBef>
              <a:spcAft>
                <a:spcPts val="1200"/>
              </a:spcAft>
              <a:buNone/>
            </a:pPr>
            <a:r>
              <a:rPr lang="zh-TW"/>
              <a:t>z = h[1][0]  # Nesting. z = 3，h[1]= </a:t>
            </a:r>
            <a:r>
              <a:rPr lang="zh-TW"/>
              <a:t>[3,4]，[3,4]位置0為3故=3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字典型態 (dict) </a:t>
            </a:r>
            <a:endParaRPr/>
          </a:p>
        </p:txBody>
      </p:sp>
      <p:sp>
        <p:nvSpPr>
          <p:cNvPr id="213" name="Google Shape;21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TW"/>
              <a:t>與list, tuple不同，不以索引位置存取元素，改以key當作索引存取元素</a:t>
            </a:r>
            <a:endParaRPr/>
          </a:p>
          <a:p>
            <a:pPr indent="-342900" lvl="0" marL="457200" rtl="0" algn="l">
              <a:spcBef>
                <a:spcPts val="0"/>
              </a:spcBef>
              <a:spcAft>
                <a:spcPts val="0"/>
              </a:spcAft>
              <a:buSzPts val="1800"/>
              <a:buChar char="●"/>
            </a:pPr>
            <a:r>
              <a:rPr lang="zh-TW"/>
              <a:t>建⽴字典變數可利⽤⼤括弧{ }，裡頭以 key : value 為配對的資料項目，若有多筆資料再以逗號區隔開 </a:t>
            </a:r>
            <a:endParaRPr/>
          </a:p>
          <a:p>
            <a:pPr indent="-342900" lvl="0" marL="457200" rtl="0" algn="l">
              <a:spcBef>
                <a:spcPts val="0"/>
              </a:spcBef>
              <a:spcAft>
                <a:spcPts val="0"/>
              </a:spcAft>
              <a:buSzPts val="1800"/>
              <a:buChar char="●"/>
            </a:pPr>
            <a:r>
              <a:rPr lang="zh-TW"/>
              <a:t>使⽤字典須注意， key 必須是不可變的資料型態，如數字、字串 (string) 等， value 沒有限制 </a:t>
            </a:r>
            <a:endParaRPr/>
          </a:p>
          <a:p>
            <a:pPr indent="-342900" lvl="0" marL="457200" rtl="0" algn="l">
              <a:spcBef>
                <a:spcPts val="0"/>
              </a:spcBef>
              <a:spcAft>
                <a:spcPts val="0"/>
              </a:spcAft>
              <a:buSzPts val="1800"/>
              <a:buChar char="●"/>
            </a:pPr>
            <a:r>
              <a:rPr lang="zh-TW"/>
              <a:t>dict 的元素是無序的(誰前誰後沒關係)</a:t>
            </a:r>
            <a:endParaRPr/>
          </a:p>
          <a:p>
            <a:pPr indent="0" lvl="0" marL="457200" rtl="0" algn="l">
              <a:spcBef>
                <a:spcPts val="1200"/>
              </a:spcBef>
              <a:spcAft>
                <a:spcPts val="0"/>
              </a:spcAft>
              <a:buNone/>
            </a:pPr>
            <a:r>
              <a:rPr lang="zh-TW"/>
              <a:t>ex :  </a:t>
            </a:r>
            <a:endParaRPr/>
          </a:p>
          <a:p>
            <a:pPr indent="0" lvl="0" marL="457200" rtl="0" algn="l">
              <a:spcBef>
                <a:spcPts val="1200"/>
              </a:spcBef>
              <a:spcAft>
                <a:spcPts val="1200"/>
              </a:spcAft>
              <a:buNone/>
            </a:pPr>
            <a:r>
              <a:rPr lang="zh-TW"/>
              <a:t>prices = {'apple':7.5, 'orange':4.5, 'banana':2}</a:t>
            </a:r>
            <a:endParaRPr/>
          </a:p>
        </p:txBody>
      </p:sp>
      <p:pic>
        <p:nvPicPr>
          <p:cNvPr id="214" name="Google Shape;214;p34"/>
          <p:cNvPicPr preferRelativeResize="0"/>
          <p:nvPr/>
        </p:nvPicPr>
        <p:blipFill>
          <a:blip r:embed="rId3">
            <a:alphaModFix/>
          </a:blip>
          <a:stretch>
            <a:fillRect/>
          </a:stretch>
        </p:blipFill>
        <p:spPr>
          <a:xfrm>
            <a:off x="5478400" y="2697150"/>
            <a:ext cx="3598274" cy="2324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311700" y="16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dict之</a:t>
            </a:r>
            <a:r>
              <a:rPr lang="zh-TW"/>
              <a:t>常用指令-1</a:t>
            </a:r>
            <a:endParaRPr/>
          </a:p>
        </p:txBody>
      </p:sp>
      <p:graphicFrame>
        <p:nvGraphicFramePr>
          <p:cNvPr id="220" name="Google Shape;220;p35"/>
          <p:cNvGraphicFramePr/>
          <p:nvPr/>
        </p:nvGraphicFramePr>
        <p:xfrm>
          <a:off x="246550" y="897825"/>
          <a:ext cx="3000000" cy="3000000"/>
        </p:xfrm>
        <a:graphic>
          <a:graphicData uri="http://schemas.openxmlformats.org/drawingml/2006/table">
            <a:tbl>
              <a:tblPr>
                <a:noFill/>
                <a:tableStyleId>{7C26E4BD-2EE1-4CC8-BD85-72C400897770}</a:tableStyleId>
              </a:tblPr>
              <a:tblGrid>
                <a:gridCol w="1258250"/>
                <a:gridCol w="2555725"/>
                <a:gridCol w="4849500"/>
              </a:tblGrid>
              <a:tr h="294100">
                <a:tc>
                  <a:txBody>
                    <a:bodyPr/>
                    <a:lstStyle/>
                    <a:p>
                      <a:pPr indent="0" lvl="0" marL="0" rtl="0" algn="l">
                        <a:spcBef>
                          <a:spcPts val="0"/>
                        </a:spcBef>
                        <a:spcAft>
                          <a:spcPts val="0"/>
                        </a:spcAft>
                        <a:buNone/>
                      </a:pPr>
                      <a:r>
                        <a:rPr lang="zh-TW"/>
                        <a:t>指令</a:t>
                      </a:r>
                      <a:endParaRPr/>
                    </a:p>
                  </a:txBody>
                  <a:tcPr marT="91425" marB="91425" marR="91425" marL="91425"/>
                </a:tc>
                <a:tc>
                  <a:txBody>
                    <a:bodyPr/>
                    <a:lstStyle/>
                    <a:p>
                      <a:pPr indent="0" lvl="0" marL="0" rtl="0" algn="l">
                        <a:spcBef>
                          <a:spcPts val="0"/>
                        </a:spcBef>
                        <a:spcAft>
                          <a:spcPts val="0"/>
                        </a:spcAft>
                        <a:buNone/>
                      </a:pPr>
                      <a:r>
                        <a:rPr lang="zh-TW"/>
                        <a:t>用法</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r>
              <a:tr h="432775">
                <a:tc>
                  <a:txBody>
                    <a:bodyPr/>
                    <a:lstStyle/>
                    <a:p>
                      <a:pPr indent="0" lvl="0" marL="0" rtl="0" algn="l">
                        <a:spcBef>
                          <a:spcPts val="0"/>
                        </a:spcBef>
                        <a:spcAft>
                          <a:spcPts val="0"/>
                        </a:spcAft>
                        <a:buNone/>
                      </a:pPr>
                      <a:r>
                        <a:rPr lang="zh-TW"/>
                        <a:t>get()</a:t>
                      </a:r>
                      <a:endParaRPr/>
                    </a:p>
                  </a:txBody>
                  <a:tcPr marT="91425" marB="91425" marR="91425" marL="91425"/>
                </a:tc>
                <a:tc>
                  <a:txBody>
                    <a:bodyPr/>
                    <a:lstStyle/>
                    <a:p>
                      <a:pPr indent="0" lvl="0" marL="0" rtl="0" algn="l">
                        <a:spcBef>
                          <a:spcPts val="0"/>
                        </a:spcBef>
                        <a:spcAft>
                          <a:spcPts val="0"/>
                        </a:spcAft>
                        <a:buNone/>
                      </a:pPr>
                      <a:r>
                        <a:rPr lang="zh-TW"/>
                        <a:t>dict.get(key, default=None)</a:t>
                      </a:r>
                      <a:endParaRPr/>
                    </a:p>
                  </a:txBody>
                  <a:tcPr marT="91425" marB="91425" marR="91425" marL="91425"/>
                </a:tc>
                <a:tc>
                  <a:txBody>
                    <a:bodyPr/>
                    <a:lstStyle/>
                    <a:p>
                      <a:pPr indent="0" lvl="0" marL="0" rtl="0" algn="l">
                        <a:spcBef>
                          <a:spcPts val="0"/>
                        </a:spcBef>
                        <a:spcAft>
                          <a:spcPts val="0"/>
                        </a:spcAft>
                        <a:buNone/>
                      </a:pPr>
                      <a:r>
                        <a:rPr lang="zh-TW"/>
                        <a:t>返回指定鍵的值，如果鍵不存在，則返回默認值（默認為 None）。</a:t>
                      </a:r>
                      <a:endParaRPr/>
                    </a:p>
                  </a:txBody>
                  <a:tcPr marT="91425" marB="91425" marR="91425" marL="91425"/>
                </a:tc>
              </a:tr>
              <a:tr h="432775">
                <a:tc>
                  <a:txBody>
                    <a:bodyPr/>
                    <a:lstStyle/>
                    <a:p>
                      <a:pPr indent="0" lvl="0" marL="0" rtl="0" algn="l">
                        <a:spcBef>
                          <a:spcPts val="0"/>
                        </a:spcBef>
                        <a:spcAft>
                          <a:spcPts val="0"/>
                        </a:spcAft>
                        <a:buNone/>
                      </a:pPr>
                      <a:r>
                        <a:rPr lang="zh-TW"/>
                        <a:t>keys()</a:t>
                      </a:r>
                      <a:endParaRPr/>
                    </a:p>
                  </a:txBody>
                  <a:tcPr marT="91425" marB="91425" marR="91425" marL="91425"/>
                </a:tc>
                <a:tc>
                  <a:txBody>
                    <a:bodyPr/>
                    <a:lstStyle/>
                    <a:p>
                      <a:pPr indent="0" lvl="0" marL="0" rtl="0" algn="l">
                        <a:spcBef>
                          <a:spcPts val="0"/>
                        </a:spcBef>
                        <a:spcAft>
                          <a:spcPts val="0"/>
                        </a:spcAft>
                        <a:buNone/>
                      </a:pPr>
                      <a:r>
                        <a:rPr lang="zh-TW"/>
                        <a:t>dict.keys()</a:t>
                      </a:r>
                      <a:endParaRPr/>
                    </a:p>
                  </a:txBody>
                  <a:tcPr marT="91425" marB="91425" marR="91425" marL="91425"/>
                </a:tc>
                <a:tc>
                  <a:txBody>
                    <a:bodyPr/>
                    <a:lstStyle/>
                    <a:p>
                      <a:pPr indent="0" lvl="0" marL="0" rtl="0" algn="l">
                        <a:spcBef>
                          <a:spcPts val="0"/>
                        </a:spcBef>
                        <a:spcAft>
                          <a:spcPts val="0"/>
                        </a:spcAft>
                        <a:buNone/>
                      </a:pPr>
                      <a:r>
                        <a:rPr lang="zh-TW"/>
                        <a:t>返回字典中所有鍵的視圖。</a:t>
                      </a:r>
                      <a:endParaRPr/>
                    </a:p>
                  </a:txBody>
                  <a:tcPr marT="91425" marB="91425" marR="91425" marL="91425"/>
                </a:tc>
              </a:tr>
              <a:tr h="432775">
                <a:tc>
                  <a:txBody>
                    <a:bodyPr/>
                    <a:lstStyle/>
                    <a:p>
                      <a:pPr indent="0" lvl="0" marL="0" rtl="0" algn="l">
                        <a:spcBef>
                          <a:spcPts val="0"/>
                        </a:spcBef>
                        <a:spcAft>
                          <a:spcPts val="0"/>
                        </a:spcAft>
                        <a:buNone/>
                      </a:pPr>
                      <a:r>
                        <a:rPr lang="zh-TW"/>
                        <a:t>values()</a:t>
                      </a:r>
                      <a:endParaRPr/>
                    </a:p>
                  </a:txBody>
                  <a:tcPr marT="91425" marB="91425" marR="91425" marL="91425"/>
                </a:tc>
                <a:tc>
                  <a:txBody>
                    <a:bodyPr/>
                    <a:lstStyle/>
                    <a:p>
                      <a:pPr indent="0" lvl="0" marL="0" rtl="0" algn="l">
                        <a:spcBef>
                          <a:spcPts val="0"/>
                        </a:spcBef>
                        <a:spcAft>
                          <a:spcPts val="0"/>
                        </a:spcAft>
                        <a:buNone/>
                      </a:pPr>
                      <a:r>
                        <a:rPr lang="zh-TW"/>
                        <a:t>dict.values()</a:t>
                      </a:r>
                      <a:endParaRPr/>
                    </a:p>
                  </a:txBody>
                  <a:tcPr marT="91425" marB="91425" marR="91425" marL="91425"/>
                </a:tc>
                <a:tc>
                  <a:txBody>
                    <a:bodyPr/>
                    <a:lstStyle/>
                    <a:p>
                      <a:pPr indent="0" lvl="0" marL="0" rtl="0" algn="l">
                        <a:spcBef>
                          <a:spcPts val="0"/>
                        </a:spcBef>
                        <a:spcAft>
                          <a:spcPts val="0"/>
                        </a:spcAft>
                        <a:buNone/>
                      </a:pPr>
                      <a:r>
                        <a:rPr lang="zh-TW"/>
                        <a:t>返回字典中所有值的視圖。</a:t>
                      </a:r>
                      <a:endParaRPr/>
                    </a:p>
                  </a:txBody>
                  <a:tcPr marT="91425" marB="91425" marR="91425" marL="91425"/>
                </a:tc>
              </a:tr>
              <a:tr h="294100">
                <a:tc>
                  <a:txBody>
                    <a:bodyPr/>
                    <a:lstStyle/>
                    <a:p>
                      <a:pPr indent="0" lvl="0" marL="0" rtl="0" algn="l">
                        <a:spcBef>
                          <a:spcPts val="0"/>
                        </a:spcBef>
                        <a:spcAft>
                          <a:spcPts val="0"/>
                        </a:spcAft>
                        <a:buNone/>
                      </a:pPr>
                      <a:r>
                        <a:rPr lang="zh-TW"/>
                        <a:t>items()</a:t>
                      </a:r>
                      <a:endParaRPr/>
                    </a:p>
                  </a:txBody>
                  <a:tcPr marT="91425" marB="91425" marR="91425" marL="91425"/>
                </a:tc>
                <a:tc>
                  <a:txBody>
                    <a:bodyPr/>
                    <a:lstStyle/>
                    <a:p>
                      <a:pPr indent="0" lvl="0" marL="0" rtl="0" algn="l">
                        <a:spcBef>
                          <a:spcPts val="0"/>
                        </a:spcBef>
                        <a:spcAft>
                          <a:spcPts val="0"/>
                        </a:spcAft>
                        <a:buNone/>
                      </a:pPr>
                      <a:r>
                        <a:rPr lang="zh-TW"/>
                        <a:t>dict.items()</a:t>
                      </a:r>
                      <a:endParaRPr/>
                    </a:p>
                  </a:txBody>
                  <a:tcPr marT="91425" marB="91425" marR="91425" marL="91425"/>
                </a:tc>
                <a:tc>
                  <a:txBody>
                    <a:bodyPr/>
                    <a:lstStyle/>
                    <a:p>
                      <a:pPr indent="0" lvl="0" marL="0" rtl="0" algn="l">
                        <a:spcBef>
                          <a:spcPts val="0"/>
                        </a:spcBef>
                        <a:spcAft>
                          <a:spcPts val="0"/>
                        </a:spcAft>
                        <a:buNone/>
                      </a:pPr>
                      <a:r>
                        <a:rPr lang="zh-TW"/>
                        <a:t>返回字典中所有鍵值對的視圖。</a:t>
                      </a:r>
                      <a:endParaRPr/>
                    </a:p>
                  </a:txBody>
                  <a:tcPr marT="91425" marB="91425" marR="91425" marL="91425"/>
                </a:tc>
              </a:tr>
              <a:tr h="565950">
                <a:tc>
                  <a:txBody>
                    <a:bodyPr/>
                    <a:lstStyle/>
                    <a:p>
                      <a:pPr indent="0" lvl="0" marL="0" rtl="0" algn="l">
                        <a:spcBef>
                          <a:spcPts val="0"/>
                        </a:spcBef>
                        <a:spcAft>
                          <a:spcPts val="0"/>
                        </a:spcAft>
                        <a:buNone/>
                      </a:pPr>
                      <a:r>
                        <a:rPr lang="zh-TW"/>
                        <a:t>pop()</a:t>
                      </a:r>
                      <a:endParaRPr/>
                    </a:p>
                  </a:txBody>
                  <a:tcPr marT="91425" marB="91425" marR="91425" marL="91425"/>
                </a:tc>
                <a:tc>
                  <a:txBody>
                    <a:bodyPr/>
                    <a:lstStyle/>
                    <a:p>
                      <a:pPr indent="0" lvl="0" marL="0" rtl="0" algn="l">
                        <a:spcBef>
                          <a:spcPts val="0"/>
                        </a:spcBef>
                        <a:spcAft>
                          <a:spcPts val="0"/>
                        </a:spcAft>
                        <a:buNone/>
                      </a:pPr>
                      <a:r>
                        <a:rPr lang="zh-TW"/>
                        <a:t>dict.pop(key, default=None)</a:t>
                      </a:r>
                      <a:endParaRPr/>
                    </a:p>
                  </a:txBody>
                  <a:tcPr marT="91425" marB="91425" marR="91425" marL="91425"/>
                </a:tc>
                <a:tc>
                  <a:txBody>
                    <a:bodyPr/>
                    <a:lstStyle/>
                    <a:p>
                      <a:pPr indent="0" lvl="0" marL="0" rtl="0" algn="l">
                        <a:spcBef>
                          <a:spcPts val="0"/>
                        </a:spcBef>
                        <a:spcAft>
                          <a:spcPts val="0"/>
                        </a:spcAft>
                        <a:buNone/>
                      </a:pPr>
                      <a:r>
                        <a:rPr lang="zh-TW"/>
                        <a:t>移除並返回指定鍵的值。如果鍵不存在，則返回默認值或引發 KeyError。</a:t>
                      </a:r>
                      <a:endParaRPr/>
                    </a:p>
                  </a:txBody>
                  <a:tcPr marT="91425" marB="91425" marR="91425" marL="91425"/>
                </a:tc>
              </a:tr>
              <a:tr h="432775">
                <a:tc>
                  <a:txBody>
                    <a:bodyPr/>
                    <a:lstStyle/>
                    <a:p>
                      <a:pPr indent="0" lvl="0" marL="0" rtl="0" algn="l">
                        <a:spcBef>
                          <a:spcPts val="0"/>
                        </a:spcBef>
                        <a:spcAft>
                          <a:spcPts val="0"/>
                        </a:spcAft>
                        <a:buNone/>
                      </a:pPr>
                      <a:r>
                        <a:rPr lang="zh-TW"/>
                        <a:t>popitem()</a:t>
                      </a:r>
                      <a:endParaRPr/>
                    </a:p>
                  </a:txBody>
                  <a:tcPr marT="91425" marB="91425" marR="91425" marL="91425"/>
                </a:tc>
                <a:tc>
                  <a:txBody>
                    <a:bodyPr/>
                    <a:lstStyle/>
                    <a:p>
                      <a:pPr indent="0" lvl="0" marL="0" rtl="0" algn="l">
                        <a:spcBef>
                          <a:spcPts val="0"/>
                        </a:spcBef>
                        <a:spcAft>
                          <a:spcPts val="0"/>
                        </a:spcAft>
                        <a:buNone/>
                      </a:pPr>
                      <a:r>
                        <a:rPr lang="zh-TW"/>
                        <a:t>dict.popitem()</a:t>
                      </a:r>
                      <a:endParaRPr/>
                    </a:p>
                  </a:txBody>
                  <a:tcPr marT="91425" marB="91425" marR="91425" marL="91425"/>
                </a:tc>
                <a:tc>
                  <a:txBody>
                    <a:bodyPr/>
                    <a:lstStyle/>
                    <a:p>
                      <a:pPr indent="0" lvl="0" marL="0" rtl="0" algn="l">
                        <a:spcBef>
                          <a:spcPts val="0"/>
                        </a:spcBef>
                        <a:spcAft>
                          <a:spcPts val="0"/>
                        </a:spcAft>
                        <a:buNone/>
                      </a:pPr>
                      <a:r>
                        <a:rPr lang="zh-TW"/>
                        <a:t>隨機移除並返回字典中的一對鍵值對（Python 3.7+ 會移除最後一項）。</a:t>
                      </a:r>
                      <a:endParaRPr/>
                    </a:p>
                  </a:txBody>
                  <a:tcPr marT="91425" marB="91425" marR="91425" marL="91425"/>
                </a:tc>
              </a:tr>
              <a:tr h="432775">
                <a:tc>
                  <a:txBody>
                    <a:bodyPr/>
                    <a:lstStyle/>
                    <a:p>
                      <a:pPr indent="0" lvl="0" marL="0" rtl="0" algn="l">
                        <a:spcBef>
                          <a:spcPts val="0"/>
                        </a:spcBef>
                        <a:spcAft>
                          <a:spcPts val="0"/>
                        </a:spcAft>
                        <a:buNone/>
                      </a:pPr>
                      <a:r>
                        <a:rPr lang="zh-TW"/>
                        <a:t>update()</a:t>
                      </a:r>
                      <a:endParaRPr/>
                    </a:p>
                  </a:txBody>
                  <a:tcPr marT="91425" marB="91425" marR="91425" marL="91425"/>
                </a:tc>
                <a:tc>
                  <a:txBody>
                    <a:bodyPr/>
                    <a:lstStyle/>
                    <a:p>
                      <a:pPr indent="0" lvl="0" marL="0" rtl="0" algn="l">
                        <a:spcBef>
                          <a:spcPts val="0"/>
                        </a:spcBef>
                        <a:spcAft>
                          <a:spcPts val="0"/>
                        </a:spcAft>
                        <a:buNone/>
                      </a:pPr>
                      <a:r>
                        <a:rPr lang="zh-TW"/>
                        <a:t>dict.update(other_dict)</a:t>
                      </a:r>
                      <a:endParaRPr/>
                    </a:p>
                  </a:txBody>
                  <a:tcPr marT="91425" marB="91425" marR="91425" marL="91425"/>
                </a:tc>
                <a:tc>
                  <a:txBody>
                    <a:bodyPr/>
                    <a:lstStyle/>
                    <a:p>
                      <a:pPr indent="0" lvl="0" marL="0" rtl="0" algn="l">
                        <a:spcBef>
                          <a:spcPts val="0"/>
                        </a:spcBef>
                        <a:spcAft>
                          <a:spcPts val="0"/>
                        </a:spcAft>
                        <a:buNone/>
                      </a:pPr>
                      <a:r>
                        <a:rPr lang="zh-TW"/>
                        <a:t>使用另一個字典或可迭代對象更新當前字典的鍵值對。</a:t>
                      </a:r>
                      <a:endParaRPr/>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311700" y="16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dict之常用指令-2</a:t>
            </a:r>
            <a:endParaRPr/>
          </a:p>
        </p:txBody>
      </p:sp>
      <p:graphicFrame>
        <p:nvGraphicFramePr>
          <p:cNvPr id="226" name="Google Shape;226;p36"/>
          <p:cNvGraphicFramePr/>
          <p:nvPr/>
        </p:nvGraphicFramePr>
        <p:xfrm>
          <a:off x="246550" y="897825"/>
          <a:ext cx="3000000" cy="3000000"/>
        </p:xfrm>
        <a:graphic>
          <a:graphicData uri="http://schemas.openxmlformats.org/drawingml/2006/table">
            <a:tbl>
              <a:tblPr>
                <a:noFill/>
                <a:tableStyleId>{7C26E4BD-2EE1-4CC8-BD85-72C400897770}</a:tableStyleId>
              </a:tblPr>
              <a:tblGrid>
                <a:gridCol w="1258250"/>
                <a:gridCol w="2253175"/>
                <a:gridCol w="5152050"/>
              </a:tblGrid>
              <a:tr h="294100">
                <a:tc>
                  <a:txBody>
                    <a:bodyPr/>
                    <a:lstStyle/>
                    <a:p>
                      <a:pPr indent="0" lvl="0" marL="0" rtl="0" algn="l">
                        <a:spcBef>
                          <a:spcPts val="0"/>
                        </a:spcBef>
                        <a:spcAft>
                          <a:spcPts val="0"/>
                        </a:spcAft>
                        <a:buNone/>
                      </a:pPr>
                      <a:r>
                        <a:rPr lang="zh-TW"/>
                        <a:t>指令</a:t>
                      </a:r>
                      <a:endParaRPr/>
                    </a:p>
                  </a:txBody>
                  <a:tcPr marT="91425" marB="91425" marR="91425" marL="91425"/>
                </a:tc>
                <a:tc>
                  <a:txBody>
                    <a:bodyPr/>
                    <a:lstStyle/>
                    <a:p>
                      <a:pPr indent="0" lvl="0" marL="0" rtl="0" algn="l">
                        <a:spcBef>
                          <a:spcPts val="0"/>
                        </a:spcBef>
                        <a:spcAft>
                          <a:spcPts val="0"/>
                        </a:spcAft>
                        <a:buNone/>
                      </a:pPr>
                      <a:r>
                        <a:rPr lang="zh-TW"/>
                        <a:t>用法</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r>
              <a:tr h="432775">
                <a:tc>
                  <a:txBody>
                    <a:bodyPr/>
                    <a:lstStyle/>
                    <a:p>
                      <a:pPr indent="0" lvl="0" marL="0" rtl="0" algn="l">
                        <a:spcBef>
                          <a:spcPts val="0"/>
                        </a:spcBef>
                        <a:spcAft>
                          <a:spcPts val="0"/>
                        </a:spcAft>
                        <a:buNone/>
                      </a:pPr>
                      <a:r>
                        <a:rPr lang="zh-TW"/>
                        <a:t>setdefault()</a:t>
                      </a:r>
                      <a:endParaRPr/>
                    </a:p>
                  </a:txBody>
                  <a:tcPr marT="91425" marB="91425" marR="91425" marL="91425"/>
                </a:tc>
                <a:tc>
                  <a:txBody>
                    <a:bodyPr/>
                    <a:lstStyle/>
                    <a:p>
                      <a:pPr indent="0" lvl="0" marL="0" rtl="0" algn="l">
                        <a:spcBef>
                          <a:spcPts val="0"/>
                        </a:spcBef>
                        <a:spcAft>
                          <a:spcPts val="0"/>
                        </a:spcAft>
                        <a:buNone/>
                      </a:pPr>
                      <a:r>
                        <a:rPr lang="zh-TW"/>
                        <a:t>dict.setdefault(key, default=None)</a:t>
                      </a:r>
                      <a:endParaRPr/>
                    </a:p>
                  </a:txBody>
                  <a:tcPr marT="91425" marB="91425" marR="91425" marL="91425"/>
                </a:tc>
                <a:tc>
                  <a:txBody>
                    <a:bodyPr/>
                    <a:lstStyle/>
                    <a:p>
                      <a:pPr indent="0" lvl="0" marL="0" rtl="0" algn="l">
                        <a:spcBef>
                          <a:spcPts val="0"/>
                        </a:spcBef>
                        <a:spcAft>
                          <a:spcPts val="0"/>
                        </a:spcAft>
                        <a:buNone/>
                      </a:pPr>
                      <a:r>
                        <a:rPr lang="zh-TW"/>
                        <a:t>返回指定鍵的值，如果鍵不存在，則將該鍵設置為默認值並返回該值。</a:t>
                      </a:r>
                      <a:endParaRPr/>
                    </a:p>
                  </a:txBody>
                  <a:tcPr marT="91425" marB="91425" marR="91425" marL="91425"/>
                </a:tc>
              </a:tr>
              <a:tr h="432775">
                <a:tc>
                  <a:txBody>
                    <a:bodyPr/>
                    <a:lstStyle/>
                    <a:p>
                      <a:pPr indent="0" lvl="0" marL="0" rtl="0" algn="l">
                        <a:spcBef>
                          <a:spcPts val="0"/>
                        </a:spcBef>
                        <a:spcAft>
                          <a:spcPts val="0"/>
                        </a:spcAft>
                        <a:buNone/>
                      </a:pPr>
                      <a:r>
                        <a:rPr lang="zh-TW"/>
                        <a:t>clear()</a:t>
                      </a:r>
                      <a:endParaRPr/>
                    </a:p>
                  </a:txBody>
                  <a:tcPr marT="91425" marB="91425" marR="91425" marL="91425"/>
                </a:tc>
                <a:tc>
                  <a:txBody>
                    <a:bodyPr/>
                    <a:lstStyle/>
                    <a:p>
                      <a:pPr indent="0" lvl="0" marL="0" rtl="0" algn="l">
                        <a:spcBef>
                          <a:spcPts val="0"/>
                        </a:spcBef>
                        <a:spcAft>
                          <a:spcPts val="0"/>
                        </a:spcAft>
                        <a:buNone/>
                      </a:pPr>
                      <a:r>
                        <a:rPr lang="zh-TW"/>
                        <a:t>dict.clear()</a:t>
                      </a:r>
                      <a:endParaRPr/>
                    </a:p>
                  </a:txBody>
                  <a:tcPr marT="91425" marB="91425" marR="91425" marL="91425"/>
                </a:tc>
                <a:tc>
                  <a:txBody>
                    <a:bodyPr/>
                    <a:lstStyle/>
                    <a:p>
                      <a:pPr indent="0" lvl="0" marL="0" rtl="0" algn="l">
                        <a:spcBef>
                          <a:spcPts val="0"/>
                        </a:spcBef>
                        <a:spcAft>
                          <a:spcPts val="0"/>
                        </a:spcAft>
                        <a:buNone/>
                      </a:pPr>
                      <a:r>
                        <a:rPr lang="zh-TW"/>
                        <a:t>清空字典，移除所有的鍵值對。</a:t>
                      </a:r>
                      <a:endParaRPr/>
                    </a:p>
                  </a:txBody>
                  <a:tcPr marT="91425" marB="91425" marR="91425" marL="91425"/>
                </a:tc>
              </a:tr>
              <a:tr h="432775">
                <a:tc>
                  <a:txBody>
                    <a:bodyPr/>
                    <a:lstStyle/>
                    <a:p>
                      <a:pPr indent="0" lvl="0" marL="0" rtl="0" algn="l">
                        <a:spcBef>
                          <a:spcPts val="0"/>
                        </a:spcBef>
                        <a:spcAft>
                          <a:spcPts val="0"/>
                        </a:spcAft>
                        <a:buNone/>
                      </a:pPr>
                      <a:r>
                        <a:rPr lang="zh-TW"/>
                        <a:t>copy()</a:t>
                      </a:r>
                      <a:endParaRPr/>
                    </a:p>
                  </a:txBody>
                  <a:tcPr marT="91425" marB="91425" marR="91425" marL="91425"/>
                </a:tc>
                <a:tc>
                  <a:txBody>
                    <a:bodyPr/>
                    <a:lstStyle/>
                    <a:p>
                      <a:pPr indent="0" lvl="0" marL="0" rtl="0" algn="l">
                        <a:spcBef>
                          <a:spcPts val="0"/>
                        </a:spcBef>
                        <a:spcAft>
                          <a:spcPts val="0"/>
                        </a:spcAft>
                        <a:buNone/>
                      </a:pPr>
                      <a:r>
                        <a:rPr lang="zh-TW"/>
                        <a:t>dict.copy()</a:t>
                      </a:r>
                      <a:endParaRPr/>
                    </a:p>
                  </a:txBody>
                  <a:tcPr marT="91425" marB="91425" marR="91425" marL="91425"/>
                </a:tc>
                <a:tc>
                  <a:txBody>
                    <a:bodyPr/>
                    <a:lstStyle/>
                    <a:p>
                      <a:pPr indent="0" lvl="0" marL="0" rtl="0" algn="l">
                        <a:spcBef>
                          <a:spcPts val="0"/>
                        </a:spcBef>
                        <a:spcAft>
                          <a:spcPts val="0"/>
                        </a:spcAft>
                        <a:buNone/>
                      </a:pPr>
                      <a:r>
                        <a:rPr lang="zh-TW"/>
                        <a:t>返回字典的複製。</a:t>
                      </a:r>
                      <a:endParaRPr/>
                    </a:p>
                  </a:txBody>
                  <a:tcPr marT="91425" marB="91425" marR="91425" marL="91425"/>
                </a:tc>
              </a:tr>
              <a:tr h="294100">
                <a:tc>
                  <a:txBody>
                    <a:bodyPr/>
                    <a:lstStyle/>
                    <a:p>
                      <a:pPr indent="0" lvl="0" marL="0" rtl="0" algn="l">
                        <a:spcBef>
                          <a:spcPts val="0"/>
                        </a:spcBef>
                        <a:spcAft>
                          <a:spcPts val="0"/>
                        </a:spcAft>
                        <a:buNone/>
                      </a:pPr>
                      <a:r>
                        <a:rPr lang="zh-TW"/>
                        <a:t>fromkeys()</a:t>
                      </a:r>
                      <a:endParaRPr/>
                    </a:p>
                  </a:txBody>
                  <a:tcPr marT="91425" marB="91425" marR="91425" marL="91425"/>
                </a:tc>
                <a:tc>
                  <a:txBody>
                    <a:bodyPr/>
                    <a:lstStyle/>
                    <a:p>
                      <a:pPr indent="0" lvl="0" marL="0" rtl="0" algn="l">
                        <a:spcBef>
                          <a:spcPts val="0"/>
                        </a:spcBef>
                        <a:spcAft>
                          <a:spcPts val="0"/>
                        </a:spcAft>
                        <a:buNone/>
                      </a:pPr>
                      <a:r>
                        <a:rPr lang="zh-TW"/>
                        <a:t>dict.fromkeys(iterable, value=None)</a:t>
                      </a:r>
                      <a:endParaRPr/>
                    </a:p>
                  </a:txBody>
                  <a:tcPr marT="91425" marB="91425" marR="91425" marL="91425"/>
                </a:tc>
                <a:tc>
                  <a:txBody>
                    <a:bodyPr/>
                    <a:lstStyle/>
                    <a:p>
                      <a:pPr indent="0" lvl="0" marL="0" rtl="0" algn="l">
                        <a:spcBef>
                          <a:spcPts val="0"/>
                        </a:spcBef>
                        <a:spcAft>
                          <a:spcPts val="0"/>
                        </a:spcAft>
                        <a:buNone/>
                      </a:pPr>
                      <a:r>
                        <a:rPr lang="zh-TW"/>
                        <a:t>使用指定的鍵和默認值創建新字典。</a:t>
                      </a:r>
                      <a:endParaRPr/>
                    </a:p>
                  </a:txBody>
                  <a:tcPr marT="91425" marB="91425" marR="91425" marL="91425"/>
                </a:tc>
              </a:tr>
              <a:tr h="565950">
                <a:tc>
                  <a:txBody>
                    <a:bodyPr/>
                    <a:lstStyle/>
                    <a:p>
                      <a:pPr indent="0" lvl="0" marL="0" rtl="0" algn="l">
                        <a:spcBef>
                          <a:spcPts val="0"/>
                        </a:spcBef>
                        <a:spcAft>
                          <a:spcPts val="0"/>
                        </a:spcAft>
                        <a:buNone/>
                      </a:pPr>
                      <a:r>
                        <a:rPr lang="zh-TW"/>
                        <a:t>in</a:t>
                      </a:r>
                      <a:endParaRPr/>
                    </a:p>
                  </a:txBody>
                  <a:tcPr marT="91425" marB="91425" marR="91425" marL="91425"/>
                </a:tc>
                <a:tc>
                  <a:txBody>
                    <a:bodyPr/>
                    <a:lstStyle/>
                    <a:p>
                      <a:pPr indent="0" lvl="0" marL="0" rtl="0" algn="l">
                        <a:spcBef>
                          <a:spcPts val="0"/>
                        </a:spcBef>
                        <a:spcAft>
                          <a:spcPts val="0"/>
                        </a:spcAft>
                        <a:buNone/>
                      </a:pPr>
                      <a:r>
                        <a:rPr lang="zh-TW"/>
                        <a:t>key in dict</a:t>
                      </a:r>
                      <a:endParaRPr/>
                    </a:p>
                  </a:txBody>
                  <a:tcPr marT="91425" marB="91425" marR="91425" marL="91425"/>
                </a:tc>
                <a:tc>
                  <a:txBody>
                    <a:bodyPr/>
                    <a:lstStyle/>
                    <a:p>
                      <a:pPr indent="0" lvl="0" marL="0" rtl="0" algn="l">
                        <a:spcBef>
                          <a:spcPts val="0"/>
                        </a:spcBef>
                        <a:spcAft>
                          <a:spcPts val="0"/>
                        </a:spcAft>
                        <a:buNone/>
                      </a:pPr>
                      <a:r>
                        <a:rPr lang="zh-TW"/>
                        <a:t>檢查鍵是否存在於字典中，存在返回 True，否則返回 False。</a:t>
                      </a:r>
                      <a:endParaRPr/>
                    </a:p>
                  </a:txBody>
                  <a:tcPr marT="91425" marB="91425" marR="91425" marL="91425"/>
                </a:tc>
              </a:tr>
              <a:tr h="432775">
                <a:tc>
                  <a:txBody>
                    <a:bodyPr/>
                    <a:lstStyle/>
                    <a:p>
                      <a:pPr indent="0" lvl="0" marL="0" rtl="0" algn="l">
                        <a:spcBef>
                          <a:spcPts val="0"/>
                        </a:spcBef>
                        <a:spcAft>
                          <a:spcPts val="0"/>
                        </a:spcAft>
                        <a:buNone/>
                      </a:pPr>
                      <a:r>
                        <a:rPr lang="zh-TW"/>
                        <a:t>del</a:t>
                      </a:r>
                      <a:endParaRPr/>
                    </a:p>
                  </a:txBody>
                  <a:tcPr marT="91425" marB="91425" marR="91425" marL="91425"/>
                </a:tc>
                <a:tc>
                  <a:txBody>
                    <a:bodyPr/>
                    <a:lstStyle/>
                    <a:p>
                      <a:pPr indent="0" lvl="0" marL="0" rtl="0" algn="l">
                        <a:spcBef>
                          <a:spcPts val="0"/>
                        </a:spcBef>
                        <a:spcAft>
                          <a:spcPts val="0"/>
                        </a:spcAft>
                        <a:buNone/>
                      </a:pPr>
                      <a:r>
                        <a:rPr lang="zh-TW"/>
                        <a:t>del dict[key]</a:t>
                      </a:r>
                      <a:endParaRPr/>
                    </a:p>
                  </a:txBody>
                  <a:tcPr marT="91425" marB="91425" marR="91425" marL="91425"/>
                </a:tc>
                <a:tc>
                  <a:txBody>
                    <a:bodyPr/>
                    <a:lstStyle/>
                    <a:p>
                      <a:pPr indent="0" lvl="0" marL="0" rtl="0" algn="l">
                        <a:spcBef>
                          <a:spcPts val="0"/>
                        </a:spcBef>
                        <a:spcAft>
                          <a:spcPts val="0"/>
                        </a:spcAft>
                        <a:buNone/>
                      </a:pPr>
                      <a:r>
                        <a:rPr lang="zh-TW"/>
                        <a:t>刪除指定鍵的鍵值對。如果鍵不存在，則引發 KeyError。</a:t>
                      </a:r>
                      <a:endParaRPr/>
                    </a:p>
                  </a:txBody>
                  <a:tcPr marT="91425" marB="91425" marR="91425" marL="91425"/>
                </a:tc>
              </a:tr>
              <a:tr h="432775">
                <a:tc>
                  <a:txBody>
                    <a:bodyPr/>
                    <a:lstStyle/>
                    <a:p>
                      <a:pPr indent="0" lvl="0" marL="0" rtl="0" algn="l">
                        <a:spcBef>
                          <a:spcPts val="0"/>
                        </a:spcBef>
                        <a:spcAft>
                          <a:spcPts val="0"/>
                        </a:spcAft>
                        <a:buNone/>
                      </a:pPr>
                      <a:r>
                        <a:rPr lang="zh-TW"/>
                        <a:t>len()</a:t>
                      </a:r>
                      <a:endParaRPr/>
                    </a:p>
                  </a:txBody>
                  <a:tcPr marT="91425" marB="91425" marR="91425" marL="91425"/>
                </a:tc>
                <a:tc>
                  <a:txBody>
                    <a:bodyPr/>
                    <a:lstStyle/>
                    <a:p>
                      <a:pPr indent="0" lvl="0" marL="0" rtl="0" algn="l">
                        <a:spcBef>
                          <a:spcPts val="0"/>
                        </a:spcBef>
                        <a:spcAft>
                          <a:spcPts val="0"/>
                        </a:spcAft>
                        <a:buNone/>
                      </a:pPr>
                      <a:r>
                        <a:rPr lang="zh-TW"/>
                        <a:t>len(dict)</a:t>
                      </a:r>
                      <a:endParaRPr/>
                    </a:p>
                  </a:txBody>
                  <a:tcPr marT="91425" marB="91425" marR="91425" marL="91425"/>
                </a:tc>
                <a:tc>
                  <a:txBody>
                    <a:bodyPr/>
                    <a:lstStyle/>
                    <a:p>
                      <a:pPr indent="0" lvl="0" marL="0" rtl="0" algn="l">
                        <a:spcBef>
                          <a:spcPts val="0"/>
                        </a:spcBef>
                        <a:spcAft>
                          <a:spcPts val="0"/>
                        </a:spcAft>
                        <a:buNone/>
                      </a:pPr>
                      <a:r>
                        <a:rPr lang="zh-TW"/>
                        <a:t>返回字典中的鍵值對數量。</a:t>
                      </a:r>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集合型態 (set)</a:t>
            </a:r>
            <a:endParaRPr/>
          </a:p>
        </p:txBody>
      </p:sp>
      <p:sp>
        <p:nvSpPr>
          <p:cNvPr id="232" name="Google Shape;23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TW"/>
              <a:t>集合內的元素不可以重複，若有重複會自動剔除。 </a:t>
            </a:r>
            <a:endParaRPr/>
          </a:p>
          <a:p>
            <a:pPr indent="-342900" lvl="0" marL="457200" rtl="0" algn="l">
              <a:spcBef>
                <a:spcPts val="0"/>
              </a:spcBef>
              <a:spcAft>
                <a:spcPts val="0"/>
              </a:spcAft>
              <a:buSzPts val="1800"/>
              <a:buChar char="●"/>
            </a:pPr>
            <a:r>
              <a:rPr lang="zh-TW"/>
              <a:t> 當我們只關心資料是否出現在其中，而不關心其位置時可使用。</a:t>
            </a:r>
            <a:endParaRPr/>
          </a:p>
          <a:p>
            <a:pPr indent="-342900" lvl="0" marL="457200" rtl="0" algn="l">
              <a:spcBef>
                <a:spcPts val="0"/>
              </a:spcBef>
              <a:spcAft>
                <a:spcPts val="0"/>
              </a:spcAft>
              <a:buSzPts val="1800"/>
              <a:buChar char="●"/>
            </a:pPr>
            <a:r>
              <a:rPr lang="zh-TW"/>
              <a:t>集合型態 (set types) 共有兩種 </a:t>
            </a:r>
            <a:endParaRPr/>
          </a:p>
          <a:p>
            <a:pPr indent="-317500" lvl="1" marL="914400" rtl="0" algn="l">
              <a:spcBef>
                <a:spcPts val="0"/>
              </a:spcBef>
              <a:spcAft>
                <a:spcPts val="0"/>
              </a:spcAft>
              <a:buSzPts val="1400"/>
              <a:buChar char="○"/>
            </a:pPr>
            <a:r>
              <a:rPr lang="zh-TW"/>
              <a:t>set: 集合，可變 (mutable) </a:t>
            </a:r>
            <a:endParaRPr/>
          </a:p>
          <a:p>
            <a:pPr indent="-317500" lvl="1" marL="914400" rtl="0" algn="l">
              <a:spcBef>
                <a:spcPts val="0"/>
              </a:spcBef>
              <a:spcAft>
                <a:spcPts val="0"/>
              </a:spcAft>
              <a:buSzPts val="1400"/>
              <a:buChar char="○"/>
            </a:pPr>
            <a:r>
              <a:rPr lang="zh-TW"/>
              <a:t>frozenset : 原封集合，建⽴後不可新增或刪除元素 (element) ，因此為不可變 (immutable)</a:t>
            </a:r>
            <a:endParaRPr/>
          </a:p>
          <a:p>
            <a:pPr indent="-342900" lvl="0" marL="457200" rtl="0" algn="l">
              <a:spcBef>
                <a:spcPts val="0"/>
              </a:spcBef>
              <a:spcAft>
                <a:spcPts val="0"/>
              </a:spcAft>
              <a:buSzPts val="1800"/>
              <a:buChar char="●"/>
            </a:pPr>
            <a:r>
              <a:rPr lang="zh-TW"/>
              <a:t>集合型態的字⾯常數使⽤⼤括弧{ }，其物件屬於複合資料型態，也就是說單⼀集合型態物件可以包含多個元素，但沒有重複的元素。</a:t>
            </a:r>
            <a:endParaRPr/>
          </a:p>
          <a:p>
            <a:pPr indent="0" lvl="0" marL="0" rtl="0" algn="l">
              <a:spcBef>
                <a:spcPts val="1200"/>
              </a:spcBef>
              <a:spcAft>
                <a:spcPts val="0"/>
              </a:spcAft>
              <a:buNone/>
            </a:pPr>
            <a:r>
              <a:rPr lang="zh-TW"/>
              <a:t>ex: s = set('糖糖 葫蘆葫蘆 糖糖糖 葫蘆蘆蘆') (實際上只會存'糖',' ','葫','蘆') </a:t>
            </a:r>
            <a:endParaRPr/>
          </a:p>
          <a:p>
            <a:pPr indent="0" lvl="0" marL="0" rtl="0" algn="l">
              <a:spcBef>
                <a:spcPts val="1200"/>
              </a:spcBef>
              <a:spcAft>
                <a:spcPts val="1200"/>
              </a:spcAft>
              <a:buNone/>
            </a:pPr>
            <a:r>
              <a:rPr lang="zh-TW"/>
              <a:t>ex: s1={1,1,3,4,4,5}，s2={1,3,4,5}，s1==s2 → True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311700" y="75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set之</a:t>
            </a:r>
            <a:r>
              <a:rPr lang="zh-TW"/>
              <a:t>常用</a:t>
            </a:r>
            <a:r>
              <a:rPr lang="zh-TW"/>
              <a:t>指令-1</a:t>
            </a:r>
            <a:endParaRPr/>
          </a:p>
        </p:txBody>
      </p:sp>
      <p:graphicFrame>
        <p:nvGraphicFramePr>
          <p:cNvPr id="238" name="Google Shape;238;p38"/>
          <p:cNvGraphicFramePr/>
          <p:nvPr/>
        </p:nvGraphicFramePr>
        <p:xfrm>
          <a:off x="952500" y="647700"/>
          <a:ext cx="3000000" cy="3000000"/>
        </p:xfrm>
        <a:graphic>
          <a:graphicData uri="http://schemas.openxmlformats.org/drawingml/2006/table">
            <a:tbl>
              <a:tblPr>
                <a:noFill/>
                <a:tableStyleId>{7C26E4BD-2EE1-4CC8-BD85-72C400897770}</a:tableStyleId>
              </a:tblPr>
              <a:tblGrid>
                <a:gridCol w="1255525"/>
                <a:gridCol w="2134225"/>
                <a:gridCol w="3849250"/>
              </a:tblGrid>
              <a:tr h="381000">
                <a:tc>
                  <a:txBody>
                    <a:bodyPr/>
                    <a:lstStyle/>
                    <a:p>
                      <a:pPr indent="0" lvl="0" marL="0" rtl="0" algn="l">
                        <a:spcBef>
                          <a:spcPts val="0"/>
                        </a:spcBef>
                        <a:spcAft>
                          <a:spcPts val="0"/>
                        </a:spcAft>
                        <a:buNone/>
                      </a:pPr>
                      <a:r>
                        <a:rPr lang="zh-TW"/>
                        <a:t>指令</a:t>
                      </a:r>
                      <a:endParaRPr/>
                    </a:p>
                  </a:txBody>
                  <a:tcPr marT="91425" marB="91425" marR="91425" marL="91425"/>
                </a:tc>
                <a:tc>
                  <a:txBody>
                    <a:bodyPr/>
                    <a:lstStyle/>
                    <a:p>
                      <a:pPr indent="0" lvl="0" marL="0" rtl="0" algn="l">
                        <a:spcBef>
                          <a:spcPts val="0"/>
                        </a:spcBef>
                        <a:spcAft>
                          <a:spcPts val="0"/>
                        </a:spcAft>
                        <a:buNone/>
                      </a:pPr>
                      <a:r>
                        <a:rPr lang="zh-TW"/>
                        <a:t>用法</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r>
              <a:tr h="381000">
                <a:tc>
                  <a:txBody>
                    <a:bodyPr/>
                    <a:lstStyle/>
                    <a:p>
                      <a:pPr indent="0" lvl="0" marL="0" rtl="0" algn="l">
                        <a:spcBef>
                          <a:spcPts val="0"/>
                        </a:spcBef>
                        <a:spcAft>
                          <a:spcPts val="0"/>
                        </a:spcAft>
                        <a:buNone/>
                      </a:pPr>
                      <a:r>
                        <a:rPr lang="zh-TW"/>
                        <a:t>add()</a:t>
                      </a:r>
                      <a:endParaRPr/>
                    </a:p>
                  </a:txBody>
                  <a:tcPr marT="91425" marB="91425" marR="91425" marL="91425"/>
                </a:tc>
                <a:tc>
                  <a:txBody>
                    <a:bodyPr/>
                    <a:lstStyle/>
                    <a:p>
                      <a:pPr indent="0" lvl="0" marL="0" rtl="0" algn="l">
                        <a:spcBef>
                          <a:spcPts val="0"/>
                        </a:spcBef>
                        <a:spcAft>
                          <a:spcPts val="0"/>
                        </a:spcAft>
                        <a:buNone/>
                      </a:pPr>
                      <a:r>
                        <a:rPr lang="zh-TW"/>
                        <a:t>set.add(element)</a:t>
                      </a:r>
                      <a:endParaRPr/>
                    </a:p>
                  </a:txBody>
                  <a:tcPr marT="91425" marB="91425" marR="91425" marL="91425"/>
                </a:tc>
                <a:tc>
                  <a:txBody>
                    <a:bodyPr/>
                    <a:lstStyle/>
                    <a:p>
                      <a:pPr indent="0" lvl="0" marL="0" rtl="0" algn="l">
                        <a:spcBef>
                          <a:spcPts val="0"/>
                        </a:spcBef>
                        <a:spcAft>
                          <a:spcPts val="0"/>
                        </a:spcAft>
                        <a:buNone/>
                      </a:pPr>
                      <a:r>
                        <a:rPr lang="zh-TW"/>
                        <a:t>向集合中添加一個元素，如果該元素已存在，則不會添加。</a:t>
                      </a:r>
                      <a:endParaRPr/>
                    </a:p>
                  </a:txBody>
                  <a:tcPr marT="91425" marB="91425" marR="91425" marL="91425"/>
                </a:tc>
              </a:tr>
              <a:tr h="381000">
                <a:tc>
                  <a:txBody>
                    <a:bodyPr/>
                    <a:lstStyle/>
                    <a:p>
                      <a:pPr indent="0" lvl="0" marL="0" rtl="0" algn="l">
                        <a:spcBef>
                          <a:spcPts val="0"/>
                        </a:spcBef>
                        <a:spcAft>
                          <a:spcPts val="0"/>
                        </a:spcAft>
                        <a:buNone/>
                      </a:pPr>
                      <a:r>
                        <a:rPr lang="zh-TW"/>
                        <a:t>remove()</a:t>
                      </a:r>
                      <a:endParaRPr/>
                    </a:p>
                  </a:txBody>
                  <a:tcPr marT="91425" marB="91425" marR="91425" marL="91425"/>
                </a:tc>
                <a:tc>
                  <a:txBody>
                    <a:bodyPr/>
                    <a:lstStyle/>
                    <a:p>
                      <a:pPr indent="0" lvl="0" marL="0" rtl="0" algn="l">
                        <a:spcBef>
                          <a:spcPts val="0"/>
                        </a:spcBef>
                        <a:spcAft>
                          <a:spcPts val="0"/>
                        </a:spcAft>
                        <a:buNone/>
                      </a:pPr>
                      <a:r>
                        <a:rPr lang="zh-TW"/>
                        <a:t>set.remove(element)</a:t>
                      </a:r>
                      <a:endParaRPr/>
                    </a:p>
                  </a:txBody>
                  <a:tcPr marT="91425" marB="91425" marR="91425" marL="91425"/>
                </a:tc>
                <a:tc>
                  <a:txBody>
                    <a:bodyPr/>
                    <a:lstStyle/>
                    <a:p>
                      <a:pPr indent="0" lvl="0" marL="0" rtl="0" algn="l">
                        <a:spcBef>
                          <a:spcPts val="0"/>
                        </a:spcBef>
                        <a:spcAft>
                          <a:spcPts val="0"/>
                        </a:spcAft>
                        <a:buNone/>
                      </a:pPr>
                      <a:r>
                        <a:rPr lang="zh-TW" sz="1100"/>
                        <a:t>從集合中移除指定元素。如果該元素不存在，會引發 </a:t>
                      </a:r>
                      <a:r>
                        <a:rPr lang="zh-TW" sz="1100">
                          <a:solidFill>
                            <a:srgbClr val="188038"/>
                          </a:solidFill>
                          <a:latin typeface="Roboto Mono"/>
                          <a:ea typeface="Roboto Mono"/>
                          <a:cs typeface="Roboto Mono"/>
                          <a:sym typeface="Roboto Mono"/>
                        </a:rPr>
                        <a:t>KeyError</a:t>
                      </a:r>
                      <a:r>
                        <a:rPr lang="zh-TW" sz="1100"/>
                        <a:t>。</a:t>
                      </a:r>
                      <a:endParaRPr/>
                    </a:p>
                  </a:txBody>
                  <a:tcPr marT="91425" marB="91425" marR="91425" marL="91425"/>
                </a:tc>
              </a:tr>
              <a:tr h="381000">
                <a:tc>
                  <a:txBody>
                    <a:bodyPr/>
                    <a:lstStyle/>
                    <a:p>
                      <a:pPr indent="0" lvl="0" marL="0" rtl="0" algn="l">
                        <a:spcBef>
                          <a:spcPts val="0"/>
                        </a:spcBef>
                        <a:spcAft>
                          <a:spcPts val="0"/>
                        </a:spcAft>
                        <a:buNone/>
                      </a:pPr>
                      <a:r>
                        <a:rPr lang="zh-TW"/>
                        <a:t>discard()</a:t>
                      </a:r>
                      <a:endParaRPr/>
                    </a:p>
                  </a:txBody>
                  <a:tcPr marT="91425" marB="91425" marR="91425" marL="91425"/>
                </a:tc>
                <a:tc>
                  <a:txBody>
                    <a:bodyPr/>
                    <a:lstStyle/>
                    <a:p>
                      <a:pPr indent="0" lvl="0" marL="0" rtl="0" algn="l">
                        <a:spcBef>
                          <a:spcPts val="0"/>
                        </a:spcBef>
                        <a:spcAft>
                          <a:spcPts val="0"/>
                        </a:spcAft>
                        <a:buNone/>
                      </a:pPr>
                      <a:r>
                        <a:rPr lang="zh-TW"/>
                        <a:t>set.discard(element)</a:t>
                      </a:r>
                      <a:endParaRPr/>
                    </a:p>
                  </a:txBody>
                  <a:tcPr marT="91425" marB="91425" marR="91425" marL="91425"/>
                </a:tc>
                <a:tc>
                  <a:txBody>
                    <a:bodyPr/>
                    <a:lstStyle/>
                    <a:p>
                      <a:pPr indent="0" lvl="0" marL="0" rtl="0" algn="l">
                        <a:spcBef>
                          <a:spcPts val="0"/>
                        </a:spcBef>
                        <a:spcAft>
                          <a:spcPts val="0"/>
                        </a:spcAft>
                        <a:buNone/>
                      </a:pPr>
                      <a:r>
                        <a:rPr lang="zh-TW"/>
                        <a:t>從集合中移除指定元素，如果該元素不存在，不會引發錯誤。</a:t>
                      </a:r>
                      <a:endParaRPr/>
                    </a:p>
                  </a:txBody>
                  <a:tcPr marT="91425" marB="91425" marR="91425" marL="91425"/>
                </a:tc>
              </a:tr>
              <a:tr h="381000">
                <a:tc>
                  <a:txBody>
                    <a:bodyPr/>
                    <a:lstStyle/>
                    <a:p>
                      <a:pPr indent="0" lvl="0" marL="0" rtl="0" algn="l">
                        <a:spcBef>
                          <a:spcPts val="0"/>
                        </a:spcBef>
                        <a:spcAft>
                          <a:spcPts val="0"/>
                        </a:spcAft>
                        <a:buNone/>
                      </a:pPr>
                      <a:r>
                        <a:rPr lang="zh-TW"/>
                        <a:t>clear()</a:t>
                      </a:r>
                      <a:endParaRPr/>
                    </a:p>
                  </a:txBody>
                  <a:tcPr marT="91425" marB="91425" marR="91425" marL="91425"/>
                </a:tc>
                <a:tc>
                  <a:txBody>
                    <a:bodyPr/>
                    <a:lstStyle/>
                    <a:p>
                      <a:pPr indent="0" lvl="0" marL="0" rtl="0" algn="l">
                        <a:spcBef>
                          <a:spcPts val="0"/>
                        </a:spcBef>
                        <a:spcAft>
                          <a:spcPts val="0"/>
                        </a:spcAft>
                        <a:buNone/>
                      </a:pPr>
                      <a:r>
                        <a:rPr lang="zh-TW"/>
                        <a:t>set.clear()</a:t>
                      </a:r>
                      <a:endParaRPr/>
                    </a:p>
                  </a:txBody>
                  <a:tcPr marT="91425" marB="91425" marR="91425" marL="91425"/>
                </a:tc>
                <a:tc>
                  <a:txBody>
                    <a:bodyPr/>
                    <a:lstStyle/>
                    <a:p>
                      <a:pPr indent="0" lvl="0" marL="0" rtl="0" algn="l">
                        <a:spcBef>
                          <a:spcPts val="0"/>
                        </a:spcBef>
                        <a:spcAft>
                          <a:spcPts val="0"/>
                        </a:spcAft>
                        <a:buNone/>
                      </a:pPr>
                      <a:r>
                        <a:rPr lang="zh-TW"/>
                        <a:t>清空集合，移除所有元素。</a:t>
                      </a:r>
                      <a:endParaRPr/>
                    </a:p>
                  </a:txBody>
                  <a:tcPr marT="91425" marB="91425" marR="91425" marL="91425"/>
                </a:tc>
              </a:tr>
              <a:tr h="381000">
                <a:tc>
                  <a:txBody>
                    <a:bodyPr/>
                    <a:lstStyle/>
                    <a:p>
                      <a:pPr indent="0" lvl="0" marL="0" rtl="0" algn="l">
                        <a:spcBef>
                          <a:spcPts val="0"/>
                        </a:spcBef>
                        <a:spcAft>
                          <a:spcPts val="0"/>
                        </a:spcAft>
                        <a:buNone/>
                      </a:pPr>
                      <a:r>
                        <a:rPr lang="zh-TW"/>
                        <a:t>union()</a:t>
                      </a:r>
                      <a:endParaRPr/>
                    </a:p>
                  </a:txBody>
                  <a:tcPr marT="91425" marB="91425" marR="91425" marL="91425"/>
                </a:tc>
                <a:tc>
                  <a:txBody>
                    <a:bodyPr/>
                    <a:lstStyle/>
                    <a:p>
                      <a:pPr indent="0" lvl="0" marL="0" rtl="0" algn="l">
                        <a:spcBef>
                          <a:spcPts val="0"/>
                        </a:spcBef>
                        <a:spcAft>
                          <a:spcPts val="0"/>
                        </a:spcAft>
                        <a:buNone/>
                      </a:pPr>
                      <a:r>
                        <a:rPr lang="zh-TW"/>
                        <a:t>set.union(set2)</a:t>
                      </a:r>
                      <a:endParaRPr/>
                    </a:p>
                  </a:txBody>
                  <a:tcPr marT="91425" marB="91425" marR="91425" marL="91425"/>
                </a:tc>
                <a:tc>
                  <a:txBody>
                    <a:bodyPr/>
                    <a:lstStyle/>
                    <a:p>
                      <a:pPr indent="0" lvl="0" marL="0" rtl="0" algn="l">
                        <a:spcBef>
                          <a:spcPts val="0"/>
                        </a:spcBef>
                        <a:spcAft>
                          <a:spcPts val="0"/>
                        </a:spcAft>
                        <a:buNone/>
                      </a:pPr>
                      <a:r>
                        <a:rPr lang="zh-TW"/>
                        <a:t>返回兩個集合的並集，即兩個集合中所有不重複的元素組成的新集合。</a:t>
                      </a:r>
                      <a:endParaRPr/>
                    </a:p>
                  </a:txBody>
                  <a:tcPr marT="91425" marB="91425" marR="91425" marL="91425"/>
                </a:tc>
              </a:tr>
              <a:tr h="381000">
                <a:tc>
                  <a:txBody>
                    <a:bodyPr/>
                    <a:lstStyle/>
                    <a:p>
                      <a:pPr indent="0" lvl="0" marL="0" rtl="0" algn="l">
                        <a:spcBef>
                          <a:spcPts val="0"/>
                        </a:spcBef>
                        <a:spcAft>
                          <a:spcPts val="0"/>
                        </a:spcAft>
                        <a:buNone/>
                      </a:pPr>
                      <a:r>
                        <a:rPr lang="zh-TW"/>
                        <a:t>intersection()</a:t>
                      </a:r>
                      <a:endParaRPr/>
                    </a:p>
                  </a:txBody>
                  <a:tcPr marT="91425" marB="91425" marR="91425" marL="91425"/>
                </a:tc>
                <a:tc>
                  <a:txBody>
                    <a:bodyPr/>
                    <a:lstStyle/>
                    <a:p>
                      <a:pPr indent="0" lvl="0" marL="0" rtl="0" algn="l">
                        <a:spcBef>
                          <a:spcPts val="0"/>
                        </a:spcBef>
                        <a:spcAft>
                          <a:spcPts val="0"/>
                        </a:spcAft>
                        <a:buNone/>
                      </a:pPr>
                      <a:r>
                        <a:rPr lang="zh-TW"/>
                        <a:t>set.intersection(set2)</a:t>
                      </a:r>
                      <a:endParaRPr/>
                    </a:p>
                  </a:txBody>
                  <a:tcPr marT="91425" marB="91425" marR="91425" marL="91425"/>
                </a:tc>
                <a:tc>
                  <a:txBody>
                    <a:bodyPr/>
                    <a:lstStyle/>
                    <a:p>
                      <a:pPr indent="0" lvl="0" marL="0" rtl="0" algn="l">
                        <a:spcBef>
                          <a:spcPts val="0"/>
                        </a:spcBef>
                        <a:spcAft>
                          <a:spcPts val="0"/>
                        </a:spcAft>
                        <a:buNone/>
                      </a:pPr>
                      <a:r>
                        <a:rPr lang="zh-TW"/>
                        <a:t>返回兩個集合的交集，即兩個集合中都存在的元素組成的新集合。</a:t>
                      </a:r>
                      <a:endParaRPr/>
                    </a:p>
                  </a:txBody>
                  <a:tcPr marT="91425" marB="91425" marR="91425" marL="91425"/>
                </a:tc>
              </a:tr>
              <a:tr h="381000">
                <a:tc>
                  <a:txBody>
                    <a:bodyPr/>
                    <a:lstStyle/>
                    <a:p>
                      <a:pPr indent="0" lvl="0" marL="0" rtl="0" algn="l">
                        <a:spcBef>
                          <a:spcPts val="0"/>
                        </a:spcBef>
                        <a:spcAft>
                          <a:spcPts val="0"/>
                        </a:spcAft>
                        <a:buNone/>
                      </a:pPr>
                      <a:r>
                        <a:rPr lang="zh-TW"/>
                        <a:t>difference()</a:t>
                      </a:r>
                      <a:endParaRPr/>
                    </a:p>
                  </a:txBody>
                  <a:tcPr marT="91425" marB="91425" marR="91425" marL="91425"/>
                </a:tc>
                <a:tc>
                  <a:txBody>
                    <a:bodyPr/>
                    <a:lstStyle/>
                    <a:p>
                      <a:pPr indent="0" lvl="0" marL="0" rtl="0" algn="l">
                        <a:spcBef>
                          <a:spcPts val="0"/>
                        </a:spcBef>
                        <a:spcAft>
                          <a:spcPts val="0"/>
                        </a:spcAft>
                        <a:buNone/>
                      </a:pPr>
                      <a:r>
                        <a:rPr lang="zh-TW"/>
                        <a:t>set.difference(set2)</a:t>
                      </a:r>
                      <a:endParaRPr/>
                    </a:p>
                  </a:txBody>
                  <a:tcPr marT="91425" marB="91425" marR="91425" marL="91425"/>
                </a:tc>
                <a:tc>
                  <a:txBody>
                    <a:bodyPr/>
                    <a:lstStyle/>
                    <a:p>
                      <a:pPr indent="0" lvl="0" marL="0" rtl="0" algn="l">
                        <a:spcBef>
                          <a:spcPts val="0"/>
                        </a:spcBef>
                        <a:spcAft>
                          <a:spcPts val="0"/>
                        </a:spcAft>
                        <a:buNone/>
                      </a:pPr>
                      <a:r>
                        <a:rPr lang="zh-TW"/>
                        <a:t>返回當前集合與另一個集合的差集，即當前集合中有，但另一個集合中沒有的元素。</a:t>
                      </a:r>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311700" y="155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set之常用指令-2</a:t>
            </a:r>
            <a:endParaRPr/>
          </a:p>
        </p:txBody>
      </p:sp>
      <p:graphicFrame>
        <p:nvGraphicFramePr>
          <p:cNvPr id="244" name="Google Shape;244;p39"/>
          <p:cNvGraphicFramePr/>
          <p:nvPr/>
        </p:nvGraphicFramePr>
        <p:xfrm>
          <a:off x="933600" y="807900"/>
          <a:ext cx="3000000" cy="3000000"/>
        </p:xfrm>
        <a:graphic>
          <a:graphicData uri="http://schemas.openxmlformats.org/drawingml/2006/table">
            <a:tbl>
              <a:tblPr>
                <a:noFill/>
                <a:tableStyleId>{7C26E4BD-2EE1-4CC8-BD85-72C400897770}</a:tableStyleId>
              </a:tblPr>
              <a:tblGrid>
                <a:gridCol w="1236375"/>
                <a:gridCol w="2043175"/>
                <a:gridCol w="4060250"/>
              </a:tblGrid>
              <a:tr h="356900">
                <a:tc>
                  <a:txBody>
                    <a:bodyPr/>
                    <a:lstStyle/>
                    <a:p>
                      <a:pPr indent="0" lvl="0" marL="0" rtl="0" algn="l">
                        <a:spcBef>
                          <a:spcPts val="0"/>
                        </a:spcBef>
                        <a:spcAft>
                          <a:spcPts val="0"/>
                        </a:spcAft>
                        <a:buNone/>
                      </a:pPr>
                      <a:r>
                        <a:rPr lang="zh-TW"/>
                        <a:t>指令</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a:t>用法</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a:t>說明</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93900">
                <a:tc>
                  <a:txBody>
                    <a:bodyPr/>
                    <a:lstStyle/>
                    <a:p>
                      <a:pPr indent="0" lvl="0" marL="0" rtl="0" algn="l">
                        <a:spcBef>
                          <a:spcPts val="0"/>
                        </a:spcBef>
                        <a:spcAft>
                          <a:spcPts val="0"/>
                        </a:spcAft>
                        <a:buNone/>
                      </a:pPr>
                      <a:r>
                        <a:rPr lang="zh-TW"/>
                        <a:t>issubset()</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zh-TW"/>
                        <a:t>set.issubset(set2)</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zh-TW" sz="1100"/>
                        <a:t>檢查當前集合是否是另一個集合的子集。如果是，返回 </a:t>
                      </a:r>
                      <a:r>
                        <a:rPr lang="zh-TW" sz="1100">
                          <a:solidFill>
                            <a:srgbClr val="188038"/>
                          </a:solidFill>
                          <a:latin typeface="Roboto Mono"/>
                          <a:ea typeface="Roboto Mono"/>
                          <a:cs typeface="Roboto Mono"/>
                          <a:sym typeface="Roboto Mono"/>
                        </a:rPr>
                        <a:t>True</a:t>
                      </a:r>
                      <a:r>
                        <a:rPr lang="zh-TW" sz="1100"/>
                        <a:t>，否則返回 </a:t>
                      </a:r>
                      <a:r>
                        <a:rPr lang="zh-TW" sz="1100">
                          <a:solidFill>
                            <a:srgbClr val="188038"/>
                          </a:solidFill>
                          <a:latin typeface="Roboto Mono"/>
                          <a:ea typeface="Roboto Mono"/>
                          <a:cs typeface="Roboto Mono"/>
                          <a:sym typeface="Roboto Mono"/>
                        </a:rPr>
                        <a:t>False</a:t>
                      </a:r>
                      <a:r>
                        <a:rPr lang="zh-TW" sz="1100"/>
                        <a:t>。</a:t>
                      </a:r>
                      <a:endParaRPr/>
                    </a:p>
                  </a:txBody>
                  <a:tcPr marT="91425" marB="91425" marR="91425" marL="91425">
                    <a:lnT cap="flat" cmpd="sng" w="9525">
                      <a:solidFill>
                        <a:srgbClr val="9E9E9E"/>
                      </a:solidFill>
                      <a:prstDash val="solid"/>
                      <a:round/>
                      <a:headEnd len="sm" w="sm" type="none"/>
                      <a:tailEnd len="sm" w="sm" type="none"/>
                    </a:lnT>
                  </a:tcPr>
                </a:tc>
              </a:tr>
              <a:tr h="493900">
                <a:tc>
                  <a:txBody>
                    <a:bodyPr/>
                    <a:lstStyle/>
                    <a:p>
                      <a:pPr indent="0" lvl="0" marL="0" rtl="0" algn="l">
                        <a:spcBef>
                          <a:spcPts val="0"/>
                        </a:spcBef>
                        <a:spcAft>
                          <a:spcPts val="0"/>
                        </a:spcAft>
                        <a:buNone/>
                      </a:pPr>
                      <a:r>
                        <a:rPr lang="zh-TW"/>
                        <a:t>issuperset()</a:t>
                      </a:r>
                      <a:endParaRPr/>
                    </a:p>
                  </a:txBody>
                  <a:tcPr marT="91425" marB="91425" marR="91425" marL="91425"/>
                </a:tc>
                <a:tc>
                  <a:txBody>
                    <a:bodyPr/>
                    <a:lstStyle/>
                    <a:p>
                      <a:pPr indent="0" lvl="0" marL="0" rtl="0" algn="l">
                        <a:spcBef>
                          <a:spcPts val="0"/>
                        </a:spcBef>
                        <a:spcAft>
                          <a:spcPts val="0"/>
                        </a:spcAft>
                        <a:buNone/>
                      </a:pPr>
                      <a:r>
                        <a:rPr lang="zh-TW"/>
                        <a:t>set.issuperset(set2)</a:t>
                      </a:r>
                      <a:endParaRPr/>
                    </a:p>
                  </a:txBody>
                  <a:tcPr marT="91425" marB="91425" marR="91425" marL="91425"/>
                </a:tc>
                <a:tc>
                  <a:txBody>
                    <a:bodyPr/>
                    <a:lstStyle/>
                    <a:p>
                      <a:pPr indent="0" lvl="0" marL="0" rtl="0" algn="l">
                        <a:spcBef>
                          <a:spcPts val="0"/>
                        </a:spcBef>
                        <a:spcAft>
                          <a:spcPts val="0"/>
                        </a:spcAft>
                        <a:buNone/>
                      </a:pPr>
                      <a:r>
                        <a:rPr lang="zh-TW" sz="1100"/>
                        <a:t>檢查當前集合是否是另一個集合的超集。如果是，返回 </a:t>
                      </a:r>
                      <a:r>
                        <a:rPr lang="zh-TW" sz="1100">
                          <a:solidFill>
                            <a:srgbClr val="188038"/>
                          </a:solidFill>
                          <a:latin typeface="Roboto Mono"/>
                          <a:ea typeface="Roboto Mono"/>
                          <a:cs typeface="Roboto Mono"/>
                          <a:sym typeface="Roboto Mono"/>
                        </a:rPr>
                        <a:t>True</a:t>
                      </a:r>
                      <a:r>
                        <a:rPr lang="zh-TW" sz="1100"/>
                        <a:t>，否則返回 </a:t>
                      </a:r>
                      <a:r>
                        <a:rPr lang="zh-TW" sz="1100">
                          <a:solidFill>
                            <a:srgbClr val="188038"/>
                          </a:solidFill>
                          <a:latin typeface="Roboto Mono"/>
                          <a:ea typeface="Roboto Mono"/>
                          <a:cs typeface="Roboto Mono"/>
                          <a:sym typeface="Roboto Mono"/>
                        </a:rPr>
                        <a:t>False</a:t>
                      </a:r>
                      <a:r>
                        <a:rPr lang="zh-TW" sz="1100"/>
                        <a:t>。</a:t>
                      </a:r>
                      <a:endParaRPr/>
                    </a:p>
                  </a:txBody>
                  <a:tcPr marT="91425" marB="91425" marR="91425" marL="91425"/>
                </a:tc>
              </a:tr>
              <a:tr h="493900">
                <a:tc>
                  <a:txBody>
                    <a:bodyPr/>
                    <a:lstStyle/>
                    <a:p>
                      <a:pPr indent="0" lvl="0" marL="0" rtl="0" algn="l">
                        <a:spcBef>
                          <a:spcPts val="0"/>
                        </a:spcBef>
                        <a:spcAft>
                          <a:spcPts val="0"/>
                        </a:spcAft>
                        <a:buNone/>
                      </a:pPr>
                      <a:r>
                        <a:rPr lang="zh-TW"/>
                        <a:t>isdisjoint()</a:t>
                      </a:r>
                      <a:endParaRPr/>
                    </a:p>
                  </a:txBody>
                  <a:tcPr marT="91425" marB="91425" marR="91425" marL="91425"/>
                </a:tc>
                <a:tc>
                  <a:txBody>
                    <a:bodyPr/>
                    <a:lstStyle/>
                    <a:p>
                      <a:pPr indent="0" lvl="0" marL="0" rtl="0" algn="l">
                        <a:spcBef>
                          <a:spcPts val="0"/>
                        </a:spcBef>
                        <a:spcAft>
                          <a:spcPts val="0"/>
                        </a:spcAft>
                        <a:buNone/>
                      </a:pPr>
                      <a:r>
                        <a:rPr lang="zh-TW"/>
                        <a:t>set.isdisjoint(set2)</a:t>
                      </a:r>
                      <a:endParaRPr/>
                    </a:p>
                  </a:txBody>
                  <a:tcPr marT="91425" marB="91425" marR="91425" marL="91425"/>
                </a:tc>
                <a:tc>
                  <a:txBody>
                    <a:bodyPr/>
                    <a:lstStyle/>
                    <a:p>
                      <a:pPr indent="0" lvl="0" marL="0" rtl="0" algn="l">
                        <a:spcBef>
                          <a:spcPts val="0"/>
                        </a:spcBef>
                        <a:spcAft>
                          <a:spcPts val="0"/>
                        </a:spcAft>
                        <a:buNone/>
                      </a:pPr>
                      <a:r>
                        <a:rPr lang="zh-TW" sz="1100"/>
                        <a:t>檢查兩個集合是否沒有共同元素。如果沒有，返回 </a:t>
                      </a:r>
                      <a:r>
                        <a:rPr lang="zh-TW" sz="1100">
                          <a:solidFill>
                            <a:srgbClr val="188038"/>
                          </a:solidFill>
                          <a:latin typeface="Roboto Mono"/>
                          <a:ea typeface="Roboto Mono"/>
                          <a:cs typeface="Roboto Mono"/>
                          <a:sym typeface="Roboto Mono"/>
                        </a:rPr>
                        <a:t>True</a:t>
                      </a:r>
                      <a:r>
                        <a:rPr lang="zh-TW" sz="1100"/>
                        <a:t>，否則返回 </a:t>
                      </a:r>
                      <a:r>
                        <a:rPr lang="zh-TW" sz="1100">
                          <a:solidFill>
                            <a:srgbClr val="188038"/>
                          </a:solidFill>
                          <a:latin typeface="Roboto Mono"/>
                          <a:ea typeface="Roboto Mono"/>
                          <a:cs typeface="Roboto Mono"/>
                          <a:sym typeface="Roboto Mono"/>
                        </a:rPr>
                        <a:t>False</a:t>
                      </a:r>
                      <a:r>
                        <a:rPr lang="zh-TW" sz="1100"/>
                        <a:t>。</a:t>
                      </a:r>
                      <a:endParaRPr/>
                    </a:p>
                  </a:txBody>
                  <a:tcPr marT="91425" marB="91425" marR="91425" marL="91425"/>
                </a:tc>
              </a:tr>
              <a:tr h="493900">
                <a:tc>
                  <a:txBody>
                    <a:bodyPr/>
                    <a:lstStyle/>
                    <a:p>
                      <a:pPr indent="0" lvl="0" marL="0" rtl="0" algn="l">
                        <a:spcBef>
                          <a:spcPts val="0"/>
                        </a:spcBef>
                        <a:spcAft>
                          <a:spcPts val="0"/>
                        </a:spcAft>
                        <a:buNone/>
                      </a:pPr>
                      <a:r>
                        <a:rPr lang="zh-TW"/>
                        <a:t>copy()</a:t>
                      </a:r>
                      <a:endParaRPr/>
                    </a:p>
                  </a:txBody>
                  <a:tcPr marT="91425" marB="91425" marR="91425" marL="91425"/>
                </a:tc>
                <a:tc>
                  <a:txBody>
                    <a:bodyPr/>
                    <a:lstStyle/>
                    <a:p>
                      <a:pPr indent="0" lvl="0" marL="0" rtl="0" algn="l">
                        <a:spcBef>
                          <a:spcPts val="0"/>
                        </a:spcBef>
                        <a:spcAft>
                          <a:spcPts val="0"/>
                        </a:spcAft>
                        <a:buNone/>
                      </a:pPr>
                      <a:r>
                        <a:rPr lang="zh-TW"/>
                        <a:t>set.copy()</a:t>
                      </a:r>
                      <a:endParaRPr/>
                    </a:p>
                  </a:txBody>
                  <a:tcPr marT="91425" marB="91425" marR="91425" marL="91425"/>
                </a:tc>
                <a:tc>
                  <a:txBody>
                    <a:bodyPr/>
                    <a:lstStyle/>
                    <a:p>
                      <a:pPr indent="0" lvl="0" marL="0" rtl="0" algn="l">
                        <a:spcBef>
                          <a:spcPts val="0"/>
                        </a:spcBef>
                        <a:spcAft>
                          <a:spcPts val="0"/>
                        </a:spcAft>
                        <a:buNone/>
                      </a:pPr>
                      <a:r>
                        <a:rPr lang="zh-TW"/>
                        <a:t>返回集合的複製</a:t>
                      </a:r>
                      <a:endParaRPr/>
                    </a:p>
                  </a:txBody>
                  <a:tcPr marT="91425" marB="91425" marR="91425" marL="91425"/>
                </a:tc>
              </a:tr>
              <a:tr h="493900">
                <a:tc>
                  <a:txBody>
                    <a:bodyPr/>
                    <a:lstStyle/>
                    <a:p>
                      <a:pPr indent="0" lvl="0" marL="0" rtl="0" algn="l">
                        <a:spcBef>
                          <a:spcPts val="0"/>
                        </a:spcBef>
                        <a:spcAft>
                          <a:spcPts val="0"/>
                        </a:spcAft>
                        <a:buNone/>
                      </a:pPr>
                      <a:r>
                        <a:rPr lang="zh-TW"/>
                        <a:t>len()</a:t>
                      </a:r>
                      <a:endParaRPr/>
                    </a:p>
                  </a:txBody>
                  <a:tcPr marT="91425" marB="91425" marR="91425" marL="91425"/>
                </a:tc>
                <a:tc>
                  <a:txBody>
                    <a:bodyPr/>
                    <a:lstStyle/>
                    <a:p>
                      <a:pPr indent="0" lvl="0" marL="0" rtl="0" algn="l">
                        <a:spcBef>
                          <a:spcPts val="0"/>
                        </a:spcBef>
                        <a:spcAft>
                          <a:spcPts val="0"/>
                        </a:spcAft>
                        <a:buNone/>
                      </a:pPr>
                      <a:r>
                        <a:rPr lang="zh-TW"/>
                        <a:t>len(set)</a:t>
                      </a:r>
                      <a:endParaRPr/>
                    </a:p>
                  </a:txBody>
                  <a:tcPr marT="91425" marB="91425" marR="91425" marL="91425"/>
                </a:tc>
                <a:tc>
                  <a:txBody>
                    <a:bodyPr/>
                    <a:lstStyle/>
                    <a:p>
                      <a:pPr indent="0" lvl="0" marL="0" rtl="0" algn="l">
                        <a:spcBef>
                          <a:spcPts val="0"/>
                        </a:spcBef>
                        <a:spcAft>
                          <a:spcPts val="0"/>
                        </a:spcAft>
                        <a:buNone/>
                      </a:pPr>
                      <a:r>
                        <a:rPr lang="zh-TW"/>
                        <a:t>返回集合中元素的數量。</a:t>
                      </a:r>
                      <a:endParaRPr/>
                    </a:p>
                  </a:txBody>
                  <a:tcPr marT="91425" marB="91425" marR="91425" marL="91425"/>
                </a:tc>
              </a:tr>
              <a:tr h="493900">
                <a:tc>
                  <a:txBody>
                    <a:bodyPr/>
                    <a:lstStyle/>
                    <a:p>
                      <a:pPr indent="0" lvl="0" marL="0" rtl="0" algn="l">
                        <a:spcBef>
                          <a:spcPts val="0"/>
                        </a:spcBef>
                        <a:spcAft>
                          <a:spcPts val="0"/>
                        </a:spcAft>
                        <a:buNone/>
                      </a:pPr>
                      <a:r>
                        <a:rPr lang="zh-TW"/>
                        <a:t>in</a:t>
                      </a:r>
                      <a:endParaRPr/>
                    </a:p>
                  </a:txBody>
                  <a:tcPr marT="91425" marB="91425" marR="91425" marL="91425"/>
                </a:tc>
                <a:tc>
                  <a:txBody>
                    <a:bodyPr/>
                    <a:lstStyle/>
                    <a:p>
                      <a:pPr indent="0" lvl="0" marL="0" rtl="0" algn="l">
                        <a:spcBef>
                          <a:spcPts val="0"/>
                        </a:spcBef>
                        <a:spcAft>
                          <a:spcPts val="0"/>
                        </a:spcAft>
                        <a:buNone/>
                      </a:pPr>
                      <a:r>
                        <a:rPr lang="zh-TW"/>
                        <a:t>element in set</a:t>
                      </a:r>
                      <a:endParaRPr/>
                    </a:p>
                  </a:txBody>
                  <a:tcPr marT="91425" marB="91425" marR="91425" marL="91425"/>
                </a:tc>
                <a:tc>
                  <a:txBody>
                    <a:bodyPr/>
                    <a:lstStyle/>
                    <a:p>
                      <a:pPr indent="0" lvl="0" marL="0" rtl="0" algn="l">
                        <a:spcBef>
                          <a:spcPts val="0"/>
                        </a:spcBef>
                        <a:spcAft>
                          <a:spcPts val="0"/>
                        </a:spcAft>
                        <a:buNone/>
                      </a:pPr>
                      <a:r>
                        <a:rPr lang="zh-TW" sz="1100"/>
                        <a:t>檢查某元素是否在集合中。如果在，返回 </a:t>
                      </a:r>
                      <a:r>
                        <a:rPr lang="zh-TW" sz="1100">
                          <a:solidFill>
                            <a:srgbClr val="188038"/>
                          </a:solidFill>
                          <a:latin typeface="Roboto Mono"/>
                          <a:ea typeface="Roboto Mono"/>
                          <a:cs typeface="Roboto Mono"/>
                          <a:sym typeface="Roboto Mono"/>
                        </a:rPr>
                        <a:t>True</a:t>
                      </a:r>
                      <a:r>
                        <a:rPr lang="zh-TW" sz="1100"/>
                        <a:t>，否則返回 </a:t>
                      </a:r>
                      <a:r>
                        <a:rPr lang="zh-TW" sz="1100">
                          <a:solidFill>
                            <a:srgbClr val="188038"/>
                          </a:solidFill>
                          <a:latin typeface="Roboto Mono"/>
                          <a:ea typeface="Roboto Mono"/>
                          <a:cs typeface="Roboto Mono"/>
                          <a:sym typeface="Roboto Mono"/>
                        </a:rPr>
                        <a:t>False</a:t>
                      </a:r>
                      <a:r>
                        <a:rPr lang="zh-TW" sz="1100"/>
                        <a:t>。</a:t>
                      </a:r>
                      <a:endParaRPr/>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群集資料型態比較</a:t>
            </a:r>
            <a:endParaRPr/>
          </a:p>
        </p:txBody>
      </p:sp>
      <p:graphicFrame>
        <p:nvGraphicFramePr>
          <p:cNvPr id="250" name="Google Shape;250;p40"/>
          <p:cNvGraphicFramePr/>
          <p:nvPr/>
        </p:nvGraphicFramePr>
        <p:xfrm>
          <a:off x="760825" y="1152475"/>
          <a:ext cx="3000000" cy="3000000"/>
        </p:xfrm>
        <a:graphic>
          <a:graphicData uri="http://schemas.openxmlformats.org/drawingml/2006/table">
            <a:tbl>
              <a:tblPr>
                <a:noFill/>
                <a:tableStyleId>{7C26E4BD-2EE1-4CC8-BD85-72C400897770}</a:tableStyleId>
              </a:tblPr>
              <a:tblGrid>
                <a:gridCol w="1988125"/>
                <a:gridCol w="1988125"/>
                <a:gridCol w="1988125"/>
                <a:gridCol w="1988125"/>
              </a:tblGrid>
              <a:tr h="381000">
                <a:tc>
                  <a:txBody>
                    <a:bodyPr/>
                    <a:lstStyle/>
                    <a:p>
                      <a:pPr indent="0" lvl="0" marL="0" rtl="0" algn="l">
                        <a:spcBef>
                          <a:spcPts val="0"/>
                        </a:spcBef>
                        <a:spcAft>
                          <a:spcPts val="0"/>
                        </a:spcAft>
                        <a:buNone/>
                      </a:pPr>
                      <a:r>
                        <a:rPr lang="zh-TW"/>
                        <a:t>型態</a:t>
                      </a:r>
                      <a:endParaRPr/>
                    </a:p>
                  </a:txBody>
                  <a:tcPr marT="91425" marB="91425" marR="91425" marL="91425"/>
                </a:tc>
                <a:tc>
                  <a:txBody>
                    <a:bodyPr/>
                    <a:lstStyle/>
                    <a:p>
                      <a:pPr indent="0" lvl="0" marL="0" rtl="0" algn="l">
                        <a:spcBef>
                          <a:spcPts val="0"/>
                        </a:spcBef>
                        <a:spcAft>
                          <a:spcPts val="0"/>
                        </a:spcAft>
                        <a:buNone/>
                      </a:pPr>
                      <a:r>
                        <a:rPr lang="zh-TW"/>
                        <a:t>符號</a:t>
                      </a:r>
                      <a:endParaRPr/>
                    </a:p>
                  </a:txBody>
                  <a:tcPr marT="91425" marB="91425" marR="91425" marL="91425"/>
                </a:tc>
                <a:tc>
                  <a:txBody>
                    <a:bodyPr/>
                    <a:lstStyle/>
                    <a:p>
                      <a:pPr indent="0" lvl="0" marL="0" rtl="0" algn="l">
                        <a:spcBef>
                          <a:spcPts val="0"/>
                        </a:spcBef>
                        <a:spcAft>
                          <a:spcPts val="0"/>
                        </a:spcAft>
                        <a:buNone/>
                      </a:pPr>
                      <a:r>
                        <a:rPr lang="zh-TW"/>
                        <a:t>特性說明</a:t>
                      </a:r>
                      <a:endParaRPr/>
                    </a:p>
                  </a:txBody>
                  <a:tcPr marT="91425" marB="91425" marR="91425" marL="91425"/>
                </a:tc>
                <a:tc>
                  <a:txBody>
                    <a:bodyPr/>
                    <a:lstStyle/>
                    <a:p>
                      <a:pPr indent="0" lvl="0" marL="0" rtl="0" algn="l">
                        <a:spcBef>
                          <a:spcPts val="0"/>
                        </a:spcBef>
                        <a:spcAft>
                          <a:spcPts val="0"/>
                        </a:spcAft>
                        <a:buNone/>
                      </a:pPr>
                      <a:r>
                        <a:rPr lang="zh-TW"/>
                        <a:t>應用場景</a:t>
                      </a:r>
                      <a:endParaRPr/>
                    </a:p>
                  </a:txBody>
                  <a:tcPr marT="91425" marB="91425" marR="91425" marL="91425"/>
                </a:tc>
              </a:tr>
              <a:tr h="381000">
                <a:tc>
                  <a:txBody>
                    <a:bodyPr/>
                    <a:lstStyle/>
                    <a:p>
                      <a:pPr indent="0" lvl="0" marL="0" rtl="0" algn="l">
                        <a:spcBef>
                          <a:spcPts val="0"/>
                        </a:spcBef>
                        <a:spcAft>
                          <a:spcPts val="0"/>
                        </a:spcAft>
                        <a:buNone/>
                      </a:pPr>
                      <a:r>
                        <a:rPr lang="zh-TW"/>
                        <a:t>list</a:t>
                      </a:r>
                      <a:endParaRPr/>
                    </a:p>
                  </a:txBody>
                  <a:tcPr marT="91425" marB="91425" marR="91425" marL="91425"/>
                </a:tc>
                <a:tc>
                  <a:txBody>
                    <a:bodyPr/>
                    <a:lstStyle/>
                    <a:p>
                      <a:pPr indent="0" lvl="0" marL="0" rtl="0" algn="l">
                        <a:spcBef>
                          <a:spcPts val="0"/>
                        </a:spcBef>
                        <a:spcAft>
                          <a:spcPts val="0"/>
                        </a:spcAft>
                        <a:buNone/>
                      </a:pPr>
                      <a:r>
                        <a:rPr lang="zh-TW"/>
                        <a:t>[ ]</a:t>
                      </a:r>
                      <a:endParaRPr/>
                    </a:p>
                  </a:txBody>
                  <a:tcPr marT="91425" marB="91425" marR="91425" marL="91425"/>
                </a:tc>
                <a:tc>
                  <a:txBody>
                    <a:bodyPr/>
                    <a:lstStyle/>
                    <a:p>
                      <a:pPr indent="0" lvl="0" marL="0" rtl="0" algn="l">
                        <a:spcBef>
                          <a:spcPts val="0"/>
                        </a:spcBef>
                        <a:spcAft>
                          <a:spcPts val="0"/>
                        </a:spcAft>
                        <a:buNone/>
                      </a:pPr>
                      <a:r>
                        <a:rPr lang="zh-TW"/>
                        <a:t>有序，具備索引，內容 與長度可變，通過索引 進行查找。</a:t>
                      </a:r>
                      <a:endParaRPr/>
                    </a:p>
                  </a:txBody>
                  <a:tcPr marT="91425" marB="91425" marR="91425" marL="91425"/>
                </a:tc>
                <a:tc>
                  <a:txBody>
                    <a:bodyPr/>
                    <a:lstStyle/>
                    <a:p>
                      <a:pPr indent="0" lvl="0" marL="0" rtl="0" algn="l">
                        <a:spcBef>
                          <a:spcPts val="0"/>
                        </a:spcBef>
                        <a:spcAft>
                          <a:spcPts val="0"/>
                        </a:spcAft>
                        <a:buNone/>
                      </a:pPr>
                      <a:r>
                        <a:rPr lang="zh-TW"/>
                        <a:t>可以使用索引，簡單 的資料集合。</a:t>
                      </a:r>
                      <a:endParaRPr/>
                    </a:p>
                  </a:txBody>
                  <a:tcPr marT="91425" marB="91425" marR="91425" marL="91425"/>
                </a:tc>
              </a:tr>
              <a:tr h="381000">
                <a:tc>
                  <a:txBody>
                    <a:bodyPr/>
                    <a:lstStyle/>
                    <a:p>
                      <a:pPr indent="0" lvl="0" marL="0" rtl="0" algn="l">
                        <a:spcBef>
                          <a:spcPts val="0"/>
                        </a:spcBef>
                        <a:spcAft>
                          <a:spcPts val="0"/>
                        </a:spcAft>
                        <a:buNone/>
                      </a:pPr>
                      <a:r>
                        <a:rPr lang="zh-TW"/>
                        <a:t>tuple</a:t>
                      </a:r>
                      <a:endParaRPr/>
                    </a:p>
                  </a:txBody>
                  <a:tcPr marT="91425" marB="91425" marR="91425" marL="91425"/>
                </a:tc>
                <a:tc>
                  <a:txBody>
                    <a:bodyPr/>
                    <a:lstStyle/>
                    <a:p>
                      <a:pPr indent="0" lvl="0" marL="0" rtl="0" algn="l">
                        <a:spcBef>
                          <a:spcPts val="0"/>
                        </a:spcBef>
                        <a:spcAft>
                          <a:spcPts val="0"/>
                        </a:spcAft>
                        <a:buNone/>
                      </a:pPr>
                      <a:r>
                        <a:rPr lang="zh-TW"/>
                        <a:t>( ) </a:t>
                      </a:r>
                      <a:endParaRPr/>
                    </a:p>
                  </a:txBody>
                  <a:tcPr marT="91425" marB="91425" marR="91425" marL="91425"/>
                </a:tc>
                <a:tc>
                  <a:txBody>
                    <a:bodyPr/>
                    <a:lstStyle/>
                    <a:p>
                      <a:pPr indent="0" lvl="0" marL="0" rtl="0" algn="l">
                        <a:spcBef>
                          <a:spcPts val="0"/>
                        </a:spcBef>
                        <a:spcAft>
                          <a:spcPts val="0"/>
                        </a:spcAft>
                        <a:buNone/>
                      </a:pPr>
                      <a:r>
                        <a:rPr lang="zh-TW"/>
                        <a:t>有序，將多樣的物件集 合到一起，不能修改， 通過索引進行查找。</a:t>
                      </a:r>
                      <a:endParaRPr/>
                    </a:p>
                  </a:txBody>
                  <a:tcPr marT="91425" marB="91425" marR="91425" marL="91425"/>
                </a:tc>
                <a:tc>
                  <a:txBody>
                    <a:bodyPr/>
                    <a:lstStyle/>
                    <a:p>
                      <a:pPr indent="0" lvl="0" marL="0" rtl="0" algn="l">
                        <a:spcBef>
                          <a:spcPts val="0"/>
                        </a:spcBef>
                        <a:spcAft>
                          <a:spcPts val="0"/>
                        </a:spcAft>
                        <a:buNone/>
                      </a:pPr>
                      <a:r>
                        <a:rPr lang="zh-TW"/>
                        <a:t>把一些資料當作一個 整體去使用，不能修 改。</a:t>
                      </a:r>
                      <a:endParaRPr/>
                    </a:p>
                  </a:txBody>
                  <a:tcPr marT="91425" marB="91425" marR="91425" marL="91425"/>
                </a:tc>
              </a:tr>
              <a:tr h="381000">
                <a:tc>
                  <a:txBody>
                    <a:bodyPr/>
                    <a:lstStyle/>
                    <a:p>
                      <a:pPr indent="0" lvl="0" marL="0" rtl="0" algn="l">
                        <a:spcBef>
                          <a:spcPts val="0"/>
                        </a:spcBef>
                        <a:spcAft>
                          <a:spcPts val="0"/>
                        </a:spcAft>
                        <a:buNone/>
                      </a:pPr>
                      <a:r>
                        <a:rPr lang="zh-TW"/>
                        <a:t>dict</a:t>
                      </a:r>
                      <a:endParaRPr/>
                    </a:p>
                  </a:txBody>
                  <a:tcPr marT="91425" marB="91425" marR="91425" marL="91425"/>
                </a:tc>
                <a:tc>
                  <a:txBody>
                    <a:bodyPr/>
                    <a:lstStyle/>
                    <a:p>
                      <a:pPr indent="0" lvl="0" marL="0" rtl="0" algn="l">
                        <a:spcBef>
                          <a:spcPts val="0"/>
                        </a:spcBef>
                        <a:spcAft>
                          <a:spcPts val="0"/>
                        </a:spcAft>
                        <a:buNone/>
                      </a:pPr>
                      <a:r>
                        <a:rPr lang="zh-TW"/>
                        <a:t>{ } </a:t>
                      </a:r>
                      <a:endParaRPr/>
                    </a:p>
                  </a:txBody>
                  <a:tcPr marT="91425" marB="91425" marR="91425" marL="91425"/>
                </a:tc>
                <a:tc>
                  <a:txBody>
                    <a:bodyPr/>
                    <a:lstStyle/>
                    <a:p>
                      <a:pPr indent="0" lvl="0" marL="0" rtl="0" algn="l">
                        <a:spcBef>
                          <a:spcPts val="0"/>
                        </a:spcBef>
                        <a:spcAft>
                          <a:spcPts val="0"/>
                        </a:spcAft>
                        <a:buNone/>
                      </a:pPr>
                      <a:r>
                        <a:rPr lang="zh-TW"/>
                        <a:t>是一組鍵和值的組合， 通過鍵進行查找，沒有 順序，鍵不能重複。</a:t>
                      </a:r>
                      <a:endParaRPr/>
                    </a:p>
                  </a:txBody>
                  <a:tcPr marT="91425" marB="91425" marR="91425" marL="91425"/>
                </a:tc>
                <a:tc>
                  <a:txBody>
                    <a:bodyPr/>
                    <a:lstStyle/>
                    <a:p>
                      <a:pPr indent="0" lvl="0" marL="0" rtl="0" algn="l">
                        <a:spcBef>
                          <a:spcPts val="0"/>
                        </a:spcBef>
                        <a:spcAft>
                          <a:spcPts val="0"/>
                        </a:spcAft>
                        <a:buNone/>
                      </a:pPr>
                      <a:r>
                        <a:rPr lang="zh-TW"/>
                        <a:t>使用鍵值和值進行關 聯的資料。</a:t>
                      </a:r>
                      <a:endParaRPr/>
                    </a:p>
                  </a:txBody>
                  <a:tcPr marT="91425" marB="91425" marR="91425" marL="91425"/>
                </a:tc>
              </a:tr>
              <a:tr h="381000">
                <a:tc>
                  <a:txBody>
                    <a:bodyPr/>
                    <a:lstStyle/>
                    <a:p>
                      <a:pPr indent="0" lvl="0" marL="0" rtl="0" algn="l">
                        <a:spcBef>
                          <a:spcPts val="0"/>
                        </a:spcBef>
                        <a:spcAft>
                          <a:spcPts val="0"/>
                        </a:spcAft>
                        <a:buNone/>
                      </a:pPr>
                      <a:r>
                        <a:rPr lang="zh-TW"/>
                        <a:t>set</a:t>
                      </a:r>
                      <a:endParaRPr/>
                    </a:p>
                  </a:txBody>
                  <a:tcPr marT="91425" marB="91425" marR="91425" marL="91425"/>
                </a:tc>
                <a:tc>
                  <a:txBody>
                    <a:bodyPr/>
                    <a:lstStyle/>
                    <a:p>
                      <a:pPr indent="0" lvl="0" marL="0" rtl="0" algn="l">
                        <a:spcBef>
                          <a:spcPts val="0"/>
                        </a:spcBef>
                        <a:spcAft>
                          <a:spcPts val="0"/>
                        </a:spcAft>
                        <a:buNone/>
                      </a:pPr>
                      <a:r>
                        <a:rPr lang="zh-TW"/>
                        <a:t>( )或 { } </a:t>
                      </a:r>
                      <a:endParaRPr/>
                    </a:p>
                  </a:txBody>
                  <a:tcPr marT="91425" marB="91425" marR="91425" marL="91425"/>
                </a:tc>
                <a:tc>
                  <a:txBody>
                    <a:bodyPr/>
                    <a:lstStyle/>
                    <a:p>
                      <a:pPr indent="0" lvl="0" marL="0" rtl="0" algn="l">
                        <a:spcBef>
                          <a:spcPts val="0"/>
                        </a:spcBef>
                        <a:spcAft>
                          <a:spcPts val="0"/>
                        </a:spcAft>
                        <a:buNone/>
                      </a:pPr>
                      <a:r>
                        <a:rPr lang="zh-TW"/>
                        <a:t>無序，元素只出現一次， 自動去除重複。</a:t>
                      </a:r>
                      <a:endParaRPr/>
                    </a:p>
                  </a:txBody>
                  <a:tcPr marT="91425" marB="91425" marR="91425" marL="91425"/>
                </a:tc>
                <a:tc>
                  <a:txBody>
                    <a:bodyPr/>
                    <a:lstStyle/>
                    <a:p>
                      <a:pPr indent="0" lvl="0" marL="0" rtl="0" algn="l">
                        <a:spcBef>
                          <a:spcPts val="0"/>
                        </a:spcBef>
                        <a:spcAft>
                          <a:spcPts val="0"/>
                        </a:spcAft>
                        <a:buNone/>
                      </a:pPr>
                      <a:r>
                        <a:rPr lang="zh-TW"/>
                        <a:t>資料只出現一次，只 關心資料是否出現， 不關心其順序與位置。</a:t>
                      </a: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type="title"/>
          </p:nvPr>
        </p:nvSpPr>
        <p:spPr>
          <a:xfrm>
            <a:off x="311700" y="200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運算子</a:t>
            </a:r>
            <a:endParaRPr/>
          </a:p>
        </p:txBody>
      </p:sp>
      <p:pic>
        <p:nvPicPr>
          <p:cNvPr id="256" name="Google Shape;256;p41"/>
          <p:cNvPicPr preferRelativeResize="0"/>
          <p:nvPr/>
        </p:nvPicPr>
        <p:blipFill>
          <a:blip r:embed="rId3">
            <a:alphaModFix/>
          </a:blip>
          <a:stretch>
            <a:fillRect/>
          </a:stretch>
        </p:blipFill>
        <p:spPr>
          <a:xfrm>
            <a:off x="311700" y="1170125"/>
            <a:ext cx="4686474" cy="3543726"/>
          </a:xfrm>
          <a:prstGeom prst="rect">
            <a:avLst/>
          </a:prstGeom>
          <a:noFill/>
          <a:ln>
            <a:noFill/>
          </a:ln>
        </p:spPr>
      </p:pic>
      <p:pic>
        <p:nvPicPr>
          <p:cNvPr id="257" name="Google Shape;257;p41"/>
          <p:cNvPicPr preferRelativeResize="0"/>
          <p:nvPr/>
        </p:nvPicPr>
        <p:blipFill>
          <a:blip r:embed="rId4">
            <a:alphaModFix/>
          </a:blip>
          <a:stretch>
            <a:fillRect/>
          </a:stretch>
        </p:blipFill>
        <p:spPr>
          <a:xfrm>
            <a:off x="5150574" y="1170125"/>
            <a:ext cx="3841026" cy="3039898"/>
          </a:xfrm>
          <a:prstGeom prst="rect">
            <a:avLst/>
          </a:prstGeom>
          <a:noFill/>
          <a:ln>
            <a:noFill/>
          </a:ln>
        </p:spPr>
      </p:pic>
      <p:sp>
        <p:nvSpPr>
          <p:cNvPr id="258" name="Google Shape;258;p41"/>
          <p:cNvSpPr txBox="1"/>
          <p:nvPr/>
        </p:nvSpPr>
        <p:spPr>
          <a:xfrm>
            <a:off x="1192700" y="4743300"/>
            <a:ext cx="752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https://steam.oxxostudio.tw/category/python/basic/operator.html</a:t>
            </a:r>
            <a:endParaRPr/>
          </a:p>
        </p:txBody>
      </p:sp>
      <p:sp>
        <p:nvSpPr>
          <p:cNvPr id="259" name="Google Shape;259;p41"/>
          <p:cNvSpPr txBox="1"/>
          <p:nvPr/>
        </p:nvSpPr>
        <p:spPr>
          <a:xfrm>
            <a:off x="311700" y="693125"/>
            <a:ext cx="1392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900">
                <a:solidFill>
                  <a:schemeClr val="dk1"/>
                </a:solidFill>
                <a:latin typeface="Proxima Nova"/>
                <a:ea typeface="Proxima Nova"/>
                <a:cs typeface="Proxima Nova"/>
                <a:sym typeface="Proxima Nova"/>
              </a:rPr>
              <a:t>算數運算子</a:t>
            </a:r>
            <a:endParaRPr sz="500"/>
          </a:p>
        </p:txBody>
      </p:sp>
      <p:sp>
        <p:nvSpPr>
          <p:cNvPr id="260" name="Google Shape;260;p41"/>
          <p:cNvSpPr txBox="1"/>
          <p:nvPr/>
        </p:nvSpPr>
        <p:spPr>
          <a:xfrm>
            <a:off x="5150575" y="693125"/>
            <a:ext cx="1392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900">
                <a:solidFill>
                  <a:schemeClr val="dk1"/>
                </a:solidFill>
                <a:latin typeface="Proxima Nova"/>
                <a:ea typeface="Proxima Nova"/>
                <a:cs typeface="Proxima Nova"/>
                <a:sym typeface="Proxima Nova"/>
              </a:rPr>
              <a:t>比較</a:t>
            </a:r>
            <a:r>
              <a:rPr lang="zh-TW" sz="1900">
                <a:solidFill>
                  <a:schemeClr val="dk1"/>
                </a:solidFill>
                <a:latin typeface="Proxima Nova"/>
                <a:ea typeface="Proxima Nova"/>
                <a:cs typeface="Proxima Nova"/>
                <a:sym typeface="Proxima Nova"/>
              </a:rPr>
              <a:t>運算子</a:t>
            </a:r>
            <a:endParaRPr sz="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type="title"/>
          </p:nvPr>
        </p:nvSpPr>
        <p:spPr>
          <a:xfrm>
            <a:off x="311700" y="93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運算子</a:t>
            </a:r>
            <a:endParaRPr/>
          </a:p>
        </p:txBody>
      </p:sp>
      <p:sp>
        <p:nvSpPr>
          <p:cNvPr id="266" name="Google Shape;266;p42"/>
          <p:cNvSpPr txBox="1"/>
          <p:nvPr>
            <p:ph idx="1" type="body"/>
          </p:nvPr>
        </p:nvSpPr>
        <p:spPr>
          <a:xfrm>
            <a:off x="311700" y="758450"/>
            <a:ext cx="8520600" cy="38103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zh-TW"/>
              <a:t>賦值運算子:</a:t>
            </a:r>
            <a:r>
              <a:rPr lang="zh-TW"/>
              <a:t>就是「等號 =」，會將等號右邊的結果 ( 值 )，指定 ( 賦予 ) 給等號左邊的變數</a:t>
            </a:r>
            <a:endParaRPr/>
          </a:p>
          <a:p>
            <a:pPr indent="0" lvl="0" marL="0" rtl="0" algn="l">
              <a:spcBef>
                <a:spcPts val="1200"/>
              </a:spcBef>
              <a:spcAft>
                <a:spcPts val="0"/>
              </a:spcAft>
              <a:buNone/>
            </a:pPr>
            <a:r>
              <a:rPr b="1" lang="zh-TW"/>
              <a:t>比較運算子:</a:t>
            </a:r>
            <a:endParaRPr b="1"/>
          </a:p>
          <a:p>
            <a:pPr indent="0" lvl="0" marL="0" rtl="0" algn="l">
              <a:spcBef>
                <a:spcPts val="1200"/>
              </a:spcBef>
              <a:spcAft>
                <a:spcPts val="0"/>
              </a:spcAft>
              <a:buNone/>
            </a:pPr>
            <a:r>
              <a:rPr lang="zh-TW"/>
              <a:t>「比較運算子」可以判斷「and」( 且 )、「or」( 或 ) 和「not」( 非 ) 三種邏輯狀態，運算的結果只有 True 或是 False 兩種。</a:t>
            </a:r>
            <a:endParaRPr/>
          </a:p>
          <a:p>
            <a:pPr indent="0" lvl="0" marL="0" rtl="0" algn="l">
              <a:spcBef>
                <a:spcPts val="1200"/>
              </a:spcBef>
              <a:spcAft>
                <a:spcPts val="0"/>
              </a:spcAft>
              <a:buNone/>
            </a:pPr>
            <a:r>
              <a:rPr b="1" lang="zh-TW"/>
              <a:t>in 與 is 運算子:</a:t>
            </a:r>
            <a:endParaRPr b="1"/>
          </a:p>
          <a:p>
            <a:pPr indent="0" lvl="0" marL="0" rtl="0" algn="l">
              <a:spcBef>
                <a:spcPts val="1200"/>
              </a:spcBef>
              <a:spcAft>
                <a:spcPts val="0"/>
              </a:spcAft>
              <a:buNone/>
            </a:pPr>
            <a:r>
              <a:rPr lang="zh-TW"/>
              <a:t>如果有 a 和 b 兩個變數，使用「in 運算子」可以判斷 b 是否包含 a，使用「is 運算子」可以判斷 a 和 b 是否為相同物件，如果判斷包含或相同，回傳 True，否則回傳 False。</a:t>
            </a:r>
            <a:endParaRPr/>
          </a:p>
          <a:p>
            <a:pPr indent="0" lvl="0" marL="0" rtl="0" algn="l">
              <a:spcBef>
                <a:spcPts val="1200"/>
              </a:spcBef>
              <a:spcAft>
                <a:spcPts val="0"/>
              </a:spcAft>
              <a:buNone/>
            </a:pPr>
            <a:r>
              <a:rPr b="1" lang="zh-TW"/>
              <a:t>跨列運算子:</a:t>
            </a:r>
            <a:endParaRPr b="1"/>
          </a:p>
          <a:p>
            <a:pPr indent="0" lvl="0" marL="0" rtl="0" algn="l">
              <a:spcBef>
                <a:spcPts val="1200"/>
              </a:spcBef>
              <a:spcAft>
                <a:spcPts val="0"/>
              </a:spcAft>
              <a:buNone/>
            </a:pPr>
            <a:r>
              <a:rPr lang="zh-TW"/>
              <a:t>如果有遇到「算式過長，需要換行」的程式碼或運算式，除了使用小括號包覆使其換行計算，也能使用「反斜線 \」放在一列的最後方，就可以將程式碼進行換列，注意，使用跨列運算子後不得加上空格或其它字元</a:t>
            </a:r>
            <a:endParaRPr/>
          </a:p>
          <a:p>
            <a:pPr indent="0" lvl="0" marL="0" rtl="0" algn="l">
              <a:spcBef>
                <a:spcPts val="1200"/>
              </a:spcBef>
              <a:spcAft>
                <a:spcPts val="1200"/>
              </a:spcAft>
              <a:buNone/>
            </a:pPr>
            <a:r>
              <a:t/>
            </a:r>
            <a:endParaRPr/>
          </a:p>
        </p:txBody>
      </p:sp>
      <p:sp>
        <p:nvSpPr>
          <p:cNvPr id="267" name="Google Shape;267;p42"/>
          <p:cNvSpPr txBox="1"/>
          <p:nvPr/>
        </p:nvSpPr>
        <p:spPr>
          <a:xfrm>
            <a:off x="1405675" y="4643000"/>
            <a:ext cx="697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https://steam.oxxostudio.tw/category/python/basic/operator.html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運算子之優先順序</a:t>
            </a:r>
            <a:endParaRPr/>
          </a:p>
        </p:txBody>
      </p:sp>
      <p:pic>
        <p:nvPicPr>
          <p:cNvPr id="273" name="Google Shape;273;p43"/>
          <p:cNvPicPr preferRelativeResize="0"/>
          <p:nvPr/>
        </p:nvPicPr>
        <p:blipFill>
          <a:blip r:embed="rId3">
            <a:alphaModFix/>
          </a:blip>
          <a:stretch>
            <a:fillRect/>
          </a:stretch>
        </p:blipFill>
        <p:spPr>
          <a:xfrm>
            <a:off x="749500" y="1017725"/>
            <a:ext cx="7644999" cy="3837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例題1</a:t>
            </a:r>
            <a:endParaRPr/>
          </a:p>
        </p:txBody>
      </p:sp>
      <p:sp>
        <p:nvSpPr>
          <p:cNvPr id="279" name="Google Shape;279;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TW"/>
              <a:t>num1 = '5000' ,num2=</a:t>
            </a:r>
            <a:r>
              <a:rPr lang="zh-TW"/>
              <a:t>'3000'  </a:t>
            </a:r>
            <a:r>
              <a:rPr lang="zh-TW"/>
              <a:t>#str字串型態 </a:t>
            </a:r>
            <a:endParaRPr/>
          </a:p>
          <a:p>
            <a:pPr indent="-317500" lvl="1" marL="914400" rtl="0" algn="l">
              <a:spcBef>
                <a:spcPts val="0"/>
              </a:spcBef>
              <a:spcAft>
                <a:spcPts val="0"/>
              </a:spcAft>
              <a:buSzPts val="1400"/>
              <a:buChar char="○"/>
            </a:pPr>
            <a:r>
              <a:rPr lang="zh-TW"/>
              <a:t>若需要比較</a:t>
            </a:r>
            <a:r>
              <a:rPr lang="zh-TW"/>
              <a:t>num1 與num2之大小</a:t>
            </a:r>
            <a:r>
              <a:rPr lang="zh-TW"/>
              <a:t>的話怎麼辦？ </a:t>
            </a:r>
            <a:endParaRPr/>
          </a:p>
          <a:p>
            <a:pPr indent="0" lvl="0" marL="914400" rtl="0" algn="l">
              <a:spcBef>
                <a:spcPts val="1200"/>
              </a:spcBef>
              <a:spcAft>
                <a:spcPts val="0"/>
              </a:spcAft>
              <a:buNone/>
            </a:pPr>
            <a:r>
              <a:t/>
            </a:r>
            <a:endParaRPr/>
          </a:p>
          <a:p>
            <a:pPr indent="-342900" lvl="0" marL="457200" rtl="0" algn="l">
              <a:spcBef>
                <a:spcPts val="1200"/>
              </a:spcBef>
              <a:spcAft>
                <a:spcPts val="0"/>
              </a:spcAft>
              <a:buSzPts val="1800"/>
              <a:buChar char="●"/>
            </a:pPr>
            <a:r>
              <a:rPr lang="zh-TW"/>
              <a:t>nums = [1,3,1,2,2,3,4,5] ,num2 = {1, 2, 3, 4, 5} </a:t>
            </a:r>
            <a:endParaRPr/>
          </a:p>
          <a:p>
            <a:pPr indent="-317500" lvl="1" marL="914400" rtl="0" algn="l">
              <a:spcBef>
                <a:spcPts val="0"/>
              </a:spcBef>
              <a:spcAft>
                <a:spcPts val="0"/>
              </a:spcAft>
              <a:buSzPts val="1400"/>
              <a:buChar char="○"/>
            </a:pPr>
            <a:r>
              <a:rPr lang="zh-TW"/>
              <a:t>若要讓print(num1==num2) 結果為True該如何做?</a:t>
            </a:r>
            <a:endParaRPr/>
          </a:p>
          <a:p>
            <a:pPr indent="0" lvl="0" marL="914400" rtl="0" algn="l">
              <a:spcBef>
                <a:spcPts val="1200"/>
              </a:spcBef>
              <a:spcAft>
                <a:spcPts val="0"/>
              </a:spcAft>
              <a:buNone/>
            </a:pPr>
            <a:r>
              <a:t/>
            </a:r>
            <a:endParaRPr/>
          </a:p>
          <a:p>
            <a:pPr indent="-342900" lvl="0" marL="457200" rtl="0" algn="l">
              <a:spcBef>
                <a:spcPts val="1200"/>
              </a:spcBef>
              <a:spcAft>
                <a:spcPts val="0"/>
              </a:spcAft>
              <a:buSzPts val="1800"/>
              <a:buChar char="●"/>
            </a:pPr>
            <a:r>
              <a:rPr lang="zh-TW"/>
              <a:t>nums = (10,5,20,1,6,2) #tuple序對型態 </a:t>
            </a:r>
            <a:endParaRPr/>
          </a:p>
          <a:p>
            <a:pPr indent="-317500" lvl="1" marL="914400" rtl="0" algn="l">
              <a:spcBef>
                <a:spcPts val="0"/>
              </a:spcBef>
              <a:spcAft>
                <a:spcPts val="0"/>
              </a:spcAft>
              <a:buSzPts val="1400"/>
              <a:buChar char="○"/>
            </a:pPr>
            <a:r>
              <a:rPr lang="zh-TW"/>
              <a:t>tuple並不提供排序的⽅法，若要排序(由大到小) 該怎辦？</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例題</a:t>
            </a:r>
            <a:r>
              <a:rPr lang="zh-TW"/>
              <a:t>2</a:t>
            </a:r>
            <a:endParaRPr/>
          </a:p>
        </p:txBody>
      </p:sp>
      <p:sp>
        <p:nvSpPr>
          <p:cNvPr id="285" name="Google Shape;285;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600"/>
              </a:spcBef>
              <a:spcAft>
                <a:spcPts val="0"/>
              </a:spcAft>
              <a:buNone/>
            </a:pPr>
            <a:r>
              <a:rPr lang="zh-TW" sz="1600">
                <a:solidFill>
                  <a:schemeClr val="dk1"/>
                </a:solidFill>
                <a:highlight>
                  <a:schemeClr val="lt1"/>
                </a:highlight>
                <a:latin typeface="Arial"/>
                <a:ea typeface="Arial"/>
                <a:cs typeface="Arial"/>
                <a:sym typeface="Arial"/>
              </a:rPr>
              <a:t>使用set型別完成下列問題: 本班期末考試</a:t>
            </a:r>
            <a:endParaRPr sz="1600">
              <a:solidFill>
                <a:schemeClr val="dk1"/>
              </a:solidFill>
              <a:highlight>
                <a:schemeClr val="lt1"/>
              </a:highlight>
              <a:latin typeface="Arial"/>
              <a:ea typeface="Arial"/>
              <a:cs typeface="Arial"/>
              <a:sym typeface="Arial"/>
            </a:endParaRPr>
          </a:p>
          <a:p>
            <a:pPr indent="-330200" lvl="0" marL="457200" rtl="0" algn="l">
              <a:spcBef>
                <a:spcPts val="600"/>
              </a:spcBef>
              <a:spcAft>
                <a:spcPts val="0"/>
              </a:spcAft>
              <a:buClr>
                <a:schemeClr val="dk1"/>
              </a:buClr>
              <a:buSzPts val="1600"/>
              <a:buFont typeface="Arial"/>
              <a:buChar char="●"/>
            </a:pPr>
            <a:r>
              <a:rPr lang="zh-TW" sz="1600">
                <a:solidFill>
                  <a:schemeClr val="dk1"/>
                </a:solidFill>
                <a:highlight>
                  <a:schemeClr val="lt1"/>
                </a:highlight>
                <a:latin typeface="Arial"/>
                <a:ea typeface="Arial"/>
                <a:cs typeface="Arial"/>
                <a:sym typeface="Arial"/>
              </a:rPr>
              <a:t>數學及格的有: Tom, John, Mary, Jimmy, Sunny, Amy</a:t>
            </a:r>
            <a:endParaRPr sz="1600">
              <a:solidFill>
                <a:schemeClr val="dk1"/>
              </a:solidFill>
              <a:highlight>
                <a:schemeClr val="lt1"/>
              </a:highlight>
              <a:latin typeface="Arial"/>
              <a:ea typeface="Arial"/>
              <a:cs typeface="Arial"/>
              <a:sym typeface="Arial"/>
            </a:endParaRPr>
          </a:p>
          <a:p>
            <a:pPr indent="-330200" lvl="0" marL="457200" rtl="0" algn="l">
              <a:spcBef>
                <a:spcPts val="0"/>
              </a:spcBef>
              <a:spcAft>
                <a:spcPts val="0"/>
              </a:spcAft>
              <a:buClr>
                <a:schemeClr val="dk1"/>
              </a:buClr>
              <a:buSzPts val="1600"/>
              <a:buFont typeface="Arial"/>
              <a:buChar char="●"/>
            </a:pPr>
            <a:r>
              <a:rPr lang="zh-TW" sz="1600">
                <a:solidFill>
                  <a:schemeClr val="dk1"/>
                </a:solidFill>
                <a:highlight>
                  <a:schemeClr val="lt1"/>
                </a:highlight>
                <a:latin typeface="Arial"/>
                <a:ea typeface="Arial"/>
                <a:cs typeface="Arial"/>
                <a:sym typeface="Arial"/>
              </a:rPr>
              <a:t>英用及格的有: John, Mary , Tony , Bob , Pony, Tom , Alice</a:t>
            </a:r>
            <a:endParaRPr sz="1600">
              <a:solidFill>
                <a:schemeClr val="dk1"/>
              </a:solidFill>
              <a:highlight>
                <a:schemeClr val="lt1"/>
              </a:highlight>
              <a:latin typeface="Arial"/>
              <a:ea typeface="Arial"/>
              <a:cs typeface="Arial"/>
              <a:sym typeface="Arial"/>
            </a:endParaRPr>
          </a:p>
          <a:p>
            <a:pPr indent="-330200" lvl="0" marL="457200" rtl="0" algn="l">
              <a:spcBef>
                <a:spcPts val="0"/>
              </a:spcBef>
              <a:spcAft>
                <a:spcPts val="0"/>
              </a:spcAft>
              <a:buClr>
                <a:schemeClr val="dk1"/>
              </a:buClr>
              <a:buSzPts val="1600"/>
              <a:buFont typeface="Arial"/>
              <a:buChar char="●"/>
            </a:pPr>
            <a:r>
              <a:rPr lang="zh-TW" sz="1600">
                <a:solidFill>
                  <a:schemeClr val="dk1"/>
                </a:solidFill>
                <a:highlight>
                  <a:schemeClr val="lt1"/>
                </a:highlight>
                <a:latin typeface="Arial"/>
                <a:ea typeface="Arial"/>
                <a:cs typeface="Arial"/>
                <a:sym typeface="Arial"/>
              </a:rPr>
              <a:t>分別印出數學及格但英 用不及格的名單 ,數學不及格 但英用及格 的名單,兩科都及格的名單</a:t>
            </a:r>
            <a:endParaRPr sz="1600">
              <a:solidFill>
                <a:schemeClr val="dk1"/>
              </a:solidFill>
              <a:highlight>
                <a:schemeClr val="lt1"/>
              </a:highlight>
              <a:latin typeface="Arial"/>
              <a:ea typeface="Arial"/>
              <a:cs typeface="Arial"/>
              <a:sym typeface="Arial"/>
            </a:endParaRPr>
          </a:p>
          <a:p>
            <a:pPr indent="-330200" lvl="0" marL="457200" rtl="0" algn="l">
              <a:spcBef>
                <a:spcPts val="0"/>
              </a:spcBef>
              <a:spcAft>
                <a:spcPts val="0"/>
              </a:spcAft>
              <a:buClr>
                <a:schemeClr val="dk1"/>
              </a:buClr>
              <a:buSzPts val="1600"/>
              <a:buFont typeface="Arial"/>
              <a:buChar char="●"/>
            </a:pPr>
            <a:r>
              <a:rPr lang="zh-TW" sz="1600">
                <a:solidFill>
                  <a:schemeClr val="dk1"/>
                </a:solidFill>
                <a:highlight>
                  <a:schemeClr val="lt1"/>
                </a:highlight>
                <a:latin typeface="Arial"/>
                <a:ea typeface="Arial"/>
                <a:cs typeface="Arial"/>
                <a:sym typeface="Arial"/>
              </a:rPr>
              <a:t>最後印出全班總共有幾個同學</a:t>
            </a:r>
            <a:endParaRPr sz="1600">
              <a:solidFill>
                <a:schemeClr val="dk1"/>
              </a:solidFill>
              <a:highlight>
                <a:schemeClr val="lt1"/>
              </a:highlight>
              <a:latin typeface="Arial"/>
              <a:ea typeface="Arial"/>
              <a:cs typeface="Arial"/>
              <a:sym typeface="Arial"/>
            </a:endParaRPr>
          </a:p>
          <a:p>
            <a:pPr indent="0" lvl="0" marL="0" rtl="0" algn="l">
              <a:spcBef>
                <a:spcPts val="5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Numpy 基礎語法</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什</a:t>
            </a:r>
            <a:r>
              <a:rPr lang="zh-TW"/>
              <a:t>麼是Numpy</a:t>
            </a:r>
            <a:endParaRPr/>
          </a:p>
        </p:txBody>
      </p:sp>
      <p:sp>
        <p:nvSpPr>
          <p:cNvPr id="296" name="Google Shape;296;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lnSpc>
                <a:spcPct val="190000"/>
              </a:lnSpc>
              <a:spcBef>
                <a:spcPts val="0"/>
              </a:spcBef>
              <a:spcAft>
                <a:spcPts val="0"/>
              </a:spcAft>
              <a:buNone/>
            </a:pPr>
            <a:r>
              <a:rPr lang="zh-TW" sz="1200">
                <a:solidFill>
                  <a:srgbClr val="333333"/>
                </a:solidFill>
                <a:highlight>
                  <a:srgbClr val="FFFFFF"/>
                </a:highlight>
                <a:latin typeface="Arial"/>
                <a:ea typeface="Arial"/>
                <a:cs typeface="Arial"/>
                <a:sym typeface="Arial"/>
              </a:rPr>
              <a:t>NumPy 是 Python 的一個第三方函式庫，不僅支援大量維度的陣列與矩陣運算，也具備大量的數學與統計函式函式庫，可以很有效的進行科學運算和資料數據分析，此外，Python的許多知名套件，如Pandas、SciPy、Sympy、Matplotlib、TensorFlow...等，幾乎都是架構在 Numpy 基礎上做應用，因此 NumPy 是非常重要的函式庫。</a:t>
            </a:r>
            <a:endParaRPr sz="1200">
              <a:solidFill>
                <a:srgbClr val="333333"/>
              </a:solidFill>
              <a:highlight>
                <a:srgbClr val="FFFFFF"/>
              </a:highlight>
              <a:latin typeface="Arial"/>
              <a:ea typeface="Arial"/>
              <a:cs typeface="Arial"/>
              <a:sym typeface="Arial"/>
            </a:endParaRPr>
          </a:p>
          <a:p>
            <a:pPr indent="0" lvl="0" marL="0" rtl="0" algn="l">
              <a:spcBef>
                <a:spcPts val="1100"/>
              </a:spcBef>
              <a:spcAft>
                <a:spcPts val="1200"/>
              </a:spcAft>
              <a:buNone/>
            </a:pPr>
            <a:r>
              <a:t/>
            </a:r>
            <a:endParaRPr/>
          </a:p>
        </p:txBody>
      </p:sp>
      <p:pic>
        <p:nvPicPr>
          <p:cNvPr id="297" name="Google Shape;297;p47"/>
          <p:cNvPicPr preferRelativeResize="0"/>
          <p:nvPr/>
        </p:nvPicPr>
        <p:blipFill>
          <a:blip r:embed="rId3">
            <a:alphaModFix/>
          </a:blip>
          <a:stretch>
            <a:fillRect/>
          </a:stretch>
        </p:blipFill>
        <p:spPr>
          <a:xfrm>
            <a:off x="2529288" y="2571750"/>
            <a:ext cx="3190875" cy="1428750"/>
          </a:xfrm>
          <a:prstGeom prst="rect">
            <a:avLst/>
          </a:prstGeom>
          <a:noFill/>
          <a:ln>
            <a:noFill/>
          </a:ln>
        </p:spPr>
      </p:pic>
      <p:sp>
        <p:nvSpPr>
          <p:cNvPr id="298" name="Google Shape;298;p47"/>
          <p:cNvSpPr txBox="1"/>
          <p:nvPr/>
        </p:nvSpPr>
        <p:spPr>
          <a:xfrm>
            <a:off x="354300" y="4185075"/>
            <a:ext cx="687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import numpy </a:t>
            </a:r>
            <a:endParaRPr/>
          </a:p>
          <a:p>
            <a:pPr indent="0" lvl="0" marL="0" rtl="0" algn="l">
              <a:spcBef>
                <a:spcPts val="0"/>
              </a:spcBef>
              <a:spcAft>
                <a:spcPts val="0"/>
              </a:spcAft>
              <a:buNone/>
            </a:pPr>
            <a:r>
              <a:rPr lang="zh-TW"/>
              <a:t>要使用 NumPy 必須先 import numpy 模組，實際使用時，很常將 numpy 命名為 np。</a:t>
            </a:r>
            <a:endParaRPr/>
          </a:p>
          <a:p>
            <a:pPr indent="0" lvl="0" marL="0" rtl="0" algn="l">
              <a:spcBef>
                <a:spcPts val="0"/>
              </a:spcBef>
              <a:spcAft>
                <a:spcPts val="0"/>
              </a:spcAft>
              <a:buNone/>
            </a:pPr>
            <a:r>
              <a:rPr lang="zh-TW"/>
              <a:t>import numpy as np</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Numpy</a:t>
            </a:r>
            <a:r>
              <a:rPr lang="zh-TW"/>
              <a:t>陣列</a:t>
            </a:r>
            <a:endParaRPr/>
          </a:p>
        </p:txBody>
      </p:sp>
      <p:sp>
        <p:nvSpPr>
          <p:cNvPr id="304" name="Google Shape;304;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b="1" lang="zh-TW" sz="1600">
                <a:solidFill>
                  <a:srgbClr val="188038"/>
                </a:solidFill>
                <a:latin typeface="Roboto Mono"/>
                <a:ea typeface="Roboto Mono"/>
                <a:cs typeface="Roboto Mono"/>
                <a:sym typeface="Roboto Mono"/>
              </a:rPr>
              <a:t>NumPy</a:t>
            </a:r>
            <a:r>
              <a:rPr b="1" lang="zh-TW" sz="1600">
                <a:solidFill>
                  <a:srgbClr val="000000"/>
                </a:solidFill>
                <a:latin typeface="Arial"/>
                <a:ea typeface="Arial"/>
                <a:cs typeface="Arial"/>
                <a:sym typeface="Arial"/>
              </a:rPr>
              <a:t> 陣列（</a:t>
            </a:r>
            <a:r>
              <a:rPr b="1" lang="zh-TW" sz="1600">
                <a:solidFill>
                  <a:srgbClr val="188038"/>
                </a:solidFill>
                <a:latin typeface="Roboto Mono"/>
                <a:ea typeface="Roboto Mono"/>
                <a:cs typeface="Roboto Mono"/>
                <a:sym typeface="Roboto Mono"/>
              </a:rPr>
              <a:t>ndarray</a:t>
            </a:r>
            <a:r>
              <a:rPr b="1" lang="zh-TW" sz="1600">
                <a:solidFill>
                  <a:srgbClr val="000000"/>
                </a:solidFill>
                <a:latin typeface="Arial"/>
                <a:ea typeface="Arial"/>
                <a:cs typeface="Arial"/>
                <a:sym typeface="Arial"/>
              </a:rPr>
              <a:t>）</a:t>
            </a:r>
            <a:r>
              <a:rPr lang="zh-TW" sz="1600">
                <a:solidFill>
                  <a:srgbClr val="000000"/>
                </a:solidFill>
                <a:latin typeface="Arial"/>
                <a:ea typeface="Arial"/>
                <a:cs typeface="Arial"/>
                <a:sym typeface="Arial"/>
              </a:rPr>
              <a:t> 是一種固定大小的、多維數組，用於存儲同類型的元素。</a:t>
            </a:r>
            <a:endParaRPr sz="1600">
              <a:solidFill>
                <a:srgbClr val="000000"/>
              </a:solidFill>
              <a:latin typeface="Arial"/>
              <a:ea typeface="Arial"/>
              <a:cs typeface="Arial"/>
              <a:sym typeface="Arial"/>
            </a:endParaRPr>
          </a:p>
          <a:p>
            <a:pPr indent="-330200" lvl="0" marL="457200" rtl="0" algn="l">
              <a:spcBef>
                <a:spcPts val="0"/>
              </a:spcBef>
              <a:spcAft>
                <a:spcPts val="0"/>
              </a:spcAft>
              <a:buSzPts val="1600"/>
              <a:buChar char="●"/>
            </a:pPr>
            <a:r>
              <a:rPr lang="zh-TW" sz="1600">
                <a:solidFill>
                  <a:srgbClr val="000000"/>
                </a:solidFill>
                <a:latin typeface="Arial"/>
                <a:ea typeface="Arial"/>
                <a:cs typeface="Arial"/>
                <a:sym typeface="Arial"/>
              </a:rPr>
              <a:t>它允許進行大量的數值運算，如矩陣運算、元素間的逐項操作、線性代數計算等，且比 Python 的內建列表更高效。</a:t>
            </a:r>
            <a:endParaRPr sz="1600">
              <a:solidFill>
                <a:srgbClr val="000000"/>
              </a:solidFill>
              <a:latin typeface="Arial"/>
              <a:ea typeface="Arial"/>
              <a:cs typeface="Arial"/>
              <a:sym typeface="Arial"/>
            </a:endParaRPr>
          </a:p>
          <a:p>
            <a:pPr indent="-330200" lvl="0" marL="457200" rtl="0" algn="l">
              <a:spcBef>
                <a:spcPts val="0"/>
              </a:spcBef>
              <a:spcAft>
                <a:spcPts val="0"/>
              </a:spcAft>
              <a:buSzPts val="1600"/>
              <a:buChar char="●"/>
            </a:pPr>
            <a:r>
              <a:rPr lang="zh-TW" sz="1600">
                <a:solidFill>
                  <a:srgbClr val="000000"/>
                </a:solidFill>
                <a:latin typeface="Arial"/>
                <a:ea typeface="Arial"/>
                <a:cs typeface="Arial"/>
                <a:sym typeface="Arial"/>
              </a:rPr>
              <a:t>NumPy 陣列的數據類型必須一致的，這使得它們在內存管理上更為高效。</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Numpy</a:t>
            </a:r>
            <a:r>
              <a:rPr lang="zh-TW"/>
              <a:t>數學</a:t>
            </a:r>
            <a:r>
              <a:rPr lang="zh-TW"/>
              <a:t>運算</a:t>
            </a:r>
            <a:endParaRPr/>
          </a:p>
        </p:txBody>
      </p:sp>
      <p:graphicFrame>
        <p:nvGraphicFramePr>
          <p:cNvPr id="310" name="Google Shape;310;p49"/>
          <p:cNvGraphicFramePr/>
          <p:nvPr/>
        </p:nvGraphicFramePr>
        <p:xfrm>
          <a:off x="814100" y="1017725"/>
          <a:ext cx="3000000" cy="3000000"/>
        </p:xfrm>
        <a:graphic>
          <a:graphicData uri="http://schemas.openxmlformats.org/drawingml/2006/table">
            <a:tbl>
              <a:tblPr>
                <a:noFill/>
                <a:tableStyleId>{7C26E4BD-2EE1-4CC8-BD85-72C400897770}</a:tableStyleId>
              </a:tblPr>
              <a:tblGrid>
                <a:gridCol w="3619500"/>
                <a:gridCol w="3619500"/>
              </a:tblGrid>
              <a:tr h="381000">
                <a:tc>
                  <a:txBody>
                    <a:bodyPr/>
                    <a:lstStyle/>
                    <a:p>
                      <a:pPr indent="0" lvl="0" marL="0" rtl="0" algn="l">
                        <a:spcBef>
                          <a:spcPts val="0"/>
                        </a:spcBef>
                        <a:spcAft>
                          <a:spcPts val="0"/>
                        </a:spcAft>
                        <a:buNone/>
                      </a:pPr>
                      <a:r>
                        <a:rPr lang="zh-TW"/>
                        <a:t>用法</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r>
              <a:tr h="381000">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np.sum</a:t>
                      </a:r>
                      <a:endParaRPr/>
                    </a:p>
                  </a:txBody>
                  <a:tcPr marT="91425" marB="91425" marR="91425" marL="91425"/>
                </a:tc>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矩陣加總</a:t>
                      </a:r>
                      <a:endParaRPr/>
                    </a:p>
                  </a:txBody>
                  <a:tcPr marT="91425" marB="91425" marR="91425" marL="91425"/>
                </a:tc>
              </a:tr>
              <a:tr h="381000">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np.min</a:t>
                      </a:r>
                      <a:endParaRPr/>
                    </a:p>
                  </a:txBody>
                  <a:tcPr marT="91425" marB="91425" marR="91425" marL="91425"/>
                </a:tc>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矩陣最小值</a:t>
                      </a:r>
                      <a:endParaRPr/>
                    </a:p>
                  </a:txBody>
                  <a:tcPr marT="91425" marB="91425" marR="91425" marL="91425"/>
                </a:tc>
              </a:tr>
              <a:tr h="381000">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np.max</a:t>
                      </a:r>
                      <a:endParaRPr/>
                    </a:p>
                  </a:txBody>
                  <a:tcPr marT="91425" marB="91425" marR="91425" marL="91425"/>
                </a:tc>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矩陣最大值</a:t>
                      </a:r>
                      <a:endParaRPr/>
                    </a:p>
                  </a:txBody>
                  <a:tcPr marT="91425" marB="91425" marR="91425" marL="91425"/>
                </a:tc>
              </a:tr>
              <a:tr h="381000">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np.mean</a:t>
                      </a:r>
                      <a:endParaRPr/>
                    </a:p>
                  </a:txBody>
                  <a:tcPr marT="91425" marB="91425" marR="91425" marL="91425"/>
                </a:tc>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矩陣平均值</a:t>
                      </a:r>
                      <a:endParaRPr/>
                    </a:p>
                  </a:txBody>
                  <a:tcPr marT="91425" marB="91425" marR="91425" marL="91425"/>
                </a:tc>
              </a:tr>
              <a:tr h="381000">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np.sqrt</a:t>
                      </a:r>
                      <a:endParaRPr sz="1500">
                        <a:solidFill>
                          <a:srgbClr val="242424"/>
                        </a:solidFill>
                        <a:highlight>
                          <a:srgbClr val="FFFFFF"/>
                        </a:highlight>
                        <a:latin typeface="Georgia"/>
                        <a:ea typeface="Georgia"/>
                        <a:cs typeface="Georgia"/>
                        <a:sym typeface="Georgia"/>
                      </a:endParaRPr>
                    </a:p>
                  </a:txBody>
                  <a:tcPr marT="91425" marB="91425" marR="91425" marL="91425"/>
                </a:tc>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矩陣內所有元素開平方根</a:t>
                      </a:r>
                      <a:endParaRPr/>
                    </a:p>
                  </a:txBody>
                  <a:tcPr marT="91425" marB="91425" marR="91425" marL="91425"/>
                </a:tc>
              </a:tr>
              <a:tr h="381000">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np.exp</a:t>
                      </a:r>
                      <a:endParaRPr sz="1500">
                        <a:solidFill>
                          <a:srgbClr val="242424"/>
                        </a:solidFill>
                        <a:highlight>
                          <a:srgbClr val="FFFFFF"/>
                        </a:highlight>
                        <a:latin typeface="Georgia"/>
                        <a:ea typeface="Georgia"/>
                        <a:cs typeface="Georgia"/>
                        <a:sym typeface="Georgia"/>
                      </a:endParaRPr>
                    </a:p>
                  </a:txBody>
                  <a:tcPr marT="91425" marB="91425" marR="91425" marL="91425"/>
                </a:tc>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矩陣內所有元素進行指數(e)運算</a:t>
                      </a:r>
                      <a:endParaRPr/>
                    </a:p>
                  </a:txBody>
                  <a:tcPr marT="91425" marB="91425" marR="91425" marL="91425"/>
                </a:tc>
              </a:tr>
              <a:tr h="381000">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np.add</a:t>
                      </a:r>
                      <a:endParaRPr sz="1500">
                        <a:solidFill>
                          <a:srgbClr val="242424"/>
                        </a:solidFill>
                        <a:highlight>
                          <a:srgbClr val="FFFFFF"/>
                        </a:highlight>
                        <a:latin typeface="Georgia"/>
                        <a:ea typeface="Georgia"/>
                        <a:cs typeface="Georgia"/>
                        <a:sym typeface="Georgia"/>
                      </a:endParaRPr>
                    </a:p>
                  </a:txBody>
                  <a:tcPr marT="91425" marB="91425" marR="91425" marL="91425"/>
                </a:tc>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矩陣或陣列相加</a:t>
                      </a:r>
                      <a:endParaRPr/>
                    </a:p>
                  </a:txBody>
                  <a:tcPr marT="91425" marB="91425" marR="91425" marL="91425"/>
                </a:tc>
              </a:tr>
              <a:tr h="381000">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np.log</a:t>
                      </a:r>
                      <a:endParaRPr sz="1500">
                        <a:solidFill>
                          <a:srgbClr val="242424"/>
                        </a:solidFill>
                        <a:highlight>
                          <a:srgbClr val="FFFFFF"/>
                        </a:highlight>
                        <a:latin typeface="Georgia"/>
                        <a:ea typeface="Georgia"/>
                        <a:cs typeface="Georgia"/>
                        <a:sym typeface="Georgia"/>
                      </a:endParaRPr>
                    </a:p>
                  </a:txBody>
                  <a:tcPr marT="91425" marB="91425" marR="91425" marL="91425"/>
                </a:tc>
                <a:tc>
                  <a:txBody>
                    <a:bodyPr/>
                    <a:lstStyle/>
                    <a:p>
                      <a:pPr indent="0" lvl="0" marL="0" rtl="0" algn="l">
                        <a:lnSpc>
                          <a:spcPct val="218181"/>
                        </a:lnSpc>
                        <a:spcBef>
                          <a:spcPts val="1400"/>
                        </a:spcBef>
                        <a:spcAft>
                          <a:spcPts val="0"/>
                        </a:spcAft>
                        <a:buNone/>
                      </a:pPr>
                      <a:r>
                        <a:rPr lang="zh-TW" sz="1500">
                          <a:solidFill>
                            <a:srgbClr val="242424"/>
                          </a:solidFill>
                          <a:highlight>
                            <a:srgbClr val="FFFFFF"/>
                          </a:highlight>
                          <a:latin typeface="Georgia"/>
                          <a:ea typeface="Georgia"/>
                          <a:cs typeface="Georgia"/>
                          <a:sym typeface="Georgia"/>
                        </a:rPr>
                        <a:t>矩陣內所有元素取對數</a:t>
                      </a:r>
                      <a:endParaRPr sz="1500">
                        <a:solidFill>
                          <a:srgbClr val="242424"/>
                        </a:solidFill>
                        <a:highlight>
                          <a:srgbClr val="FFFFFF"/>
                        </a:highlight>
                        <a:latin typeface="Georgia"/>
                        <a:ea typeface="Georgia"/>
                        <a:cs typeface="Georgia"/>
                        <a:sym typeface="Georgia"/>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ph type="title"/>
          </p:nvPr>
        </p:nvSpPr>
        <p:spPr>
          <a:xfrm>
            <a:off x="311700" y="16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NumPy 陣列 vs. Python 列表（list）的比較</a:t>
            </a:r>
            <a:endParaRPr/>
          </a:p>
        </p:txBody>
      </p:sp>
      <p:graphicFrame>
        <p:nvGraphicFramePr>
          <p:cNvPr id="316" name="Google Shape;316;p50"/>
          <p:cNvGraphicFramePr/>
          <p:nvPr/>
        </p:nvGraphicFramePr>
        <p:xfrm>
          <a:off x="216088" y="1017725"/>
          <a:ext cx="3000000" cy="3000000"/>
        </p:xfrm>
        <a:graphic>
          <a:graphicData uri="http://schemas.openxmlformats.org/drawingml/2006/table">
            <a:tbl>
              <a:tblPr>
                <a:noFill/>
                <a:tableStyleId>{7C26E4BD-2EE1-4CC8-BD85-72C400897770}</a:tableStyleId>
              </a:tblPr>
              <a:tblGrid>
                <a:gridCol w="1077850"/>
                <a:gridCol w="4488275"/>
                <a:gridCol w="3188750"/>
              </a:tblGrid>
              <a:tr h="374700">
                <a:tc>
                  <a:txBody>
                    <a:bodyPr/>
                    <a:lstStyle/>
                    <a:p>
                      <a:pPr indent="0" lvl="0" marL="0" rtl="0" algn="l">
                        <a:spcBef>
                          <a:spcPts val="0"/>
                        </a:spcBef>
                        <a:spcAft>
                          <a:spcPts val="0"/>
                        </a:spcAft>
                        <a:buNone/>
                      </a:pPr>
                      <a:r>
                        <a:rPr lang="zh-TW"/>
                        <a:t>特性</a:t>
                      </a:r>
                      <a:endParaRPr/>
                    </a:p>
                  </a:txBody>
                  <a:tcPr marT="91425" marB="91425" marR="91425" marL="91425"/>
                </a:tc>
                <a:tc>
                  <a:txBody>
                    <a:bodyPr/>
                    <a:lstStyle/>
                    <a:p>
                      <a:pPr indent="0" lvl="0" marL="0" rtl="0" algn="l">
                        <a:spcBef>
                          <a:spcPts val="0"/>
                        </a:spcBef>
                        <a:spcAft>
                          <a:spcPts val="0"/>
                        </a:spcAft>
                        <a:buNone/>
                      </a:pPr>
                      <a:r>
                        <a:rPr lang="zh-TW" sz="1100"/>
                        <a:t>NumPy 陣列（</a:t>
                      </a:r>
                      <a:r>
                        <a:rPr lang="zh-TW" sz="1100">
                          <a:solidFill>
                            <a:srgbClr val="188038"/>
                          </a:solidFill>
                          <a:latin typeface="Roboto Mono"/>
                          <a:ea typeface="Roboto Mono"/>
                          <a:cs typeface="Roboto Mono"/>
                          <a:sym typeface="Roboto Mono"/>
                        </a:rPr>
                        <a:t>ndarray</a:t>
                      </a:r>
                      <a:r>
                        <a:rPr lang="zh-TW" sz="1100"/>
                        <a:t>）</a:t>
                      </a:r>
                      <a:endParaRPr/>
                    </a:p>
                  </a:txBody>
                  <a:tcPr marT="91425" marB="91425" marR="91425" marL="91425"/>
                </a:tc>
                <a:tc>
                  <a:txBody>
                    <a:bodyPr/>
                    <a:lstStyle/>
                    <a:p>
                      <a:pPr indent="0" lvl="0" marL="0" rtl="0" algn="l">
                        <a:spcBef>
                          <a:spcPts val="0"/>
                        </a:spcBef>
                        <a:spcAft>
                          <a:spcPts val="0"/>
                        </a:spcAft>
                        <a:buNone/>
                      </a:pPr>
                      <a:r>
                        <a:rPr lang="zh-TW" sz="1100"/>
                        <a:t>Python 列表（</a:t>
                      </a:r>
                      <a:r>
                        <a:rPr lang="zh-TW" sz="1100">
                          <a:solidFill>
                            <a:srgbClr val="188038"/>
                          </a:solidFill>
                          <a:latin typeface="Roboto Mono"/>
                          <a:ea typeface="Roboto Mono"/>
                          <a:cs typeface="Roboto Mono"/>
                          <a:sym typeface="Roboto Mono"/>
                        </a:rPr>
                        <a:t>list</a:t>
                      </a:r>
                      <a:r>
                        <a:rPr lang="zh-TW" sz="1100"/>
                        <a:t>）</a:t>
                      </a:r>
                      <a:endParaRPr/>
                    </a:p>
                  </a:txBody>
                  <a:tcPr marT="91425" marB="91425" marR="91425" marL="91425"/>
                </a:tc>
              </a:tr>
              <a:tr h="374700">
                <a:tc>
                  <a:txBody>
                    <a:bodyPr/>
                    <a:lstStyle/>
                    <a:p>
                      <a:pPr indent="0" lvl="0" marL="0" rtl="0" algn="l">
                        <a:spcBef>
                          <a:spcPts val="0"/>
                        </a:spcBef>
                        <a:spcAft>
                          <a:spcPts val="0"/>
                        </a:spcAft>
                        <a:buNone/>
                      </a:pPr>
                      <a:r>
                        <a:rPr lang="zh-TW"/>
                        <a:t>數據類型</a:t>
                      </a:r>
                      <a:endParaRPr/>
                    </a:p>
                  </a:txBody>
                  <a:tcPr marT="91425" marB="91425" marR="91425" marL="91425"/>
                </a:tc>
                <a:tc>
                  <a:txBody>
                    <a:bodyPr/>
                    <a:lstStyle/>
                    <a:p>
                      <a:pPr indent="0" lvl="0" marL="0" rtl="0" algn="l">
                        <a:spcBef>
                          <a:spcPts val="0"/>
                        </a:spcBef>
                        <a:spcAft>
                          <a:spcPts val="0"/>
                        </a:spcAft>
                        <a:buNone/>
                      </a:pPr>
                      <a:r>
                        <a:rPr lang="zh-TW"/>
                        <a:t>所有元素必須是同類型的（整數、浮點數等），確保內存連續分配，性能更高。</a:t>
                      </a:r>
                      <a:endParaRPr/>
                    </a:p>
                  </a:txBody>
                  <a:tcPr marT="91425" marB="91425" marR="91425" marL="91425"/>
                </a:tc>
                <a:tc>
                  <a:txBody>
                    <a:bodyPr/>
                    <a:lstStyle/>
                    <a:p>
                      <a:pPr indent="0" lvl="0" marL="0" rtl="0" algn="l">
                        <a:spcBef>
                          <a:spcPts val="0"/>
                        </a:spcBef>
                        <a:spcAft>
                          <a:spcPts val="0"/>
                        </a:spcAft>
                        <a:buNone/>
                      </a:pPr>
                      <a:r>
                        <a:rPr lang="zh-TW"/>
                        <a:t>可以存放不同類型的元素，如整數、字符串等。</a:t>
                      </a:r>
                      <a:endParaRPr/>
                    </a:p>
                  </a:txBody>
                  <a:tcPr marT="91425" marB="91425" marR="91425" marL="91425"/>
                </a:tc>
              </a:tr>
              <a:tr h="374700">
                <a:tc>
                  <a:txBody>
                    <a:bodyPr/>
                    <a:lstStyle/>
                    <a:p>
                      <a:pPr indent="0" lvl="0" marL="0" rtl="0" algn="l">
                        <a:spcBef>
                          <a:spcPts val="0"/>
                        </a:spcBef>
                        <a:spcAft>
                          <a:spcPts val="0"/>
                        </a:spcAft>
                        <a:buNone/>
                      </a:pPr>
                      <a:r>
                        <a:rPr lang="zh-TW"/>
                        <a:t>存儲結構</a:t>
                      </a:r>
                      <a:endParaRPr/>
                    </a:p>
                  </a:txBody>
                  <a:tcPr marT="91425" marB="91425" marR="91425" marL="91425"/>
                </a:tc>
                <a:tc>
                  <a:txBody>
                    <a:bodyPr/>
                    <a:lstStyle/>
                    <a:p>
                      <a:pPr indent="0" lvl="0" marL="0" rtl="0" algn="l">
                        <a:spcBef>
                          <a:spcPts val="0"/>
                        </a:spcBef>
                        <a:spcAft>
                          <a:spcPts val="0"/>
                        </a:spcAft>
                        <a:buNone/>
                      </a:pPr>
                      <a:r>
                        <a:rPr lang="zh-TW"/>
                        <a:t>內存連續分配，陣列是固定大小的，效率較高。</a:t>
                      </a:r>
                      <a:endParaRPr/>
                    </a:p>
                  </a:txBody>
                  <a:tcPr marT="91425" marB="91425" marR="91425" marL="91425"/>
                </a:tc>
                <a:tc>
                  <a:txBody>
                    <a:bodyPr/>
                    <a:lstStyle/>
                    <a:p>
                      <a:pPr indent="0" lvl="0" marL="0" rtl="0" algn="l">
                        <a:spcBef>
                          <a:spcPts val="0"/>
                        </a:spcBef>
                        <a:spcAft>
                          <a:spcPts val="0"/>
                        </a:spcAft>
                        <a:buNone/>
                      </a:pPr>
                      <a:r>
                        <a:rPr lang="zh-TW"/>
                        <a:t>動態分配內存，靈活但效率較低。</a:t>
                      </a:r>
                      <a:endParaRPr/>
                    </a:p>
                  </a:txBody>
                  <a:tcPr marT="91425" marB="91425" marR="91425" marL="91425"/>
                </a:tc>
              </a:tr>
              <a:tr h="374700">
                <a:tc>
                  <a:txBody>
                    <a:bodyPr/>
                    <a:lstStyle/>
                    <a:p>
                      <a:pPr indent="0" lvl="0" marL="0" rtl="0" algn="l">
                        <a:spcBef>
                          <a:spcPts val="0"/>
                        </a:spcBef>
                        <a:spcAft>
                          <a:spcPts val="0"/>
                        </a:spcAft>
                        <a:buNone/>
                      </a:pPr>
                      <a:r>
                        <a:rPr lang="zh-TW"/>
                        <a:t>性能</a:t>
                      </a:r>
                      <a:endParaRPr/>
                    </a:p>
                  </a:txBody>
                  <a:tcPr marT="91425" marB="91425" marR="91425" marL="91425"/>
                </a:tc>
                <a:tc>
                  <a:txBody>
                    <a:bodyPr/>
                    <a:lstStyle/>
                    <a:p>
                      <a:pPr indent="0" lvl="0" marL="0" rtl="0" algn="l">
                        <a:spcBef>
                          <a:spcPts val="0"/>
                        </a:spcBef>
                        <a:spcAft>
                          <a:spcPts val="0"/>
                        </a:spcAft>
                        <a:buNone/>
                      </a:pPr>
                      <a:r>
                        <a:rPr lang="zh-TW"/>
                        <a:t>高效，適合數學和矩陣運算，特別是在處理大數據時。</a:t>
                      </a:r>
                      <a:endParaRPr/>
                    </a:p>
                  </a:txBody>
                  <a:tcPr marT="91425" marB="91425" marR="91425" marL="91425"/>
                </a:tc>
                <a:tc>
                  <a:txBody>
                    <a:bodyPr/>
                    <a:lstStyle/>
                    <a:p>
                      <a:pPr indent="0" lvl="0" marL="0" rtl="0" algn="l">
                        <a:spcBef>
                          <a:spcPts val="0"/>
                        </a:spcBef>
                        <a:spcAft>
                          <a:spcPts val="0"/>
                        </a:spcAft>
                        <a:buNone/>
                      </a:pPr>
                      <a:r>
                        <a:rPr lang="zh-TW"/>
                        <a:t>性能較低，對於大量數據處理或數值運算不夠高效。</a:t>
                      </a:r>
                      <a:endParaRPr/>
                    </a:p>
                  </a:txBody>
                  <a:tcPr marT="91425" marB="91425" marR="91425" marL="91425"/>
                </a:tc>
              </a:tr>
              <a:tr h="374700">
                <a:tc>
                  <a:txBody>
                    <a:bodyPr/>
                    <a:lstStyle/>
                    <a:p>
                      <a:pPr indent="0" lvl="0" marL="0" rtl="0" algn="l">
                        <a:spcBef>
                          <a:spcPts val="0"/>
                        </a:spcBef>
                        <a:spcAft>
                          <a:spcPts val="0"/>
                        </a:spcAft>
                        <a:buNone/>
                      </a:pPr>
                      <a:r>
                        <a:rPr lang="zh-TW"/>
                        <a:t>內建運算</a:t>
                      </a:r>
                      <a:endParaRPr/>
                    </a:p>
                  </a:txBody>
                  <a:tcPr marT="91425" marB="91425" marR="91425" marL="91425"/>
                </a:tc>
                <a:tc>
                  <a:txBody>
                    <a:bodyPr/>
                    <a:lstStyle/>
                    <a:p>
                      <a:pPr indent="0" lvl="0" marL="0" rtl="0" algn="l">
                        <a:spcBef>
                          <a:spcPts val="0"/>
                        </a:spcBef>
                        <a:spcAft>
                          <a:spcPts val="0"/>
                        </a:spcAft>
                        <a:buNone/>
                      </a:pPr>
                      <a:r>
                        <a:rPr lang="zh-TW"/>
                        <a:t>支援向量化運算，所有操作（如加減乘除）會逐項應用到陣列的每個元素。</a:t>
                      </a:r>
                      <a:endParaRPr/>
                    </a:p>
                  </a:txBody>
                  <a:tcPr marT="91425" marB="91425" marR="91425" marL="91425"/>
                </a:tc>
                <a:tc>
                  <a:txBody>
                    <a:bodyPr/>
                    <a:lstStyle/>
                    <a:p>
                      <a:pPr indent="0" lvl="0" marL="0" rtl="0" algn="l">
                        <a:spcBef>
                          <a:spcPts val="0"/>
                        </a:spcBef>
                        <a:spcAft>
                          <a:spcPts val="0"/>
                        </a:spcAft>
                        <a:buNone/>
                      </a:pPr>
                      <a:r>
                        <a:rPr lang="zh-TW"/>
                        <a:t>列表不支援內建向量化操作，需要使用迴圈逐個元素進行計算。</a:t>
                      </a:r>
                      <a:endParaRPr/>
                    </a:p>
                  </a:txBody>
                  <a:tcPr marT="91425" marB="91425" marR="91425" marL="91425"/>
                </a:tc>
              </a:tr>
              <a:tr h="374700">
                <a:tc>
                  <a:txBody>
                    <a:bodyPr/>
                    <a:lstStyle/>
                    <a:p>
                      <a:pPr indent="0" lvl="0" marL="0" rtl="0" algn="l">
                        <a:spcBef>
                          <a:spcPts val="0"/>
                        </a:spcBef>
                        <a:spcAft>
                          <a:spcPts val="0"/>
                        </a:spcAft>
                        <a:buNone/>
                      </a:pPr>
                      <a:r>
                        <a:rPr lang="zh-TW"/>
                        <a:t>記憶體使用</a:t>
                      </a:r>
                      <a:endParaRPr/>
                    </a:p>
                  </a:txBody>
                  <a:tcPr marT="91425" marB="91425" marR="91425" marL="91425"/>
                </a:tc>
                <a:tc>
                  <a:txBody>
                    <a:bodyPr/>
                    <a:lstStyle/>
                    <a:p>
                      <a:pPr indent="0" lvl="0" marL="0" rtl="0" algn="l">
                        <a:spcBef>
                          <a:spcPts val="0"/>
                        </a:spcBef>
                        <a:spcAft>
                          <a:spcPts val="0"/>
                        </a:spcAft>
                        <a:buNone/>
                      </a:pPr>
                      <a:r>
                        <a:rPr lang="zh-TW"/>
                        <a:t>內存效率高，特別是大數據處理時，因為數據類型固定。</a:t>
                      </a:r>
                      <a:endParaRPr/>
                    </a:p>
                  </a:txBody>
                  <a:tcPr marT="91425" marB="91425" marR="91425" marL="91425"/>
                </a:tc>
                <a:tc>
                  <a:txBody>
                    <a:bodyPr/>
                    <a:lstStyle/>
                    <a:p>
                      <a:pPr indent="0" lvl="0" marL="0" rtl="0" algn="l">
                        <a:spcBef>
                          <a:spcPts val="0"/>
                        </a:spcBef>
                        <a:spcAft>
                          <a:spcPts val="0"/>
                        </a:spcAft>
                        <a:buNone/>
                      </a:pPr>
                      <a:r>
                        <a:rPr lang="zh-TW"/>
                        <a:t>內存效率較低，特別是當存儲大量異質數據時。</a:t>
                      </a:r>
                      <a:endParaRPr/>
                    </a:p>
                  </a:txBody>
                  <a:tcPr marT="91425" marB="91425" marR="91425" marL="91425"/>
                </a:tc>
              </a:tr>
              <a:tr h="374700">
                <a:tc>
                  <a:txBody>
                    <a:bodyPr/>
                    <a:lstStyle/>
                    <a:p>
                      <a:pPr indent="0" lvl="0" marL="0" rtl="0" algn="l">
                        <a:spcBef>
                          <a:spcPts val="0"/>
                        </a:spcBef>
                        <a:spcAft>
                          <a:spcPts val="0"/>
                        </a:spcAft>
                        <a:buNone/>
                      </a:pPr>
                      <a:r>
                        <a:rPr lang="zh-TW"/>
                        <a:t>應用場景</a:t>
                      </a:r>
                      <a:endParaRPr/>
                    </a:p>
                  </a:txBody>
                  <a:tcPr marT="91425" marB="91425" marR="91425" marL="91425"/>
                </a:tc>
                <a:tc>
                  <a:txBody>
                    <a:bodyPr/>
                    <a:lstStyle/>
                    <a:p>
                      <a:pPr indent="0" lvl="0" marL="0" rtl="0" algn="l">
                        <a:spcBef>
                          <a:spcPts val="0"/>
                        </a:spcBef>
                        <a:spcAft>
                          <a:spcPts val="0"/>
                        </a:spcAft>
                        <a:buNone/>
                      </a:pPr>
                      <a:r>
                        <a:rPr lang="zh-TW"/>
                        <a:t>適合於科學計算、數學運算、大規模數據處理。</a:t>
                      </a:r>
                      <a:endParaRPr/>
                    </a:p>
                  </a:txBody>
                  <a:tcPr marT="91425" marB="91425" marR="91425" marL="91425"/>
                </a:tc>
                <a:tc>
                  <a:txBody>
                    <a:bodyPr/>
                    <a:lstStyle/>
                    <a:p>
                      <a:pPr indent="0" lvl="0" marL="0" rtl="0" algn="l">
                        <a:spcBef>
                          <a:spcPts val="0"/>
                        </a:spcBef>
                        <a:spcAft>
                          <a:spcPts val="0"/>
                        </a:spcAft>
                        <a:buNone/>
                      </a:pPr>
                      <a:r>
                        <a:rPr lang="zh-TW"/>
                        <a:t>適合於一般用途的數據存儲和操作。</a:t>
                      </a:r>
                      <a:endParaRPr/>
                    </a:p>
                  </a:txBody>
                  <a:tcPr marT="91425" marB="91425" marR="91425" marL="91425"/>
                </a:tc>
              </a:tr>
            </a:tbl>
          </a:graphicData>
        </a:graphic>
      </p:graphicFrame>
      <p:graphicFrame>
        <p:nvGraphicFramePr>
          <p:cNvPr id="317" name="Google Shape;317;p50"/>
          <p:cNvGraphicFramePr/>
          <p:nvPr/>
        </p:nvGraphicFramePr>
        <p:xfrm>
          <a:off x="304800" y="304800"/>
          <a:ext cx="3000000" cy="3000000"/>
        </p:xfrm>
        <a:graphic>
          <a:graphicData uri="http://schemas.openxmlformats.org/drawingml/2006/table">
            <a:tbl>
              <a:tblPr>
                <a:noFill/>
                <a:tableStyleId>{AB446C50-BEC6-4478-9F0E-8E2411E21F89}</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1"/>
          <p:cNvSpPr txBox="1"/>
          <p:nvPr>
            <p:ph type="title"/>
          </p:nvPr>
        </p:nvSpPr>
        <p:spPr>
          <a:xfrm>
            <a:off x="311700" y="226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NumPy 陣列 vs. 列表的性能比較</a:t>
            </a:r>
            <a:endParaRPr/>
          </a:p>
        </p:txBody>
      </p:sp>
      <p:sp>
        <p:nvSpPr>
          <p:cNvPr id="323" name="Google Shape;323;p51"/>
          <p:cNvSpPr txBox="1"/>
          <p:nvPr/>
        </p:nvSpPr>
        <p:spPr>
          <a:xfrm>
            <a:off x="680725" y="723850"/>
            <a:ext cx="71607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import numpy as np</a:t>
            </a:r>
            <a:endParaRPr/>
          </a:p>
          <a:p>
            <a:pPr indent="0" lvl="0" marL="0" rtl="0" algn="l">
              <a:spcBef>
                <a:spcPts val="0"/>
              </a:spcBef>
              <a:spcAft>
                <a:spcPts val="0"/>
              </a:spcAft>
              <a:buNone/>
            </a:pPr>
            <a:r>
              <a:rPr lang="zh-TW"/>
              <a:t>import time</a:t>
            </a:r>
            <a:endParaRPr/>
          </a:p>
          <a:p>
            <a:pPr indent="0" lvl="0" marL="0" rtl="0" algn="l">
              <a:spcBef>
                <a:spcPts val="0"/>
              </a:spcBef>
              <a:spcAft>
                <a:spcPts val="0"/>
              </a:spcAft>
              <a:buNone/>
            </a:pPr>
            <a:r>
              <a:rPr lang="zh-TW"/>
              <a:t>#將元素內之數值取平方</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 使用 NumPy 進行數組計算</a:t>
            </a:r>
            <a:endParaRPr/>
          </a:p>
          <a:p>
            <a:pPr indent="0" lvl="0" marL="0" rtl="0" algn="l">
              <a:spcBef>
                <a:spcPts val="0"/>
              </a:spcBef>
              <a:spcAft>
                <a:spcPts val="0"/>
              </a:spcAft>
              <a:buNone/>
            </a:pPr>
            <a:r>
              <a:rPr lang="zh-TW"/>
              <a:t>array_size = 1000000</a:t>
            </a:r>
            <a:endParaRPr/>
          </a:p>
          <a:p>
            <a:pPr indent="0" lvl="0" marL="0" rtl="0" algn="l">
              <a:spcBef>
                <a:spcPts val="0"/>
              </a:spcBef>
              <a:spcAft>
                <a:spcPts val="0"/>
              </a:spcAft>
              <a:buNone/>
            </a:pPr>
            <a:r>
              <a:rPr lang="zh-TW"/>
              <a:t>arr = np.arange(array_size)</a:t>
            </a:r>
            <a:endParaRPr/>
          </a:p>
          <a:p>
            <a:pPr indent="0" lvl="0" marL="0" rtl="0" algn="l">
              <a:spcBef>
                <a:spcPts val="0"/>
              </a:spcBef>
              <a:spcAft>
                <a:spcPts val="0"/>
              </a:spcAft>
              <a:buNone/>
            </a:pPr>
            <a:r>
              <a:rPr lang="zh-TW"/>
              <a:t>start_time = time.time()</a:t>
            </a:r>
            <a:endParaRPr/>
          </a:p>
          <a:p>
            <a:pPr indent="0" lvl="0" marL="0" rtl="0" algn="l">
              <a:spcBef>
                <a:spcPts val="0"/>
              </a:spcBef>
              <a:spcAft>
                <a:spcPts val="0"/>
              </a:spcAft>
              <a:buNone/>
            </a:pPr>
            <a:r>
              <a:rPr lang="zh-TW"/>
              <a:t>arr = arr * 2</a:t>
            </a:r>
            <a:endParaRPr/>
          </a:p>
          <a:p>
            <a:pPr indent="0" lvl="0" marL="0" rtl="0" algn="l">
              <a:spcBef>
                <a:spcPts val="0"/>
              </a:spcBef>
              <a:spcAft>
                <a:spcPts val="0"/>
              </a:spcAft>
              <a:buNone/>
            </a:pPr>
            <a:r>
              <a:rPr lang="zh-TW"/>
              <a:t>print(f"NumPy 陣列操作時間: {time.time() - start_time} 秒")</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 使用 Python 列表進行相同操作</a:t>
            </a:r>
            <a:endParaRPr/>
          </a:p>
          <a:p>
            <a:pPr indent="0" lvl="0" marL="0" rtl="0" algn="l">
              <a:spcBef>
                <a:spcPts val="0"/>
              </a:spcBef>
              <a:spcAft>
                <a:spcPts val="0"/>
              </a:spcAft>
              <a:buNone/>
            </a:pPr>
            <a:r>
              <a:rPr lang="zh-TW"/>
              <a:t>lst = list(range(array_size))</a:t>
            </a:r>
            <a:endParaRPr/>
          </a:p>
          <a:p>
            <a:pPr indent="0" lvl="0" marL="0" rtl="0" algn="l">
              <a:spcBef>
                <a:spcPts val="0"/>
              </a:spcBef>
              <a:spcAft>
                <a:spcPts val="0"/>
              </a:spcAft>
              <a:buNone/>
            </a:pPr>
            <a:r>
              <a:rPr lang="zh-TW"/>
              <a:t>start_time = time.time()</a:t>
            </a:r>
            <a:endParaRPr/>
          </a:p>
          <a:p>
            <a:pPr indent="0" lvl="0" marL="0" rtl="0" algn="l">
              <a:spcBef>
                <a:spcPts val="0"/>
              </a:spcBef>
              <a:spcAft>
                <a:spcPts val="0"/>
              </a:spcAft>
              <a:buNone/>
            </a:pPr>
            <a:r>
              <a:rPr lang="zh-TW"/>
              <a:t>lst = [x * 2 for x in lst]</a:t>
            </a:r>
            <a:endParaRPr/>
          </a:p>
          <a:p>
            <a:pPr indent="0" lvl="0" marL="0" rtl="0" algn="l">
              <a:spcBef>
                <a:spcPts val="0"/>
              </a:spcBef>
              <a:spcAft>
                <a:spcPts val="0"/>
              </a:spcAft>
              <a:buNone/>
            </a:pPr>
            <a:r>
              <a:rPr lang="zh-TW"/>
              <a:t>print(f"列表操作時間: {time.time() - start_time} 秒")</a:t>
            </a:r>
            <a:endParaRPr/>
          </a:p>
          <a:p>
            <a:pPr indent="0" lvl="0" marL="0" rtl="0" algn="l">
              <a:spcBef>
                <a:spcPts val="0"/>
              </a:spcBef>
              <a:spcAft>
                <a:spcPts val="0"/>
              </a:spcAft>
              <a:buNone/>
            </a:pPr>
            <a:r>
              <a:t/>
            </a:r>
            <a:endParaRPr/>
          </a:p>
        </p:txBody>
      </p:sp>
      <p:pic>
        <p:nvPicPr>
          <p:cNvPr id="324" name="Google Shape;324;p51"/>
          <p:cNvPicPr preferRelativeResize="0"/>
          <p:nvPr/>
        </p:nvPicPr>
        <p:blipFill>
          <a:blip r:embed="rId3">
            <a:alphaModFix/>
          </a:blip>
          <a:stretch>
            <a:fillRect/>
          </a:stretch>
        </p:blipFill>
        <p:spPr>
          <a:xfrm>
            <a:off x="1764950" y="4294800"/>
            <a:ext cx="6369150" cy="70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2"/>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Pandas 基礎與進階語法</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什麼是pandas</a:t>
            </a:r>
            <a:endParaRPr/>
          </a:p>
        </p:txBody>
      </p:sp>
      <p:sp>
        <p:nvSpPr>
          <p:cNvPr id="335" name="Google Shape;335;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1350">
                <a:solidFill>
                  <a:srgbClr val="303233"/>
                </a:solidFill>
                <a:highlight>
                  <a:srgbClr val="FFFFFF"/>
                </a:highlight>
                <a:latin typeface="Arial"/>
                <a:ea typeface="Arial"/>
                <a:cs typeface="Arial"/>
                <a:sym typeface="Arial"/>
              </a:rPr>
              <a:t>Pandas是python的一個數據分析模組，2009 年底開源出來，提供高效能、簡易使用的資料格式(Data Frame)讓使用者可以快速操作及分析資料，Pandas強化了資料處理的方便性也能與處理網頁資料與資料庫資料等，有點類似於Office的Excel能更加方便的進行運算、分析等．</a:t>
            </a:r>
            <a:endParaRPr/>
          </a:p>
        </p:txBody>
      </p:sp>
      <p:pic>
        <p:nvPicPr>
          <p:cNvPr id="336" name="Google Shape;336;p53"/>
          <p:cNvPicPr preferRelativeResize="0"/>
          <p:nvPr/>
        </p:nvPicPr>
        <p:blipFill>
          <a:blip r:embed="rId3">
            <a:alphaModFix/>
          </a:blip>
          <a:stretch>
            <a:fillRect/>
          </a:stretch>
        </p:blipFill>
        <p:spPr>
          <a:xfrm>
            <a:off x="2379525" y="2247875"/>
            <a:ext cx="4261925" cy="1726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pandas 介紹</a:t>
            </a:r>
            <a:endParaRPr/>
          </a:p>
        </p:txBody>
      </p:sp>
      <p:sp>
        <p:nvSpPr>
          <p:cNvPr id="342" name="Google Shape;342;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zh-TW" sz="1100">
                <a:solidFill>
                  <a:srgbClr val="188038"/>
                </a:solidFill>
                <a:latin typeface="Roboto Mono"/>
                <a:ea typeface="Roboto Mono"/>
                <a:cs typeface="Roboto Mono"/>
                <a:sym typeface="Roboto Mono"/>
              </a:rPr>
              <a:t>Pandas</a:t>
            </a:r>
            <a:r>
              <a:rPr lang="zh-TW" sz="1100">
                <a:solidFill>
                  <a:srgbClr val="000000"/>
                </a:solidFill>
                <a:latin typeface="Arial"/>
                <a:ea typeface="Arial"/>
                <a:cs typeface="Arial"/>
                <a:sym typeface="Arial"/>
              </a:rPr>
              <a:t> 是 Python 中最受歡迎的資料分析工具之一，專為處理結構化數據而設計。它基於 NumPy，提供了更高階的資料結構和函數，適合進行資料清理、探索性分析、轉換和視覺化。Pandas 提供了兩個核心的資料結構：</a:t>
            </a:r>
            <a:r>
              <a:rPr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 和 </a:t>
            </a:r>
            <a:r>
              <a:rPr lang="zh-TW" sz="1100">
                <a:solidFill>
                  <a:srgbClr val="188038"/>
                </a:solidFill>
                <a:latin typeface="Roboto Mono"/>
                <a:ea typeface="Roboto Mono"/>
                <a:cs typeface="Roboto Mono"/>
                <a:sym typeface="Roboto Mono"/>
              </a:rPr>
              <a:t>DataFrame</a:t>
            </a:r>
            <a:r>
              <a:rPr lang="zh-TW" sz="1100">
                <a:solidFill>
                  <a:srgbClr val="000000"/>
                </a:solidFill>
                <a:latin typeface="Arial"/>
                <a:ea typeface="Arial"/>
                <a:cs typeface="Arial"/>
                <a:sym typeface="Arial"/>
              </a:rPr>
              <a:t>，它們使得資料處理變得簡單且高效。</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zh-TW" sz="1300">
                <a:solidFill>
                  <a:srgbClr val="000000"/>
                </a:solidFill>
                <a:latin typeface="Arial"/>
                <a:ea typeface="Arial"/>
                <a:cs typeface="Arial"/>
                <a:sym typeface="Arial"/>
              </a:rPr>
              <a:t>Pandas 核心資料結構</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 是一維的資料結構，類似於 Python 的列表或字典。</a:t>
            </a:r>
            <a:r>
              <a:rPr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 可以存放任何類型的資料，每個資料都有一個與之對應的標籤（索引）。</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zh-TW" sz="1100">
                <a:solidFill>
                  <a:srgbClr val="188038"/>
                </a:solidFill>
                <a:latin typeface="Roboto Mono"/>
                <a:ea typeface="Roboto Mono"/>
                <a:cs typeface="Roboto Mono"/>
                <a:sym typeface="Roboto Mono"/>
              </a:rPr>
              <a:t>DataFrame</a:t>
            </a:r>
            <a:r>
              <a:rPr lang="zh-TW" sz="1100">
                <a:solidFill>
                  <a:srgbClr val="000000"/>
                </a:solidFill>
                <a:latin typeface="Arial"/>
                <a:ea typeface="Arial"/>
                <a:cs typeface="Arial"/>
                <a:sym typeface="Arial"/>
              </a:rPr>
              <a:t>: 是二維的表格型資料結構，類似於 Excel 表格或 SQL 資料庫中的資料表。</a:t>
            </a:r>
            <a:r>
              <a:rPr lang="zh-TW" sz="1100">
                <a:solidFill>
                  <a:srgbClr val="188038"/>
                </a:solidFill>
                <a:latin typeface="Roboto Mono"/>
                <a:ea typeface="Roboto Mono"/>
                <a:cs typeface="Roboto Mono"/>
                <a:sym typeface="Roboto Mono"/>
              </a:rPr>
              <a:t>DataFrame</a:t>
            </a:r>
            <a:r>
              <a:rPr lang="zh-TW" sz="1100">
                <a:solidFill>
                  <a:srgbClr val="000000"/>
                </a:solidFill>
                <a:latin typeface="Arial"/>
                <a:ea typeface="Arial"/>
                <a:cs typeface="Arial"/>
                <a:sym typeface="Arial"/>
              </a:rPr>
              <a:t> 由多個 </a:t>
            </a:r>
            <a:r>
              <a:rPr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 組成，其中每一列是 </a:t>
            </a:r>
            <a:r>
              <a:rPr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，列和行都有索引。</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5"/>
          <p:cNvSpPr txBox="1"/>
          <p:nvPr>
            <p:ph type="title"/>
          </p:nvPr>
        </p:nvSpPr>
        <p:spPr>
          <a:xfrm>
            <a:off x="311700" y="16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Pandas 常用功能-1</a:t>
            </a:r>
            <a:endParaRPr/>
          </a:p>
        </p:txBody>
      </p:sp>
      <p:graphicFrame>
        <p:nvGraphicFramePr>
          <p:cNvPr id="348" name="Google Shape;348;p55"/>
          <p:cNvGraphicFramePr/>
          <p:nvPr/>
        </p:nvGraphicFramePr>
        <p:xfrm>
          <a:off x="523875" y="798450"/>
          <a:ext cx="3000000" cy="3000000"/>
        </p:xfrm>
        <a:graphic>
          <a:graphicData uri="http://schemas.openxmlformats.org/drawingml/2006/table">
            <a:tbl>
              <a:tblPr>
                <a:noFill/>
                <a:tableStyleId>{7C26E4BD-2EE1-4CC8-BD85-72C400897770}</a:tableStyleId>
              </a:tblPr>
              <a:tblGrid>
                <a:gridCol w="1592775"/>
                <a:gridCol w="3807525"/>
                <a:gridCol w="2908150"/>
              </a:tblGrid>
              <a:tr h="456775">
                <a:tc>
                  <a:txBody>
                    <a:bodyPr/>
                    <a:lstStyle/>
                    <a:p>
                      <a:pPr indent="0" lvl="0" marL="0" rtl="0" algn="l">
                        <a:spcBef>
                          <a:spcPts val="0"/>
                        </a:spcBef>
                        <a:spcAft>
                          <a:spcPts val="0"/>
                        </a:spcAft>
                        <a:buNone/>
                      </a:pPr>
                      <a:r>
                        <a:rPr lang="zh-TW"/>
                        <a:t>功能</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c>
                  <a:txBody>
                    <a:bodyPr/>
                    <a:lstStyle/>
                    <a:p>
                      <a:pPr indent="0" lvl="0" marL="0" rtl="0" algn="l">
                        <a:spcBef>
                          <a:spcPts val="0"/>
                        </a:spcBef>
                        <a:spcAft>
                          <a:spcPts val="0"/>
                        </a:spcAft>
                        <a:buNone/>
                      </a:pPr>
                      <a:r>
                        <a:rPr lang="zh-TW"/>
                        <a:t>範例</a:t>
                      </a:r>
                      <a:endParaRPr/>
                    </a:p>
                  </a:txBody>
                  <a:tcPr marT="91425" marB="91425" marR="91425" marL="91425"/>
                </a:tc>
              </a:tr>
              <a:tr h="576700">
                <a:tc>
                  <a:txBody>
                    <a:bodyPr/>
                    <a:lstStyle/>
                    <a:p>
                      <a:pPr indent="0" lvl="0" marL="0" rtl="0" algn="l">
                        <a:spcBef>
                          <a:spcPts val="0"/>
                        </a:spcBef>
                        <a:spcAft>
                          <a:spcPts val="0"/>
                        </a:spcAft>
                        <a:buNone/>
                      </a:pPr>
                      <a:r>
                        <a:rPr lang="zh-TW"/>
                        <a:t>讀取資料</a:t>
                      </a:r>
                      <a:endParaRPr/>
                    </a:p>
                  </a:txBody>
                  <a:tcPr marT="91425" marB="91425" marR="91425" marL="91425"/>
                </a:tc>
                <a:tc>
                  <a:txBody>
                    <a:bodyPr/>
                    <a:lstStyle/>
                    <a:p>
                      <a:pPr indent="0" lvl="0" marL="0" rtl="0" algn="l">
                        <a:spcBef>
                          <a:spcPts val="0"/>
                        </a:spcBef>
                        <a:spcAft>
                          <a:spcPts val="0"/>
                        </a:spcAft>
                        <a:buNone/>
                      </a:pPr>
                      <a:r>
                        <a:rPr lang="zh-TW"/>
                        <a:t>可以從多種格式中讀取資料，例如 CSV、Excel、SQL 等。</a:t>
                      </a:r>
                      <a:endParaRPr/>
                    </a:p>
                  </a:txBody>
                  <a:tcPr marT="91425" marB="91425" marR="91425" marL="91425"/>
                </a:tc>
                <a:tc>
                  <a:txBody>
                    <a:bodyPr/>
                    <a:lstStyle/>
                    <a:p>
                      <a:pPr indent="0" lvl="0" marL="0" rtl="0" algn="l">
                        <a:spcBef>
                          <a:spcPts val="0"/>
                        </a:spcBef>
                        <a:spcAft>
                          <a:spcPts val="0"/>
                        </a:spcAft>
                        <a:buNone/>
                      </a:pPr>
                      <a:r>
                        <a:rPr lang="zh-TW"/>
                        <a:t>df = pd.read_csv('file.csv')</a:t>
                      </a:r>
                      <a:endParaRPr/>
                    </a:p>
                  </a:txBody>
                  <a:tcPr marT="91425" marB="91425" marR="91425" marL="91425"/>
                </a:tc>
              </a:tr>
              <a:tr h="589275">
                <a:tc>
                  <a:txBody>
                    <a:bodyPr/>
                    <a:lstStyle/>
                    <a:p>
                      <a:pPr indent="0" lvl="0" marL="0" rtl="0" algn="l">
                        <a:spcBef>
                          <a:spcPts val="0"/>
                        </a:spcBef>
                        <a:spcAft>
                          <a:spcPts val="0"/>
                        </a:spcAft>
                        <a:buNone/>
                      </a:pPr>
                      <a:r>
                        <a:rPr lang="zh-TW"/>
                        <a:t>資料篩選與選取</a:t>
                      </a:r>
                      <a:endParaRPr/>
                    </a:p>
                  </a:txBody>
                  <a:tcPr marT="91425" marB="91425" marR="91425" marL="91425"/>
                </a:tc>
                <a:tc>
                  <a:txBody>
                    <a:bodyPr/>
                    <a:lstStyle/>
                    <a:p>
                      <a:pPr indent="0" lvl="0" marL="0" rtl="0" algn="l">
                        <a:spcBef>
                          <a:spcPts val="0"/>
                        </a:spcBef>
                        <a:spcAft>
                          <a:spcPts val="0"/>
                        </a:spcAft>
                        <a:buNone/>
                      </a:pPr>
                      <a:r>
                        <a:rPr lang="zh-TW"/>
                        <a:t>可以使用標籤（索引）或條件進行資料篩選。</a:t>
                      </a:r>
                      <a:endParaRPr/>
                    </a:p>
                  </a:txBody>
                  <a:tcPr marT="91425" marB="91425" marR="91425" marL="91425"/>
                </a:tc>
                <a:tc>
                  <a:txBody>
                    <a:bodyPr/>
                    <a:lstStyle/>
                    <a:p>
                      <a:pPr indent="0" lvl="0" marL="0" rtl="0" algn="l">
                        <a:spcBef>
                          <a:spcPts val="0"/>
                        </a:spcBef>
                        <a:spcAft>
                          <a:spcPts val="0"/>
                        </a:spcAft>
                        <a:buNone/>
                      </a:pPr>
                      <a:r>
                        <a:rPr lang="zh-TW"/>
                        <a:t>df[df['Age'] &gt; 30]</a:t>
                      </a:r>
                      <a:endParaRPr/>
                    </a:p>
                  </a:txBody>
                  <a:tcPr marT="91425" marB="91425" marR="91425" marL="91425"/>
                </a:tc>
              </a:tr>
              <a:tr h="526275">
                <a:tc>
                  <a:txBody>
                    <a:bodyPr/>
                    <a:lstStyle/>
                    <a:p>
                      <a:pPr indent="0" lvl="0" marL="0" rtl="0" algn="l">
                        <a:spcBef>
                          <a:spcPts val="0"/>
                        </a:spcBef>
                        <a:spcAft>
                          <a:spcPts val="0"/>
                        </a:spcAft>
                        <a:buNone/>
                      </a:pPr>
                      <a:r>
                        <a:rPr lang="zh-TW"/>
                        <a:t>資料處理與清理</a:t>
                      </a:r>
                      <a:endParaRPr/>
                    </a:p>
                  </a:txBody>
                  <a:tcPr marT="91425" marB="91425" marR="91425" marL="91425"/>
                </a:tc>
                <a:tc>
                  <a:txBody>
                    <a:bodyPr/>
                    <a:lstStyle/>
                    <a:p>
                      <a:pPr indent="0" lvl="0" marL="0" rtl="0" algn="l">
                        <a:spcBef>
                          <a:spcPts val="0"/>
                        </a:spcBef>
                        <a:spcAft>
                          <a:spcPts val="0"/>
                        </a:spcAft>
                        <a:buNone/>
                      </a:pPr>
                      <a:r>
                        <a:rPr lang="zh-TW"/>
                        <a:t>可以處理缺失資料、重複資料，進行轉換、排序等操作。</a:t>
                      </a:r>
                      <a:endParaRPr/>
                    </a:p>
                  </a:txBody>
                  <a:tcPr marT="91425" marB="91425" marR="91425" marL="91425"/>
                </a:tc>
                <a:tc>
                  <a:txBody>
                    <a:bodyPr/>
                    <a:lstStyle/>
                    <a:p>
                      <a:pPr indent="0" lvl="0" marL="0" rtl="0" algn="l">
                        <a:spcBef>
                          <a:spcPts val="0"/>
                        </a:spcBef>
                        <a:spcAft>
                          <a:spcPts val="0"/>
                        </a:spcAft>
                        <a:buNone/>
                      </a:pPr>
                      <a:r>
                        <a:rPr lang="zh-TW" sz="1100">
                          <a:solidFill>
                            <a:schemeClr val="dk1"/>
                          </a:solidFill>
                          <a:latin typeface="Roboto Mono"/>
                          <a:ea typeface="Roboto Mono"/>
                          <a:cs typeface="Roboto Mono"/>
                          <a:sym typeface="Roboto Mono"/>
                        </a:rPr>
                        <a:t>df.dropna()</a:t>
                      </a:r>
                      <a:r>
                        <a:rPr lang="zh-TW" sz="1100">
                          <a:solidFill>
                            <a:schemeClr val="dk1"/>
                          </a:solidFill>
                        </a:rPr>
                        <a:t>, </a:t>
                      </a:r>
                      <a:r>
                        <a:rPr lang="zh-TW" sz="1100">
                          <a:solidFill>
                            <a:schemeClr val="dk1"/>
                          </a:solidFill>
                          <a:latin typeface="Roboto Mono"/>
                          <a:ea typeface="Roboto Mono"/>
                          <a:cs typeface="Roboto Mono"/>
                          <a:sym typeface="Roboto Mono"/>
                        </a:rPr>
                        <a:t>df.fillna(0)</a:t>
                      </a:r>
                      <a:r>
                        <a:rPr lang="zh-TW" sz="1100">
                          <a:solidFill>
                            <a:schemeClr val="dk1"/>
                          </a:solidFill>
                        </a:rPr>
                        <a:t>, </a:t>
                      </a:r>
                      <a:r>
                        <a:rPr lang="zh-TW" sz="1100">
                          <a:solidFill>
                            <a:schemeClr val="dk1"/>
                          </a:solidFill>
                          <a:latin typeface="Roboto Mono"/>
                          <a:ea typeface="Roboto Mono"/>
                          <a:cs typeface="Roboto Mono"/>
                          <a:sym typeface="Roboto Mono"/>
                        </a:rPr>
                        <a:t>df.drop_duplicates()</a:t>
                      </a:r>
                      <a:endParaRPr>
                        <a:solidFill>
                          <a:schemeClr val="dk1"/>
                        </a:solidFill>
                      </a:endParaRPr>
                    </a:p>
                  </a:txBody>
                  <a:tcPr marT="91425" marB="91425" marR="91425" marL="91425"/>
                </a:tc>
              </a:tr>
              <a:tr h="551475">
                <a:tc>
                  <a:txBody>
                    <a:bodyPr/>
                    <a:lstStyle/>
                    <a:p>
                      <a:pPr indent="0" lvl="0" marL="0" rtl="0" algn="l">
                        <a:spcBef>
                          <a:spcPts val="0"/>
                        </a:spcBef>
                        <a:spcAft>
                          <a:spcPts val="0"/>
                        </a:spcAft>
                        <a:buNone/>
                      </a:pPr>
                      <a:r>
                        <a:rPr lang="zh-TW"/>
                        <a:t>資料統計</a:t>
                      </a:r>
                      <a:endParaRPr/>
                    </a:p>
                  </a:txBody>
                  <a:tcPr marT="91425" marB="91425" marR="91425" marL="91425"/>
                </a:tc>
                <a:tc>
                  <a:txBody>
                    <a:bodyPr/>
                    <a:lstStyle/>
                    <a:p>
                      <a:pPr indent="0" lvl="0" marL="0" rtl="0" algn="l">
                        <a:spcBef>
                          <a:spcPts val="0"/>
                        </a:spcBef>
                        <a:spcAft>
                          <a:spcPts val="0"/>
                        </a:spcAft>
                        <a:buNone/>
                      </a:pPr>
                      <a:r>
                        <a:rPr lang="zh-TW"/>
                        <a:t>提供簡單的統計分析功能，例如平均值、標準差、總和等。</a:t>
                      </a:r>
                      <a:endParaRPr/>
                    </a:p>
                  </a:txBody>
                  <a:tcPr marT="91425" marB="91425" marR="91425" marL="91425"/>
                </a:tc>
                <a:tc>
                  <a:txBody>
                    <a:bodyPr/>
                    <a:lstStyle/>
                    <a:p>
                      <a:pPr indent="0" lvl="0" marL="0" rtl="0" algn="l">
                        <a:spcBef>
                          <a:spcPts val="0"/>
                        </a:spcBef>
                        <a:spcAft>
                          <a:spcPts val="0"/>
                        </a:spcAft>
                        <a:buNone/>
                      </a:pPr>
                      <a:r>
                        <a:rPr lang="zh-TW" sz="1100">
                          <a:solidFill>
                            <a:schemeClr val="dk1"/>
                          </a:solidFill>
                          <a:latin typeface="Roboto Mono"/>
                          <a:ea typeface="Roboto Mono"/>
                          <a:cs typeface="Roboto Mono"/>
                          <a:sym typeface="Roboto Mono"/>
                        </a:rPr>
                        <a:t>df.describe()</a:t>
                      </a:r>
                      <a:r>
                        <a:rPr lang="zh-TW" sz="1100">
                          <a:solidFill>
                            <a:schemeClr val="dk1"/>
                          </a:solidFill>
                        </a:rPr>
                        <a:t>, </a:t>
                      </a:r>
                      <a:r>
                        <a:rPr lang="zh-TW" sz="1100">
                          <a:solidFill>
                            <a:schemeClr val="dk1"/>
                          </a:solidFill>
                          <a:latin typeface="Roboto Mono"/>
                          <a:ea typeface="Roboto Mono"/>
                          <a:cs typeface="Roboto Mono"/>
                          <a:sym typeface="Roboto Mono"/>
                        </a:rPr>
                        <a:t>df['Age'].mean()</a:t>
                      </a:r>
                      <a:endParaRPr>
                        <a:solidFill>
                          <a:schemeClr val="dk1"/>
                        </a:solidFill>
                      </a:endParaRPr>
                    </a:p>
                  </a:txBody>
                  <a:tcPr marT="91425" marB="91425" marR="91425" marL="91425"/>
                </a:tc>
              </a:tr>
              <a:tr h="439250">
                <a:tc>
                  <a:txBody>
                    <a:bodyPr/>
                    <a:lstStyle/>
                    <a:p>
                      <a:pPr indent="0" lvl="0" marL="0" rtl="0" algn="l">
                        <a:spcBef>
                          <a:spcPts val="0"/>
                        </a:spcBef>
                        <a:spcAft>
                          <a:spcPts val="0"/>
                        </a:spcAft>
                        <a:buNone/>
                      </a:pPr>
                      <a:r>
                        <a:rPr lang="zh-TW"/>
                        <a:t>新增與刪除列/欄</a:t>
                      </a:r>
                      <a:endParaRPr/>
                    </a:p>
                  </a:txBody>
                  <a:tcPr marT="91425" marB="91425" marR="91425" marL="91425"/>
                </a:tc>
                <a:tc>
                  <a:txBody>
                    <a:bodyPr/>
                    <a:lstStyle/>
                    <a:p>
                      <a:pPr indent="0" lvl="0" marL="0" rtl="0" algn="l">
                        <a:spcBef>
                          <a:spcPts val="0"/>
                        </a:spcBef>
                        <a:spcAft>
                          <a:spcPts val="0"/>
                        </a:spcAft>
                        <a:buNone/>
                      </a:pPr>
                      <a:r>
                        <a:rPr lang="zh-TW"/>
                        <a:t>可以輕鬆地新增或刪除 DataFrame 的列或欄。</a:t>
                      </a:r>
                      <a:endParaRPr/>
                    </a:p>
                  </a:txBody>
                  <a:tcPr marT="91425" marB="91425" marR="91425" marL="91425"/>
                </a:tc>
                <a:tc>
                  <a:txBody>
                    <a:bodyPr/>
                    <a:lstStyle/>
                    <a:p>
                      <a:pPr indent="0" lvl="0" marL="0" rtl="0" algn="l">
                        <a:spcBef>
                          <a:spcPts val="0"/>
                        </a:spcBef>
                        <a:spcAft>
                          <a:spcPts val="0"/>
                        </a:spcAft>
                        <a:buNone/>
                      </a:pPr>
                      <a:r>
                        <a:rPr lang="zh-TW" sz="1100">
                          <a:solidFill>
                            <a:schemeClr val="dk1"/>
                          </a:solidFill>
                          <a:latin typeface="Roboto Mono"/>
                          <a:ea typeface="Roboto Mono"/>
                          <a:cs typeface="Roboto Mono"/>
                          <a:sym typeface="Roboto Mono"/>
                        </a:rPr>
                        <a:t>df['Salary'] = [5000, 6000, 7000]</a:t>
                      </a:r>
                      <a:r>
                        <a:rPr lang="zh-TW" sz="1100">
                          <a:solidFill>
                            <a:schemeClr val="dk1"/>
                          </a:solidFill>
                        </a:rPr>
                        <a:t>, </a:t>
                      </a:r>
                      <a:r>
                        <a:rPr lang="zh-TW" sz="1100">
                          <a:solidFill>
                            <a:schemeClr val="dk1"/>
                          </a:solidFill>
                          <a:latin typeface="Roboto Mono"/>
                          <a:ea typeface="Roboto Mono"/>
                          <a:cs typeface="Roboto Mono"/>
                          <a:sym typeface="Roboto Mono"/>
                        </a:rPr>
                        <a:t>df.drop('City', axis=1)</a:t>
                      </a:r>
                      <a:endParaRPr>
                        <a:solidFill>
                          <a:schemeClr val="dk1"/>
                        </a:solidFill>
                      </a:endParaRPr>
                    </a:p>
                  </a:txBody>
                  <a:tcPr marT="91425" marB="91425" marR="91425" marL="91425"/>
                </a:tc>
              </a:tr>
              <a:tr h="439250">
                <a:tc>
                  <a:txBody>
                    <a:bodyPr/>
                    <a:lstStyle/>
                    <a:p>
                      <a:pPr indent="0" lvl="0" marL="0" rtl="0" algn="l">
                        <a:spcBef>
                          <a:spcPts val="0"/>
                        </a:spcBef>
                        <a:spcAft>
                          <a:spcPts val="0"/>
                        </a:spcAft>
                        <a:buNone/>
                      </a:pPr>
                      <a:r>
                        <a:rPr lang="zh-TW"/>
                        <a:t>資料排序</a:t>
                      </a:r>
                      <a:endParaRPr/>
                    </a:p>
                  </a:txBody>
                  <a:tcPr marT="91425" marB="91425" marR="91425" marL="91425"/>
                </a:tc>
                <a:tc>
                  <a:txBody>
                    <a:bodyPr/>
                    <a:lstStyle/>
                    <a:p>
                      <a:pPr indent="0" lvl="0" marL="0" rtl="0" algn="l">
                        <a:spcBef>
                          <a:spcPts val="0"/>
                        </a:spcBef>
                        <a:spcAft>
                          <a:spcPts val="0"/>
                        </a:spcAft>
                        <a:buNone/>
                      </a:pPr>
                      <a:r>
                        <a:rPr lang="zh-TW"/>
                        <a:t>可以按指定列進行排序。</a:t>
                      </a:r>
                      <a:endParaRPr/>
                    </a:p>
                  </a:txBody>
                  <a:tcPr marT="91425" marB="91425" marR="91425" marL="91425"/>
                </a:tc>
                <a:tc>
                  <a:txBody>
                    <a:bodyPr/>
                    <a:lstStyle/>
                    <a:p>
                      <a:pPr indent="0" lvl="0" marL="0" rtl="0" algn="l">
                        <a:spcBef>
                          <a:spcPts val="0"/>
                        </a:spcBef>
                        <a:spcAft>
                          <a:spcPts val="0"/>
                        </a:spcAft>
                        <a:buNone/>
                      </a:pPr>
                      <a:r>
                        <a:rPr lang="zh-TW"/>
                        <a:t>df.sort_values(by='Age', ascending=False)</a:t>
                      </a:r>
                      <a:endParaRPr/>
                    </a:p>
                  </a:txBody>
                  <a:tcPr marT="91425" marB="91425" marR="91425" marL="914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6"/>
          <p:cNvSpPr txBox="1"/>
          <p:nvPr>
            <p:ph type="title"/>
          </p:nvPr>
        </p:nvSpPr>
        <p:spPr>
          <a:xfrm>
            <a:off x="311700" y="293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Pandas 常用功能-2</a:t>
            </a:r>
            <a:endParaRPr/>
          </a:p>
        </p:txBody>
      </p:sp>
      <p:graphicFrame>
        <p:nvGraphicFramePr>
          <p:cNvPr id="354" name="Google Shape;354;p56"/>
          <p:cNvGraphicFramePr/>
          <p:nvPr/>
        </p:nvGraphicFramePr>
        <p:xfrm>
          <a:off x="523850" y="1302700"/>
          <a:ext cx="3000000" cy="3000000"/>
        </p:xfrm>
        <a:graphic>
          <a:graphicData uri="http://schemas.openxmlformats.org/drawingml/2006/table">
            <a:tbl>
              <a:tblPr>
                <a:noFill/>
                <a:tableStyleId>{7C26E4BD-2EE1-4CC8-BD85-72C400897770}</a:tableStyleId>
              </a:tblPr>
              <a:tblGrid>
                <a:gridCol w="1592775"/>
                <a:gridCol w="3807525"/>
                <a:gridCol w="2908150"/>
              </a:tblGrid>
              <a:tr h="456775">
                <a:tc>
                  <a:txBody>
                    <a:bodyPr/>
                    <a:lstStyle/>
                    <a:p>
                      <a:pPr indent="0" lvl="0" marL="0" rtl="0" algn="l">
                        <a:spcBef>
                          <a:spcPts val="0"/>
                        </a:spcBef>
                        <a:spcAft>
                          <a:spcPts val="0"/>
                        </a:spcAft>
                        <a:buNone/>
                      </a:pPr>
                      <a:r>
                        <a:rPr lang="zh-TW"/>
                        <a:t>功能</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c>
                  <a:txBody>
                    <a:bodyPr/>
                    <a:lstStyle/>
                    <a:p>
                      <a:pPr indent="0" lvl="0" marL="0" rtl="0" algn="l">
                        <a:spcBef>
                          <a:spcPts val="0"/>
                        </a:spcBef>
                        <a:spcAft>
                          <a:spcPts val="0"/>
                        </a:spcAft>
                        <a:buNone/>
                      </a:pPr>
                      <a:r>
                        <a:rPr lang="zh-TW"/>
                        <a:t>範例</a:t>
                      </a:r>
                      <a:endParaRPr/>
                    </a:p>
                  </a:txBody>
                  <a:tcPr marT="91425" marB="91425" marR="91425" marL="91425"/>
                </a:tc>
              </a:tr>
              <a:tr h="576700">
                <a:tc>
                  <a:txBody>
                    <a:bodyPr/>
                    <a:lstStyle/>
                    <a:p>
                      <a:pPr indent="0" lvl="0" marL="0" rtl="0" algn="l">
                        <a:spcBef>
                          <a:spcPts val="0"/>
                        </a:spcBef>
                        <a:spcAft>
                          <a:spcPts val="0"/>
                        </a:spcAft>
                        <a:buNone/>
                      </a:pPr>
                      <a:r>
                        <a:rPr lang="zh-TW"/>
                        <a:t>資料聚合與分組</a:t>
                      </a:r>
                      <a:endParaRPr/>
                    </a:p>
                  </a:txBody>
                  <a:tcPr marT="91425" marB="91425" marR="91425" marL="91425"/>
                </a:tc>
                <a:tc>
                  <a:txBody>
                    <a:bodyPr/>
                    <a:lstStyle/>
                    <a:p>
                      <a:pPr indent="0" lvl="0" marL="0" rtl="0" algn="l">
                        <a:spcBef>
                          <a:spcPts val="0"/>
                        </a:spcBef>
                        <a:spcAft>
                          <a:spcPts val="0"/>
                        </a:spcAft>
                        <a:buNone/>
                      </a:pPr>
                      <a:r>
                        <a:rPr lang="zh-TW"/>
                        <a:t>可以對資料進行分組並進行聚合運算（如總和、平均值等）。</a:t>
                      </a:r>
                      <a:endParaRPr/>
                    </a:p>
                  </a:txBody>
                  <a:tcPr marT="91425" marB="91425" marR="91425" marL="91425"/>
                </a:tc>
                <a:tc>
                  <a:txBody>
                    <a:bodyPr/>
                    <a:lstStyle/>
                    <a:p>
                      <a:pPr indent="0" lvl="0" marL="0" rtl="0" algn="l">
                        <a:spcBef>
                          <a:spcPts val="0"/>
                        </a:spcBef>
                        <a:spcAft>
                          <a:spcPts val="0"/>
                        </a:spcAft>
                        <a:buNone/>
                      </a:pPr>
                      <a:r>
                        <a:rPr lang="zh-TW"/>
                        <a:t>df.groupby('City').sum()</a:t>
                      </a:r>
                      <a:endParaRPr/>
                    </a:p>
                  </a:txBody>
                  <a:tcPr marT="91425" marB="91425" marR="91425" marL="91425"/>
                </a:tc>
              </a:tr>
              <a:tr h="589275">
                <a:tc>
                  <a:txBody>
                    <a:bodyPr/>
                    <a:lstStyle/>
                    <a:p>
                      <a:pPr indent="0" lvl="0" marL="0" rtl="0" algn="l">
                        <a:spcBef>
                          <a:spcPts val="0"/>
                        </a:spcBef>
                        <a:spcAft>
                          <a:spcPts val="0"/>
                        </a:spcAft>
                        <a:buNone/>
                      </a:pPr>
                      <a:r>
                        <a:rPr lang="zh-TW"/>
                        <a:t>合併與連接</a:t>
                      </a:r>
                      <a:endParaRPr/>
                    </a:p>
                  </a:txBody>
                  <a:tcPr marT="91425" marB="91425" marR="91425" marL="91425"/>
                </a:tc>
                <a:tc>
                  <a:txBody>
                    <a:bodyPr/>
                    <a:lstStyle/>
                    <a:p>
                      <a:pPr indent="0" lvl="0" marL="0" rtl="0" algn="l">
                        <a:spcBef>
                          <a:spcPts val="0"/>
                        </a:spcBef>
                        <a:spcAft>
                          <a:spcPts val="0"/>
                        </a:spcAft>
                        <a:buNone/>
                      </a:pPr>
                      <a:r>
                        <a:rPr lang="zh-TW"/>
                        <a:t>可以合併多個 DataFrame。</a:t>
                      </a:r>
                      <a:endParaRPr/>
                    </a:p>
                  </a:txBody>
                  <a:tcPr marT="91425" marB="91425" marR="91425" marL="91425"/>
                </a:tc>
                <a:tc>
                  <a:txBody>
                    <a:bodyPr/>
                    <a:lstStyle/>
                    <a:p>
                      <a:pPr indent="0" lvl="0" marL="0" rtl="0" algn="l">
                        <a:spcBef>
                          <a:spcPts val="0"/>
                        </a:spcBef>
                        <a:spcAft>
                          <a:spcPts val="0"/>
                        </a:spcAft>
                        <a:buNone/>
                      </a:pPr>
                      <a:r>
                        <a:rPr lang="zh-TW" sz="1100">
                          <a:solidFill>
                            <a:srgbClr val="188038"/>
                          </a:solidFill>
                          <a:latin typeface="Roboto Mono"/>
                          <a:ea typeface="Roboto Mono"/>
                          <a:cs typeface="Roboto Mono"/>
                          <a:sym typeface="Roboto Mono"/>
                        </a:rPr>
                        <a:t>pd.concat([df1, df2])</a:t>
                      </a:r>
                      <a:r>
                        <a:rPr lang="zh-TW" sz="1100"/>
                        <a:t>, </a:t>
                      </a:r>
                      <a:r>
                        <a:rPr lang="zh-TW" sz="1100">
                          <a:solidFill>
                            <a:srgbClr val="188038"/>
                          </a:solidFill>
                          <a:latin typeface="Roboto Mono"/>
                          <a:ea typeface="Roboto Mono"/>
                          <a:cs typeface="Roboto Mono"/>
                          <a:sym typeface="Roboto Mono"/>
                        </a:rPr>
                        <a:t>pd.merge(df1, df2, on='key')</a:t>
                      </a:r>
                      <a:endParaRPr/>
                    </a:p>
                  </a:txBody>
                  <a:tcPr marT="91425" marB="91425" marR="91425" marL="91425"/>
                </a:tc>
              </a:tr>
              <a:tr h="526275">
                <a:tc>
                  <a:txBody>
                    <a:bodyPr/>
                    <a:lstStyle/>
                    <a:p>
                      <a:pPr indent="0" lvl="0" marL="0" rtl="0" algn="l">
                        <a:spcBef>
                          <a:spcPts val="0"/>
                        </a:spcBef>
                        <a:spcAft>
                          <a:spcPts val="0"/>
                        </a:spcAft>
                        <a:buNone/>
                      </a:pPr>
                      <a:r>
                        <a:rPr lang="zh-TW"/>
                        <a:t>資料匯出</a:t>
                      </a:r>
                      <a:endParaRPr/>
                    </a:p>
                  </a:txBody>
                  <a:tcPr marT="91425" marB="91425" marR="91425" marL="91425"/>
                </a:tc>
                <a:tc>
                  <a:txBody>
                    <a:bodyPr/>
                    <a:lstStyle/>
                    <a:p>
                      <a:pPr indent="0" lvl="0" marL="0" rtl="0" algn="l">
                        <a:spcBef>
                          <a:spcPts val="0"/>
                        </a:spcBef>
                        <a:spcAft>
                          <a:spcPts val="0"/>
                        </a:spcAft>
                        <a:buNone/>
                      </a:pPr>
                      <a:r>
                        <a:rPr lang="zh-TW"/>
                        <a:t>可以將資料匯出成多種格式（如 CSV、Excel）。</a:t>
                      </a:r>
                      <a:endParaRPr/>
                    </a:p>
                  </a:txBody>
                  <a:tcPr marT="91425" marB="91425" marR="91425" marL="91425"/>
                </a:tc>
                <a:tc>
                  <a:txBody>
                    <a:bodyPr/>
                    <a:lstStyle/>
                    <a:p>
                      <a:pPr indent="0" lvl="0" marL="0" rtl="0" algn="l">
                        <a:spcBef>
                          <a:spcPts val="0"/>
                        </a:spcBef>
                        <a:spcAft>
                          <a:spcPts val="0"/>
                        </a:spcAft>
                        <a:buNone/>
                      </a:pPr>
                      <a:r>
                        <a:rPr lang="zh-TW" sz="1100">
                          <a:solidFill>
                            <a:srgbClr val="188038"/>
                          </a:solidFill>
                          <a:latin typeface="Roboto Mono"/>
                          <a:ea typeface="Roboto Mono"/>
                          <a:cs typeface="Roboto Mono"/>
                          <a:sym typeface="Roboto Mono"/>
                        </a:rPr>
                        <a:t>df.to_csv('output.csv')</a:t>
                      </a:r>
                      <a:r>
                        <a:rPr lang="zh-TW" sz="1100"/>
                        <a:t>, </a:t>
                      </a:r>
                      <a:r>
                        <a:rPr lang="zh-TW" sz="1100">
                          <a:solidFill>
                            <a:srgbClr val="188038"/>
                          </a:solidFill>
                          <a:latin typeface="Roboto Mono"/>
                          <a:ea typeface="Roboto Mono"/>
                          <a:cs typeface="Roboto Mono"/>
                          <a:sym typeface="Roboto Mono"/>
                        </a:rPr>
                        <a:t>df.to_excel('output.xlsx')</a:t>
                      </a:r>
                      <a:endParaRPr/>
                    </a:p>
                  </a:txBody>
                  <a:tcPr marT="91425" marB="91425" marR="91425" marL="91425"/>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7"/>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Python 控制邏輯-使用if/else與迴圈控制</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選擇/判斷結構</a:t>
            </a:r>
            <a:endParaRPr/>
          </a:p>
        </p:txBody>
      </p:sp>
      <p:sp>
        <p:nvSpPr>
          <p:cNvPr id="365" name="Google Shape;365;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遇到需要選擇條件時可以使用，依照給與的條件來判斷要不要執行某一段程式，有三種： </a:t>
            </a:r>
            <a:endParaRPr/>
          </a:p>
          <a:p>
            <a:pPr indent="-342900" lvl="0" marL="457200" rtl="0" algn="l">
              <a:spcBef>
                <a:spcPts val="1200"/>
              </a:spcBef>
              <a:spcAft>
                <a:spcPts val="0"/>
              </a:spcAft>
              <a:buSzPts val="1800"/>
              <a:buAutoNum type="arabicPeriod"/>
            </a:pPr>
            <a:r>
              <a:rPr lang="zh-TW"/>
              <a:t>if ... </a:t>
            </a:r>
            <a:r>
              <a:rPr lang="zh-TW"/>
              <a:t>(單選)</a:t>
            </a:r>
            <a:endParaRPr/>
          </a:p>
          <a:p>
            <a:pPr indent="-342900" lvl="0" marL="457200" rtl="0" algn="l">
              <a:spcBef>
                <a:spcPts val="0"/>
              </a:spcBef>
              <a:spcAft>
                <a:spcPts val="0"/>
              </a:spcAft>
              <a:buSzPts val="1800"/>
              <a:buAutoNum type="arabicPeriod"/>
            </a:pPr>
            <a:r>
              <a:rPr lang="zh-TW"/>
              <a:t>if ... else ... </a:t>
            </a:r>
            <a:r>
              <a:rPr lang="zh-TW"/>
              <a:t>(二選一)</a:t>
            </a:r>
            <a:endParaRPr/>
          </a:p>
          <a:p>
            <a:pPr indent="-342900" lvl="0" marL="457200" rtl="0" algn="l">
              <a:spcBef>
                <a:spcPts val="0"/>
              </a:spcBef>
              <a:spcAft>
                <a:spcPts val="0"/>
              </a:spcAft>
              <a:buSzPts val="1800"/>
              <a:buAutoNum type="arabicPeriod"/>
            </a:pPr>
            <a:r>
              <a:rPr lang="zh-TW"/>
              <a:t>if ... elif ... else ... (多重選擇)</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if ... (單選)</a:t>
            </a:r>
            <a:endParaRPr/>
          </a:p>
        </p:txBody>
      </p:sp>
      <p:sp>
        <p:nvSpPr>
          <p:cNvPr id="371" name="Google Shape;371;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if指令是：「如果怎樣怎樣(測試條件)，你就如何如何(程式區塊)」</a:t>
            </a:r>
            <a:endParaRPr/>
          </a:p>
        </p:txBody>
      </p:sp>
      <p:pic>
        <p:nvPicPr>
          <p:cNvPr id="372" name="Google Shape;372;p59"/>
          <p:cNvPicPr preferRelativeResize="0"/>
          <p:nvPr/>
        </p:nvPicPr>
        <p:blipFill>
          <a:blip r:embed="rId3">
            <a:alphaModFix/>
          </a:blip>
          <a:stretch>
            <a:fillRect/>
          </a:stretch>
        </p:blipFill>
        <p:spPr>
          <a:xfrm>
            <a:off x="5215324" y="1702400"/>
            <a:ext cx="3365001" cy="3185526"/>
          </a:xfrm>
          <a:prstGeom prst="rect">
            <a:avLst/>
          </a:prstGeom>
          <a:noFill/>
          <a:ln>
            <a:noFill/>
          </a:ln>
        </p:spPr>
      </p:pic>
      <p:pic>
        <p:nvPicPr>
          <p:cNvPr id="373" name="Google Shape;373;p59"/>
          <p:cNvPicPr preferRelativeResize="0"/>
          <p:nvPr/>
        </p:nvPicPr>
        <p:blipFill>
          <a:blip r:embed="rId4">
            <a:alphaModFix/>
          </a:blip>
          <a:stretch>
            <a:fillRect/>
          </a:stretch>
        </p:blipFill>
        <p:spPr>
          <a:xfrm>
            <a:off x="311703" y="1702400"/>
            <a:ext cx="4903620" cy="31855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if ... else ... (二選一)</a:t>
            </a:r>
            <a:endParaRPr/>
          </a:p>
        </p:txBody>
      </p:sp>
      <p:sp>
        <p:nvSpPr>
          <p:cNvPr id="379" name="Google Shape;379;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if...else...：「如果怎樣怎樣，你就這樣這樣， 否則就那樣那樣」。</a:t>
            </a:r>
            <a:endParaRPr/>
          </a:p>
        </p:txBody>
      </p:sp>
      <p:pic>
        <p:nvPicPr>
          <p:cNvPr id="380" name="Google Shape;380;p60"/>
          <p:cNvPicPr preferRelativeResize="0"/>
          <p:nvPr/>
        </p:nvPicPr>
        <p:blipFill>
          <a:blip r:embed="rId3">
            <a:alphaModFix/>
          </a:blip>
          <a:stretch>
            <a:fillRect/>
          </a:stretch>
        </p:blipFill>
        <p:spPr>
          <a:xfrm>
            <a:off x="4768300" y="1629175"/>
            <a:ext cx="4375700" cy="3343926"/>
          </a:xfrm>
          <a:prstGeom prst="rect">
            <a:avLst/>
          </a:prstGeom>
          <a:noFill/>
          <a:ln>
            <a:noFill/>
          </a:ln>
        </p:spPr>
      </p:pic>
      <p:pic>
        <p:nvPicPr>
          <p:cNvPr id="381" name="Google Shape;381;p60"/>
          <p:cNvPicPr preferRelativeResize="0"/>
          <p:nvPr/>
        </p:nvPicPr>
        <p:blipFill>
          <a:blip r:embed="rId4">
            <a:alphaModFix/>
          </a:blip>
          <a:stretch>
            <a:fillRect/>
          </a:stretch>
        </p:blipFill>
        <p:spPr>
          <a:xfrm>
            <a:off x="109375" y="1693200"/>
            <a:ext cx="4714351" cy="29914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if ... elif ... else ... (多重選擇)</a:t>
            </a:r>
            <a:endParaRPr/>
          </a:p>
        </p:txBody>
      </p:sp>
      <p:sp>
        <p:nvSpPr>
          <p:cNvPr id="387" name="Google Shape;387;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if...elif ... else...：「如果怎樣怎樣，你就這樣這樣，或者如果怎樣怎樣，你就這樣這樣， 否則就那樣那樣」。</a:t>
            </a:r>
            <a:endParaRPr/>
          </a:p>
        </p:txBody>
      </p:sp>
      <p:pic>
        <p:nvPicPr>
          <p:cNvPr id="388" name="Google Shape;388;p61"/>
          <p:cNvPicPr preferRelativeResize="0"/>
          <p:nvPr/>
        </p:nvPicPr>
        <p:blipFill>
          <a:blip r:embed="rId3">
            <a:alphaModFix/>
          </a:blip>
          <a:stretch>
            <a:fillRect/>
          </a:stretch>
        </p:blipFill>
        <p:spPr>
          <a:xfrm>
            <a:off x="5286175" y="1765300"/>
            <a:ext cx="3546125" cy="3219974"/>
          </a:xfrm>
          <a:prstGeom prst="rect">
            <a:avLst/>
          </a:prstGeom>
          <a:noFill/>
          <a:ln>
            <a:noFill/>
          </a:ln>
        </p:spPr>
      </p:pic>
      <p:pic>
        <p:nvPicPr>
          <p:cNvPr id="389" name="Google Shape;389;p61"/>
          <p:cNvPicPr preferRelativeResize="0"/>
          <p:nvPr/>
        </p:nvPicPr>
        <p:blipFill>
          <a:blip r:embed="rId4">
            <a:alphaModFix/>
          </a:blip>
          <a:stretch>
            <a:fillRect/>
          </a:stretch>
        </p:blipFill>
        <p:spPr>
          <a:xfrm>
            <a:off x="452050" y="1851725"/>
            <a:ext cx="4515174" cy="30471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練習</a:t>
            </a:r>
            <a:endParaRPr/>
          </a:p>
        </p:txBody>
      </p:sp>
      <p:sp>
        <p:nvSpPr>
          <p:cNvPr id="395" name="Google Shape;395;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輸入一個學生的分數，輸出該成績級別，分數級別如下：</a:t>
            </a:r>
            <a:endParaRPr/>
          </a:p>
        </p:txBody>
      </p:sp>
      <p:graphicFrame>
        <p:nvGraphicFramePr>
          <p:cNvPr id="396" name="Google Shape;396;p62"/>
          <p:cNvGraphicFramePr/>
          <p:nvPr/>
        </p:nvGraphicFramePr>
        <p:xfrm>
          <a:off x="311700" y="2055850"/>
          <a:ext cx="3000000" cy="3000000"/>
        </p:xfrm>
        <a:graphic>
          <a:graphicData uri="http://schemas.openxmlformats.org/drawingml/2006/table">
            <a:tbl>
              <a:tblPr>
                <a:noFill/>
                <a:tableStyleId>{7C26E4BD-2EE1-4CC8-BD85-72C400897770}</a:tableStyleId>
              </a:tblPr>
              <a:tblGrid>
                <a:gridCol w="925300"/>
                <a:gridCol w="925300"/>
              </a:tblGrid>
              <a:tr h="381000">
                <a:tc>
                  <a:txBody>
                    <a:bodyPr/>
                    <a:lstStyle/>
                    <a:p>
                      <a:pPr indent="0" lvl="0" marL="0" rtl="0" algn="l">
                        <a:spcBef>
                          <a:spcPts val="0"/>
                        </a:spcBef>
                        <a:spcAft>
                          <a:spcPts val="0"/>
                        </a:spcAft>
                        <a:buNone/>
                      </a:pPr>
                      <a:r>
                        <a:rPr lang="zh-TW"/>
                        <a:t>分數</a:t>
                      </a:r>
                      <a:endParaRPr/>
                    </a:p>
                  </a:txBody>
                  <a:tcPr marT="91425" marB="91425" marR="91425" marL="91425"/>
                </a:tc>
                <a:tc>
                  <a:txBody>
                    <a:bodyPr/>
                    <a:lstStyle/>
                    <a:p>
                      <a:pPr indent="0" lvl="0" marL="0" rtl="0" algn="l">
                        <a:spcBef>
                          <a:spcPts val="0"/>
                        </a:spcBef>
                        <a:spcAft>
                          <a:spcPts val="0"/>
                        </a:spcAft>
                        <a:buNone/>
                      </a:pPr>
                      <a:r>
                        <a:rPr lang="zh-TW"/>
                        <a:t>級別</a:t>
                      </a:r>
                      <a:endParaRPr/>
                    </a:p>
                  </a:txBody>
                  <a:tcPr marT="91425" marB="91425" marR="91425" marL="91425"/>
                </a:tc>
              </a:tr>
              <a:tr h="381000">
                <a:tc>
                  <a:txBody>
                    <a:bodyPr/>
                    <a:lstStyle/>
                    <a:p>
                      <a:pPr indent="0" lvl="0" marL="0" rtl="0" algn="l">
                        <a:spcBef>
                          <a:spcPts val="0"/>
                        </a:spcBef>
                        <a:spcAft>
                          <a:spcPts val="0"/>
                        </a:spcAft>
                        <a:buNone/>
                      </a:pPr>
                      <a:r>
                        <a:rPr lang="zh-TW"/>
                        <a:t>90</a:t>
                      </a:r>
                      <a:r>
                        <a:rPr lang="zh-TW"/>
                        <a:t>分以上</a:t>
                      </a:r>
                      <a:endParaRPr/>
                    </a:p>
                  </a:txBody>
                  <a:tcPr marT="91425" marB="91425" marR="91425" marL="91425"/>
                </a:tc>
                <a:tc>
                  <a:txBody>
                    <a:bodyPr/>
                    <a:lstStyle/>
                    <a:p>
                      <a:pPr indent="0" lvl="0" marL="0" rtl="0" algn="l">
                        <a:spcBef>
                          <a:spcPts val="0"/>
                        </a:spcBef>
                        <a:spcAft>
                          <a:spcPts val="0"/>
                        </a:spcAft>
                        <a:buNone/>
                      </a:pPr>
                      <a:r>
                        <a:rPr lang="zh-TW"/>
                        <a:t>A</a:t>
                      </a:r>
                      <a:endParaRPr/>
                    </a:p>
                  </a:txBody>
                  <a:tcPr marT="91425" marB="91425" marR="91425" marL="91425"/>
                </a:tc>
              </a:tr>
              <a:tr h="381000">
                <a:tc>
                  <a:txBody>
                    <a:bodyPr/>
                    <a:lstStyle/>
                    <a:p>
                      <a:pPr indent="0" lvl="0" marL="0" rtl="0" algn="l">
                        <a:spcBef>
                          <a:spcPts val="0"/>
                        </a:spcBef>
                        <a:spcAft>
                          <a:spcPts val="0"/>
                        </a:spcAft>
                        <a:buNone/>
                      </a:pPr>
                      <a:r>
                        <a:rPr lang="zh-TW"/>
                        <a:t>80~89</a:t>
                      </a:r>
                      <a:endParaRPr/>
                    </a:p>
                  </a:txBody>
                  <a:tcPr marT="91425" marB="91425" marR="91425" marL="91425"/>
                </a:tc>
                <a:tc>
                  <a:txBody>
                    <a:bodyPr/>
                    <a:lstStyle/>
                    <a:p>
                      <a:pPr indent="0" lvl="0" marL="0" rtl="0" algn="l">
                        <a:spcBef>
                          <a:spcPts val="0"/>
                        </a:spcBef>
                        <a:spcAft>
                          <a:spcPts val="0"/>
                        </a:spcAft>
                        <a:buNone/>
                      </a:pPr>
                      <a:r>
                        <a:rPr lang="zh-TW"/>
                        <a:t>B</a:t>
                      </a:r>
                      <a:endParaRPr/>
                    </a:p>
                  </a:txBody>
                  <a:tcPr marT="91425" marB="91425" marR="91425" marL="91425"/>
                </a:tc>
              </a:tr>
              <a:tr h="381000">
                <a:tc>
                  <a:txBody>
                    <a:bodyPr/>
                    <a:lstStyle/>
                    <a:p>
                      <a:pPr indent="0" lvl="0" marL="0" rtl="0" algn="l">
                        <a:spcBef>
                          <a:spcPts val="0"/>
                        </a:spcBef>
                        <a:spcAft>
                          <a:spcPts val="0"/>
                        </a:spcAft>
                        <a:buNone/>
                      </a:pPr>
                      <a:r>
                        <a:rPr lang="zh-TW"/>
                        <a:t>7</a:t>
                      </a:r>
                      <a:r>
                        <a:rPr lang="zh-TW"/>
                        <a:t>0~79</a:t>
                      </a:r>
                      <a:endParaRPr/>
                    </a:p>
                  </a:txBody>
                  <a:tcPr marT="91425" marB="91425" marR="91425" marL="91425"/>
                </a:tc>
                <a:tc>
                  <a:txBody>
                    <a:bodyPr/>
                    <a:lstStyle/>
                    <a:p>
                      <a:pPr indent="0" lvl="0" marL="0" rtl="0" algn="l">
                        <a:spcBef>
                          <a:spcPts val="0"/>
                        </a:spcBef>
                        <a:spcAft>
                          <a:spcPts val="0"/>
                        </a:spcAft>
                        <a:buNone/>
                      </a:pPr>
                      <a:r>
                        <a:rPr lang="zh-TW"/>
                        <a:t>C</a:t>
                      </a:r>
                      <a:endParaRPr/>
                    </a:p>
                  </a:txBody>
                  <a:tcPr marT="91425" marB="91425" marR="91425" marL="91425"/>
                </a:tc>
              </a:tr>
              <a:tr h="381000">
                <a:tc>
                  <a:txBody>
                    <a:bodyPr/>
                    <a:lstStyle/>
                    <a:p>
                      <a:pPr indent="0" lvl="0" marL="0" rtl="0" algn="l">
                        <a:spcBef>
                          <a:spcPts val="0"/>
                        </a:spcBef>
                        <a:spcAft>
                          <a:spcPts val="0"/>
                        </a:spcAft>
                        <a:buNone/>
                      </a:pPr>
                      <a:r>
                        <a:rPr lang="zh-TW"/>
                        <a:t>6</a:t>
                      </a:r>
                      <a:r>
                        <a:rPr lang="zh-TW"/>
                        <a:t>0~69</a:t>
                      </a:r>
                      <a:endParaRPr/>
                    </a:p>
                  </a:txBody>
                  <a:tcPr marT="91425" marB="91425" marR="91425" marL="91425"/>
                </a:tc>
                <a:tc>
                  <a:txBody>
                    <a:bodyPr/>
                    <a:lstStyle/>
                    <a:p>
                      <a:pPr indent="0" lvl="0" marL="0" rtl="0" algn="l">
                        <a:spcBef>
                          <a:spcPts val="0"/>
                        </a:spcBef>
                        <a:spcAft>
                          <a:spcPts val="0"/>
                        </a:spcAft>
                        <a:buNone/>
                      </a:pPr>
                      <a:r>
                        <a:rPr lang="zh-TW"/>
                        <a:t>D</a:t>
                      </a:r>
                      <a:endParaRPr/>
                    </a:p>
                  </a:txBody>
                  <a:tcPr marT="91425" marB="91425" marR="91425" marL="91425"/>
                </a:tc>
              </a:tr>
              <a:tr h="381000">
                <a:tc>
                  <a:txBody>
                    <a:bodyPr/>
                    <a:lstStyle/>
                    <a:p>
                      <a:pPr indent="0" lvl="0" marL="0" rtl="0" algn="l">
                        <a:spcBef>
                          <a:spcPts val="0"/>
                        </a:spcBef>
                        <a:spcAft>
                          <a:spcPts val="0"/>
                        </a:spcAft>
                        <a:buNone/>
                      </a:pPr>
                      <a:r>
                        <a:rPr lang="zh-TW"/>
                        <a:t>60</a:t>
                      </a:r>
                      <a:r>
                        <a:rPr lang="zh-TW"/>
                        <a:t>分以下</a:t>
                      </a:r>
                      <a:endParaRPr/>
                    </a:p>
                  </a:txBody>
                  <a:tcPr marT="91425" marB="91425" marR="91425" marL="91425"/>
                </a:tc>
                <a:tc>
                  <a:txBody>
                    <a:bodyPr/>
                    <a:lstStyle/>
                    <a:p>
                      <a:pPr indent="0" lvl="0" marL="0" rtl="0" algn="l">
                        <a:spcBef>
                          <a:spcPts val="0"/>
                        </a:spcBef>
                        <a:spcAft>
                          <a:spcPts val="0"/>
                        </a:spcAft>
                        <a:buNone/>
                      </a:pPr>
                      <a:r>
                        <a:rPr lang="zh-TW"/>
                        <a:t>E</a:t>
                      </a:r>
                      <a:endParaRPr/>
                    </a:p>
                  </a:txBody>
                  <a:tcPr marT="91425" marB="91425" marR="91425" marL="91425"/>
                </a:tc>
              </a:tr>
            </a:tbl>
          </a:graphicData>
        </a:graphic>
      </p:graphicFrame>
      <p:sp>
        <p:nvSpPr>
          <p:cNvPr id="397" name="Google Shape;397;p62"/>
          <p:cNvSpPr txBox="1"/>
          <p:nvPr/>
        </p:nvSpPr>
        <p:spPr>
          <a:xfrm>
            <a:off x="3535475" y="1629325"/>
            <a:ext cx="33594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t>score = xx</a:t>
            </a:r>
            <a:endParaRPr sz="1700"/>
          </a:p>
          <a:p>
            <a:pPr indent="0" lvl="0" marL="0" rtl="0" algn="l">
              <a:spcBef>
                <a:spcPts val="0"/>
              </a:spcBef>
              <a:spcAft>
                <a:spcPts val="0"/>
              </a:spcAft>
              <a:buNone/>
            </a:pPr>
            <a:r>
              <a:rPr lang="zh-TW" sz="1700"/>
              <a:t>if score &gt;= 90:</a:t>
            </a:r>
            <a:endParaRPr sz="1700"/>
          </a:p>
          <a:p>
            <a:pPr indent="0" lvl="0" marL="0" rtl="0" algn="l">
              <a:spcBef>
                <a:spcPts val="0"/>
              </a:spcBef>
              <a:spcAft>
                <a:spcPts val="0"/>
              </a:spcAft>
              <a:buNone/>
            </a:pPr>
            <a:r>
              <a:rPr lang="zh-TW" sz="1700"/>
              <a:t>  grade = "A"</a:t>
            </a:r>
            <a:endParaRPr sz="1700"/>
          </a:p>
          <a:p>
            <a:pPr indent="0" lvl="0" marL="0" rtl="0" algn="l">
              <a:spcBef>
                <a:spcPts val="0"/>
              </a:spcBef>
              <a:spcAft>
                <a:spcPts val="0"/>
              </a:spcAft>
              <a:buNone/>
            </a:pPr>
            <a:r>
              <a:rPr lang="zh-TW" sz="1700"/>
              <a:t>elif score &gt;= 80:</a:t>
            </a:r>
            <a:endParaRPr sz="1700"/>
          </a:p>
          <a:p>
            <a:pPr indent="0" lvl="0" marL="0" rtl="0" algn="l">
              <a:spcBef>
                <a:spcPts val="0"/>
              </a:spcBef>
              <a:spcAft>
                <a:spcPts val="0"/>
              </a:spcAft>
              <a:buNone/>
            </a:pPr>
            <a:r>
              <a:rPr lang="zh-TW" sz="1700"/>
              <a:t>  grade = "B"</a:t>
            </a:r>
            <a:endParaRPr sz="1700"/>
          </a:p>
          <a:p>
            <a:pPr indent="0" lvl="0" marL="0" rtl="0" algn="l">
              <a:spcBef>
                <a:spcPts val="0"/>
              </a:spcBef>
              <a:spcAft>
                <a:spcPts val="0"/>
              </a:spcAft>
              <a:buNone/>
            </a:pPr>
            <a:r>
              <a:rPr lang="zh-TW" sz="1700"/>
              <a:t>elif score &gt;= 70:</a:t>
            </a:r>
            <a:endParaRPr sz="1700"/>
          </a:p>
          <a:p>
            <a:pPr indent="0" lvl="0" marL="0" rtl="0" algn="l">
              <a:spcBef>
                <a:spcPts val="0"/>
              </a:spcBef>
              <a:spcAft>
                <a:spcPts val="0"/>
              </a:spcAft>
              <a:buNone/>
            </a:pPr>
            <a:r>
              <a:rPr lang="zh-TW" sz="1700"/>
              <a:t>  grade = "C"</a:t>
            </a:r>
            <a:endParaRPr sz="1700"/>
          </a:p>
          <a:p>
            <a:pPr indent="0" lvl="0" marL="0" rtl="0" algn="l">
              <a:spcBef>
                <a:spcPts val="0"/>
              </a:spcBef>
              <a:spcAft>
                <a:spcPts val="0"/>
              </a:spcAft>
              <a:buNone/>
            </a:pPr>
            <a:r>
              <a:rPr lang="zh-TW" sz="1700"/>
              <a:t>elif score &gt;= 60:</a:t>
            </a:r>
            <a:endParaRPr sz="1700"/>
          </a:p>
          <a:p>
            <a:pPr indent="0" lvl="0" marL="0" rtl="0" algn="l">
              <a:spcBef>
                <a:spcPts val="0"/>
              </a:spcBef>
              <a:spcAft>
                <a:spcPts val="0"/>
              </a:spcAft>
              <a:buNone/>
            </a:pPr>
            <a:r>
              <a:rPr lang="zh-TW" sz="1700"/>
              <a:t>  grade = "D"</a:t>
            </a:r>
            <a:endParaRPr sz="1700"/>
          </a:p>
          <a:p>
            <a:pPr indent="0" lvl="0" marL="0" rtl="0" algn="l">
              <a:spcBef>
                <a:spcPts val="0"/>
              </a:spcBef>
              <a:spcAft>
                <a:spcPts val="0"/>
              </a:spcAft>
              <a:buNone/>
            </a:pPr>
            <a:r>
              <a:rPr lang="zh-TW" sz="1700"/>
              <a:t>else:</a:t>
            </a:r>
            <a:endParaRPr sz="1700"/>
          </a:p>
          <a:p>
            <a:pPr indent="0" lvl="0" marL="0" rtl="0" algn="l">
              <a:spcBef>
                <a:spcPts val="0"/>
              </a:spcBef>
              <a:spcAft>
                <a:spcPts val="0"/>
              </a:spcAft>
              <a:buNone/>
            </a:pPr>
            <a:r>
              <a:rPr lang="zh-TW" sz="1700"/>
              <a:t>  grade = "F"</a:t>
            </a:r>
            <a:endParaRPr sz="1700"/>
          </a:p>
          <a:p>
            <a:pPr indent="0" lvl="0" marL="0" rtl="0" algn="l">
              <a:spcBef>
                <a:spcPts val="0"/>
              </a:spcBef>
              <a:spcAft>
                <a:spcPts val="0"/>
              </a:spcAft>
              <a:buNone/>
            </a:pPr>
            <a:r>
              <a:rPr lang="zh-TW" sz="1700"/>
              <a:t>print("此成績級別為", grade)</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for </a:t>
            </a:r>
            <a:r>
              <a:rPr lang="zh-TW"/>
              <a:t>迴圈</a:t>
            </a:r>
            <a:endParaRPr/>
          </a:p>
        </p:txBody>
      </p:sp>
      <p:sp>
        <p:nvSpPr>
          <p:cNvPr id="403" name="Google Shape;403;p63"/>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500">
                <a:solidFill>
                  <a:srgbClr val="242424"/>
                </a:solidFill>
                <a:highlight>
                  <a:srgbClr val="FFFFFF"/>
                </a:highlight>
                <a:latin typeface="Georgia"/>
                <a:ea typeface="Georgia"/>
                <a:cs typeface="Georgia"/>
                <a:sym typeface="Georgia"/>
              </a:rPr>
              <a:t>迴圈 (loop) 的作用是讓指定的某段敘述在條件符合的情況下一直</a:t>
            </a:r>
            <a:r>
              <a:rPr b="1" lang="zh-TW">
                <a:solidFill>
                  <a:schemeClr val="accent5"/>
                </a:solidFill>
                <a:highlight>
                  <a:srgbClr val="FFFFFF"/>
                </a:highlight>
                <a:latin typeface="Georgia"/>
                <a:ea typeface="Georgia"/>
                <a:cs typeface="Georgia"/>
                <a:sym typeface="Georgia"/>
              </a:rPr>
              <a:t>重覆執行</a:t>
            </a:r>
            <a:r>
              <a:rPr lang="zh-TW" sz="1500">
                <a:solidFill>
                  <a:srgbClr val="242424"/>
                </a:solidFill>
                <a:highlight>
                  <a:srgbClr val="FFFFFF"/>
                </a:highlight>
                <a:latin typeface="Georgia"/>
                <a:ea typeface="Georgia"/>
                <a:cs typeface="Georgia"/>
                <a:sym typeface="Georgia"/>
              </a:rPr>
              <a:t>。</a:t>
            </a:r>
            <a:endParaRPr sz="1500">
              <a:solidFill>
                <a:srgbClr val="242424"/>
              </a:solidFill>
              <a:highlight>
                <a:srgbClr val="FFFFFF"/>
              </a:highlight>
              <a:latin typeface="Georgia"/>
              <a:ea typeface="Georgia"/>
              <a:cs typeface="Georgia"/>
              <a:sym typeface="Georgia"/>
            </a:endParaRPr>
          </a:p>
          <a:p>
            <a:pPr indent="0" lvl="0" marL="0" rtl="0" algn="l">
              <a:spcBef>
                <a:spcPts val="1200"/>
              </a:spcBef>
              <a:spcAft>
                <a:spcPts val="0"/>
              </a:spcAft>
              <a:buNone/>
            </a:pPr>
            <a:r>
              <a:rPr lang="zh-TW" sz="1500">
                <a:solidFill>
                  <a:srgbClr val="242424"/>
                </a:solidFill>
                <a:highlight>
                  <a:srgbClr val="FFFFFF"/>
                </a:highlight>
                <a:latin typeface="Georgia"/>
                <a:ea typeface="Georgia"/>
                <a:cs typeface="Georgia"/>
                <a:sym typeface="Georgia"/>
              </a:rPr>
              <a:t>「for 迴圈」的使用的方法為「for 變數 in 可迭代的物件:」，執行之後，for 迴圈會依序將可以迭代的物件取出，賦值給指定的變數 ( 可迭代的物件像是字串、串列、字典、集合...等 )。</a:t>
            </a:r>
            <a:endParaRPr sz="1500">
              <a:solidFill>
                <a:srgbClr val="242424"/>
              </a:solidFill>
              <a:highlight>
                <a:srgbClr val="FFFFFF"/>
              </a:highlight>
              <a:latin typeface="Georgia"/>
              <a:ea typeface="Georgia"/>
              <a:cs typeface="Georgia"/>
              <a:sym typeface="Georgia"/>
            </a:endParaRPr>
          </a:p>
          <a:p>
            <a:pPr indent="0" lvl="0" marL="0" rtl="0" algn="l">
              <a:spcBef>
                <a:spcPts val="1200"/>
              </a:spcBef>
              <a:spcAft>
                <a:spcPts val="1200"/>
              </a:spcAft>
              <a:buNone/>
            </a:pPr>
            <a:r>
              <a:rPr b="1" lang="zh-TW" sz="2000">
                <a:solidFill>
                  <a:schemeClr val="accent5"/>
                </a:solidFill>
                <a:highlight>
                  <a:srgbClr val="FFFFFF"/>
                </a:highlight>
                <a:latin typeface="Georgia"/>
                <a:ea typeface="Georgia"/>
                <a:cs typeface="Georgia"/>
                <a:sym typeface="Georgia"/>
              </a:rPr>
              <a:t>要注意縮排!!</a:t>
            </a:r>
            <a:endParaRPr b="1" sz="2000">
              <a:solidFill>
                <a:schemeClr val="accent5"/>
              </a:solidFill>
              <a:highlight>
                <a:srgbClr val="FFFFFF"/>
              </a:highlight>
              <a:latin typeface="Georgia"/>
              <a:ea typeface="Georgia"/>
              <a:cs typeface="Georgia"/>
              <a:sym typeface="Georgia"/>
            </a:endParaRPr>
          </a:p>
        </p:txBody>
      </p:sp>
      <p:sp>
        <p:nvSpPr>
          <p:cNvPr id="404" name="Google Shape;404;p63"/>
          <p:cNvSpPr txBox="1"/>
          <p:nvPr/>
        </p:nvSpPr>
        <p:spPr>
          <a:xfrm>
            <a:off x="2253175" y="2187575"/>
            <a:ext cx="30000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600"/>
              <a:t>for i in 'abc':</a:t>
            </a:r>
            <a:endParaRPr sz="1600"/>
          </a:p>
          <a:p>
            <a:pPr indent="0" lvl="0" marL="0" rtl="0" algn="l">
              <a:spcBef>
                <a:spcPts val="0"/>
              </a:spcBef>
              <a:spcAft>
                <a:spcPts val="0"/>
              </a:spcAft>
              <a:buNone/>
            </a:pPr>
            <a:r>
              <a:rPr lang="zh-TW" sz="1600"/>
              <a:t>    print(i)    # a  b  c ( 字串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zh-TW" sz="1600"/>
              <a:t>for i in ['a','b','c']:</a:t>
            </a:r>
            <a:endParaRPr sz="1600"/>
          </a:p>
          <a:p>
            <a:pPr indent="0" lvl="0" marL="0" rtl="0" algn="l">
              <a:spcBef>
                <a:spcPts val="0"/>
              </a:spcBef>
              <a:spcAft>
                <a:spcPts val="0"/>
              </a:spcAft>
              <a:buNone/>
            </a:pPr>
            <a:r>
              <a:rPr lang="zh-TW" sz="1600"/>
              <a:t>    print(i)    # a  b  c ( 串列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zh-TW" sz="1600"/>
              <a:t>for i in {'a','b','c'}:</a:t>
            </a:r>
            <a:endParaRPr sz="1600"/>
          </a:p>
          <a:p>
            <a:pPr indent="0" lvl="0" marL="0" rtl="0" algn="l">
              <a:spcBef>
                <a:spcPts val="0"/>
              </a:spcBef>
              <a:spcAft>
                <a:spcPts val="0"/>
              </a:spcAft>
              <a:buNone/>
            </a:pPr>
            <a:r>
              <a:rPr lang="zh-TW" sz="1600"/>
              <a:t>    print(i)    # c  b  a ( 集合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zh-TW" sz="1600"/>
              <a:t>for i in {'a':1,'b':2,'c':3}:</a:t>
            </a:r>
            <a:endParaRPr sz="1600"/>
          </a:p>
          <a:p>
            <a:pPr indent="0" lvl="0" marL="0" rtl="0" algn="l">
              <a:spcBef>
                <a:spcPts val="0"/>
              </a:spcBef>
              <a:spcAft>
                <a:spcPts val="0"/>
              </a:spcAft>
              <a:buNone/>
            </a:pPr>
            <a:r>
              <a:rPr lang="zh-TW" sz="1600"/>
              <a:t>    print(i)    # a  b  c ( 字典 )</a:t>
            </a:r>
            <a:endParaRPr sz="16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for 迴圈</a:t>
            </a:r>
            <a:endParaRPr/>
          </a:p>
        </p:txBody>
      </p:sp>
      <p:sp>
        <p:nvSpPr>
          <p:cNvPr id="410" name="Google Shape;410;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如果將 for 迴圈放在 for 迴圈裡，就會形成「巢狀迴圈」，巢狀迴圈會先從「最內層」的迴圈開始執行，執行完畢後再執行外層的迴圈</a:t>
            </a:r>
            <a:endParaRPr/>
          </a:p>
        </p:txBody>
      </p:sp>
      <p:sp>
        <p:nvSpPr>
          <p:cNvPr id="411" name="Google Shape;411;p64"/>
          <p:cNvSpPr txBox="1"/>
          <p:nvPr/>
        </p:nvSpPr>
        <p:spPr>
          <a:xfrm>
            <a:off x="1618800" y="2571750"/>
            <a:ext cx="32205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000"/>
              <a:t>for a in ['x','y','z']:</a:t>
            </a:r>
            <a:endParaRPr sz="2000"/>
          </a:p>
          <a:p>
            <a:pPr indent="0" lvl="0" marL="0" rtl="0" algn="l">
              <a:spcBef>
                <a:spcPts val="0"/>
              </a:spcBef>
              <a:spcAft>
                <a:spcPts val="0"/>
              </a:spcAft>
              <a:buNone/>
            </a:pPr>
            <a:r>
              <a:rPr lang="zh-TW" sz="2000"/>
              <a:t>    for b in [1,2,3]:</a:t>
            </a:r>
            <a:endParaRPr sz="2000"/>
          </a:p>
          <a:p>
            <a:pPr indent="0" lvl="0" marL="0" rtl="0" algn="l">
              <a:spcBef>
                <a:spcPts val="0"/>
              </a:spcBef>
              <a:spcAft>
                <a:spcPts val="0"/>
              </a:spcAft>
              <a:buNone/>
            </a:pPr>
            <a:r>
              <a:rPr lang="zh-TW" sz="2000"/>
              <a:t>        print(b)</a:t>
            </a:r>
            <a:endParaRPr sz="2000"/>
          </a:p>
          <a:p>
            <a:pPr indent="0" lvl="0" marL="0" rtl="0" algn="l">
              <a:spcBef>
                <a:spcPts val="0"/>
              </a:spcBef>
              <a:spcAft>
                <a:spcPts val="0"/>
              </a:spcAft>
              <a:buNone/>
            </a:pPr>
            <a:r>
              <a:rPr lang="zh-TW" sz="2000"/>
              <a:t>  print(a)</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zh-TW" sz="2000"/>
              <a:t># 1 2 3 x 1 2 3 y 1 2 3 z</a:t>
            </a:r>
            <a:endParaRPr sz="20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練習</a:t>
            </a:r>
            <a:endParaRPr/>
          </a:p>
        </p:txBody>
      </p:sp>
      <p:sp>
        <p:nvSpPr>
          <p:cNvPr id="417" name="Google Shape;417;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請使用for迴圈將空白(" ")及星號(*)印出成以下圖示</a:t>
            </a:r>
            <a:endParaRPr/>
          </a:p>
        </p:txBody>
      </p:sp>
      <p:pic>
        <p:nvPicPr>
          <p:cNvPr id="418" name="Google Shape;418;p65"/>
          <p:cNvPicPr preferRelativeResize="0"/>
          <p:nvPr/>
        </p:nvPicPr>
        <p:blipFill>
          <a:blip r:embed="rId3">
            <a:alphaModFix/>
          </a:blip>
          <a:stretch>
            <a:fillRect/>
          </a:stretch>
        </p:blipFill>
        <p:spPr>
          <a:xfrm>
            <a:off x="311700" y="2027850"/>
            <a:ext cx="1543050" cy="2400300"/>
          </a:xfrm>
          <a:prstGeom prst="rect">
            <a:avLst/>
          </a:prstGeom>
          <a:noFill/>
          <a:ln>
            <a:noFill/>
          </a:ln>
        </p:spPr>
      </p:pic>
      <p:pic>
        <p:nvPicPr>
          <p:cNvPr id="419" name="Google Shape;419;p65"/>
          <p:cNvPicPr preferRelativeResize="0"/>
          <p:nvPr/>
        </p:nvPicPr>
        <p:blipFill>
          <a:blip r:embed="rId4">
            <a:alphaModFix/>
          </a:blip>
          <a:stretch>
            <a:fillRect/>
          </a:stretch>
        </p:blipFill>
        <p:spPr>
          <a:xfrm>
            <a:off x="2896026" y="2027850"/>
            <a:ext cx="5020067" cy="24003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while </a:t>
            </a:r>
            <a:r>
              <a:rPr lang="zh-TW"/>
              <a:t>迴圈</a:t>
            </a:r>
            <a:endParaRPr/>
          </a:p>
        </p:txBody>
      </p:sp>
      <p:sp>
        <p:nvSpPr>
          <p:cNvPr id="425" name="Google Shape;425;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「while 迴圈」是「根據條件判斷，決定是否重複或停止」的迴圈，用法為「while 條件:」，如果條件判斷為 True，就會不斷執行迴圈內容，如果判斷為 False，就會停止迴圈</a:t>
            </a:r>
            <a:endParaRPr/>
          </a:p>
          <a:p>
            <a:pPr indent="0" lvl="0" marL="0" rtl="0" algn="l">
              <a:spcBef>
                <a:spcPts val="1200"/>
              </a:spcBef>
              <a:spcAft>
                <a:spcPts val="1200"/>
              </a:spcAft>
              <a:buNone/>
            </a:pPr>
            <a:r>
              <a:rPr b="1" lang="zh-TW" sz="2000">
                <a:solidFill>
                  <a:schemeClr val="accent5"/>
                </a:solidFill>
                <a:highlight>
                  <a:srgbClr val="FFFFFF"/>
                </a:highlight>
                <a:latin typeface="Georgia"/>
                <a:ea typeface="Georgia"/>
                <a:cs typeface="Georgia"/>
                <a:sym typeface="Georgia"/>
              </a:rPr>
              <a:t>要注意縮排!!</a:t>
            </a:r>
            <a:endParaRPr/>
          </a:p>
        </p:txBody>
      </p:sp>
      <p:sp>
        <p:nvSpPr>
          <p:cNvPr id="426" name="Google Shape;426;p66"/>
          <p:cNvSpPr txBox="1"/>
          <p:nvPr/>
        </p:nvSpPr>
        <p:spPr>
          <a:xfrm>
            <a:off x="2701650" y="2482875"/>
            <a:ext cx="3000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100"/>
              <a:t>a = 1</a:t>
            </a:r>
            <a:endParaRPr sz="2100"/>
          </a:p>
          <a:p>
            <a:pPr indent="0" lvl="0" marL="0" rtl="0" algn="l">
              <a:spcBef>
                <a:spcPts val="0"/>
              </a:spcBef>
              <a:spcAft>
                <a:spcPts val="0"/>
              </a:spcAft>
              <a:buNone/>
            </a:pPr>
            <a:r>
              <a:rPr lang="zh-TW" sz="2100"/>
              <a:t>while a&lt;=5:</a:t>
            </a:r>
            <a:endParaRPr sz="2100"/>
          </a:p>
          <a:p>
            <a:pPr indent="0" lvl="0" marL="0" rtl="0" algn="l">
              <a:spcBef>
                <a:spcPts val="0"/>
              </a:spcBef>
              <a:spcAft>
                <a:spcPts val="0"/>
              </a:spcAft>
              <a:buNone/>
            </a:pPr>
            <a:r>
              <a:rPr lang="zh-TW" sz="2100"/>
              <a:t>    print(a)</a:t>
            </a:r>
            <a:endParaRPr sz="2100"/>
          </a:p>
          <a:p>
            <a:pPr indent="0" lvl="0" marL="0" rtl="0" algn="l">
              <a:spcBef>
                <a:spcPts val="0"/>
              </a:spcBef>
              <a:spcAft>
                <a:spcPts val="0"/>
              </a:spcAft>
              <a:buNone/>
            </a:pPr>
            <a:r>
              <a:rPr lang="zh-TW" sz="2100"/>
              <a:t>    a += 1</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zh-TW" sz="2100"/>
              <a:t># 1 2 3 4 5</a:t>
            </a:r>
            <a:endParaRPr sz="21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7"/>
          <p:cNvSpPr txBox="1"/>
          <p:nvPr>
            <p:ph type="title"/>
          </p:nvPr>
        </p:nvSpPr>
        <p:spPr>
          <a:xfrm>
            <a:off x="311700" y="138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break 和 continue</a:t>
            </a:r>
            <a:endParaRPr/>
          </a:p>
        </p:txBody>
      </p:sp>
      <p:sp>
        <p:nvSpPr>
          <p:cNvPr id="432" name="Google Shape;432;p67"/>
          <p:cNvSpPr txBox="1"/>
          <p:nvPr>
            <p:ph idx="1" type="body"/>
          </p:nvPr>
        </p:nvSpPr>
        <p:spPr>
          <a:xfrm>
            <a:off x="311700" y="711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在操作迴圈的過程中，可以使用「break 中斷」和「continue 跳出」兩個方法來「停止迴圈」，通常 break 和 continue 會搭配邏輯判斷一同使用。</a:t>
            </a:r>
            <a:endParaRPr/>
          </a:p>
          <a:p>
            <a:pPr indent="0" lvl="0" marL="0" rtl="0" algn="l">
              <a:spcBef>
                <a:spcPts val="1200"/>
              </a:spcBef>
              <a:spcAft>
                <a:spcPts val="0"/>
              </a:spcAft>
              <a:buNone/>
            </a:pPr>
            <a:r>
              <a:rPr lang="zh-TW"/>
              <a:t>break 和 continue 的差別在於 break 會將整個迴圈停止，而 continue 是將迴圈目前執行的程式停止，然後再次執行迴圈，下圖為兩者的執行差異。</a:t>
            </a:r>
            <a:endParaRPr/>
          </a:p>
          <a:p>
            <a:pPr indent="0" lvl="0" marL="0" rtl="0" algn="l">
              <a:spcBef>
                <a:spcPts val="1200"/>
              </a:spcBef>
              <a:spcAft>
                <a:spcPts val="1200"/>
              </a:spcAft>
              <a:buNone/>
            </a:pPr>
            <a:r>
              <a:t/>
            </a:r>
            <a:endParaRPr/>
          </a:p>
        </p:txBody>
      </p:sp>
      <p:pic>
        <p:nvPicPr>
          <p:cNvPr id="433" name="Google Shape;433;p67"/>
          <p:cNvPicPr preferRelativeResize="0"/>
          <p:nvPr/>
        </p:nvPicPr>
        <p:blipFill>
          <a:blip r:embed="rId3">
            <a:alphaModFix/>
          </a:blip>
          <a:stretch>
            <a:fillRect/>
          </a:stretch>
        </p:blipFill>
        <p:spPr>
          <a:xfrm>
            <a:off x="2203402" y="2264050"/>
            <a:ext cx="3588574" cy="2682550"/>
          </a:xfrm>
          <a:prstGeom prst="rect">
            <a:avLst/>
          </a:prstGeom>
          <a:noFill/>
          <a:ln>
            <a:noFill/>
          </a:ln>
        </p:spPr>
      </p:pic>
      <p:sp>
        <p:nvSpPr>
          <p:cNvPr id="434" name="Google Shape;434;p67"/>
          <p:cNvSpPr txBox="1"/>
          <p:nvPr/>
        </p:nvSpPr>
        <p:spPr>
          <a:xfrm>
            <a:off x="1717225" y="4812625"/>
            <a:ext cx="660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https://steam.oxxostudio.tw/category/python/basic/loop.html</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練習</a:t>
            </a:r>
            <a:endParaRPr/>
          </a:p>
        </p:txBody>
      </p:sp>
      <p:sp>
        <p:nvSpPr>
          <p:cNvPr id="440" name="Google Shape;440;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當 i 是奇數時跳過（使用 continue），當找到大於 6 的偶數時終止迴圈（使用 break）</a:t>
            </a:r>
            <a:endParaRPr/>
          </a:p>
        </p:txBody>
      </p:sp>
      <p:sp>
        <p:nvSpPr>
          <p:cNvPr id="441" name="Google Shape;441;p68"/>
          <p:cNvSpPr txBox="1"/>
          <p:nvPr/>
        </p:nvSpPr>
        <p:spPr>
          <a:xfrm>
            <a:off x="756375" y="2117925"/>
            <a:ext cx="80178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for i in range(10): </a:t>
            </a:r>
            <a:endParaRPr/>
          </a:p>
          <a:p>
            <a:pPr indent="0" lvl="0" marL="457200" rtl="0" algn="l">
              <a:spcBef>
                <a:spcPts val="0"/>
              </a:spcBef>
              <a:spcAft>
                <a:spcPts val="0"/>
              </a:spcAft>
              <a:buNone/>
            </a:pPr>
            <a:r>
              <a:rPr lang="zh-TW"/>
              <a:t>if i % 2 != 0: # 如果 i 是奇數，跳過</a:t>
            </a:r>
            <a:endParaRPr/>
          </a:p>
          <a:p>
            <a:pPr indent="457200" lvl="0" marL="457200" rtl="0" algn="l">
              <a:spcBef>
                <a:spcPts val="0"/>
              </a:spcBef>
              <a:spcAft>
                <a:spcPts val="0"/>
              </a:spcAft>
              <a:buNone/>
            </a:pPr>
            <a:r>
              <a:rPr lang="zh-TW"/>
              <a:t> continue </a:t>
            </a:r>
            <a:endParaRPr/>
          </a:p>
          <a:p>
            <a:pPr indent="0" lvl="0" marL="457200" rtl="0" algn="l">
              <a:spcBef>
                <a:spcPts val="0"/>
              </a:spcBef>
              <a:spcAft>
                <a:spcPts val="0"/>
              </a:spcAft>
              <a:buNone/>
            </a:pPr>
            <a:r>
              <a:rPr lang="zh-TW"/>
              <a:t>if i &gt; 6: # 如果 i 大於 6，終止迴圈 </a:t>
            </a:r>
            <a:endParaRPr/>
          </a:p>
          <a:p>
            <a:pPr indent="457200" lvl="0" marL="457200" rtl="0" algn="l">
              <a:spcBef>
                <a:spcPts val="0"/>
              </a:spcBef>
              <a:spcAft>
                <a:spcPts val="0"/>
              </a:spcAft>
              <a:buNone/>
            </a:pPr>
            <a:r>
              <a:rPr lang="zh-TW"/>
              <a:t>break</a:t>
            </a:r>
            <a:r>
              <a:rPr lang="zh-TW"/>
              <a:t> </a:t>
            </a:r>
            <a:endParaRPr/>
          </a:p>
          <a:p>
            <a:pPr indent="0" lvl="0" marL="457200" rtl="0" algn="l">
              <a:spcBef>
                <a:spcPts val="0"/>
              </a:spcBef>
              <a:spcAft>
                <a:spcPts val="0"/>
              </a:spcAft>
              <a:buNone/>
            </a:pPr>
            <a:r>
              <a:rPr lang="zh-TW"/>
              <a:t>print(i)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9"/>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Python 邏輯封裝</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什麼是邏輯封裝</a:t>
            </a:r>
            <a:endParaRPr/>
          </a:p>
        </p:txBody>
      </p:sp>
      <p:sp>
        <p:nvSpPr>
          <p:cNvPr id="452" name="Google Shape;452;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1600">
                <a:solidFill>
                  <a:srgbClr val="000000"/>
                </a:solidFill>
                <a:latin typeface="Arial"/>
                <a:ea typeface="Arial"/>
                <a:cs typeface="Arial"/>
                <a:sym typeface="Arial"/>
              </a:rPr>
              <a:t>在 Python 中，</a:t>
            </a:r>
            <a:r>
              <a:rPr b="1" lang="zh-TW" sz="1600">
                <a:solidFill>
                  <a:srgbClr val="000000"/>
                </a:solidFill>
                <a:latin typeface="Arial"/>
                <a:ea typeface="Arial"/>
                <a:cs typeface="Arial"/>
                <a:sym typeface="Arial"/>
              </a:rPr>
              <a:t>邏輯封裝</a:t>
            </a:r>
            <a:r>
              <a:rPr lang="zh-TW" sz="1600">
                <a:solidFill>
                  <a:srgbClr val="000000"/>
                </a:solidFill>
                <a:latin typeface="Arial"/>
                <a:ea typeface="Arial"/>
                <a:cs typeface="Arial"/>
                <a:sym typeface="Arial"/>
              </a:rPr>
              <a:t>是一種透過將程式邏輯分成模組化的方式來提升可讀性和重複使用性的方法。常見的邏輯封裝方法有兩種：</a:t>
            </a:r>
            <a:r>
              <a:rPr b="1" lang="zh-TW" sz="1600">
                <a:solidFill>
                  <a:srgbClr val="000000"/>
                </a:solidFill>
                <a:latin typeface="Arial"/>
                <a:ea typeface="Arial"/>
                <a:cs typeface="Arial"/>
                <a:sym typeface="Arial"/>
              </a:rPr>
              <a:t>函式（Function）與物件導向程式設計（OOP, Object-Oriented Programming）</a:t>
            </a:r>
            <a:r>
              <a:rPr lang="zh-TW" sz="1600">
                <a:solidFill>
                  <a:srgbClr val="000000"/>
                </a:solidFill>
                <a:latin typeface="Arial"/>
                <a:ea typeface="Arial"/>
                <a:cs typeface="Arial"/>
                <a:sym typeface="Arial"/>
              </a:rPr>
              <a:t>。它們讓程式碼更加結構化，並且便於維護和擴展。</a:t>
            </a:r>
            <a:endParaRPr sz="23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1. 使用函式進行邏輯封裝</a:t>
            </a:r>
            <a:endParaRPr/>
          </a:p>
        </p:txBody>
      </p:sp>
      <p:sp>
        <p:nvSpPr>
          <p:cNvPr id="458" name="Google Shape;458;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zh-TW" sz="1700">
                <a:solidFill>
                  <a:srgbClr val="000000"/>
                </a:solidFill>
                <a:latin typeface="Arial"/>
                <a:ea typeface="Arial"/>
                <a:cs typeface="Arial"/>
                <a:sym typeface="Arial"/>
              </a:rPr>
              <a:t>什麼是函式？</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zh-TW" sz="1700">
                <a:solidFill>
                  <a:srgbClr val="000000"/>
                </a:solidFill>
                <a:latin typeface="Arial"/>
                <a:ea typeface="Arial"/>
                <a:cs typeface="Arial"/>
                <a:sym typeface="Arial"/>
              </a:rPr>
              <a:t>函式是用來封裝一段可重複使用的程式碼的區塊。你可以將程式邏輯包裝進函式中，並根據需要多次呼叫該函式。函式可以接收輸入參數並返回結果。</a:t>
            </a:r>
            <a:endParaRPr sz="1700">
              <a:solidFill>
                <a:srgbClr val="000000"/>
              </a:solidFill>
              <a:latin typeface="Arial"/>
              <a:ea typeface="Arial"/>
              <a:cs typeface="Arial"/>
              <a:sym typeface="Arial"/>
            </a:endParaRPr>
          </a:p>
          <a:p>
            <a:pPr indent="0" lvl="0" marL="0" rtl="0" algn="l">
              <a:spcBef>
                <a:spcPts val="1200"/>
              </a:spcBef>
              <a:spcAft>
                <a:spcPts val="0"/>
              </a:spcAft>
              <a:buNone/>
            </a:pPr>
            <a:r>
              <a:rPr b="1" lang="zh-TW" sz="1700">
                <a:solidFill>
                  <a:srgbClr val="000000"/>
                </a:solidFill>
                <a:latin typeface="Arial"/>
                <a:ea typeface="Arial"/>
                <a:cs typeface="Arial"/>
                <a:sym typeface="Arial"/>
              </a:rPr>
              <a:t>定義與使用函式的範例</a:t>
            </a:r>
            <a:endParaRPr b="1" sz="1700">
              <a:solidFill>
                <a:srgbClr val="000000"/>
              </a:solidFill>
              <a:latin typeface="Arial"/>
              <a:ea typeface="Arial"/>
              <a:cs typeface="Arial"/>
              <a:sym typeface="Arial"/>
            </a:endParaRPr>
          </a:p>
          <a:p>
            <a:pPr indent="0" lvl="0" marL="0" rtl="0" algn="l">
              <a:spcBef>
                <a:spcPts val="200"/>
              </a:spcBef>
              <a:spcAft>
                <a:spcPts val="1200"/>
              </a:spcAft>
              <a:buNone/>
            </a:pPr>
            <a:r>
              <a:t/>
            </a:r>
            <a:endParaRPr/>
          </a:p>
        </p:txBody>
      </p:sp>
      <p:sp>
        <p:nvSpPr>
          <p:cNvPr id="459" name="Google Shape;459;p71"/>
          <p:cNvSpPr txBox="1"/>
          <p:nvPr/>
        </p:nvSpPr>
        <p:spPr>
          <a:xfrm>
            <a:off x="1109375" y="2798675"/>
            <a:ext cx="56100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600"/>
              <a:t># 定義一個函式來計算兩個數的和</a:t>
            </a:r>
            <a:endParaRPr sz="1600"/>
          </a:p>
          <a:p>
            <a:pPr indent="0" lvl="0" marL="0" rtl="0" algn="l">
              <a:spcBef>
                <a:spcPts val="0"/>
              </a:spcBef>
              <a:spcAft>
                <a:spcPts val="0"/>
              </a:spcAft>
              <a:buNone/>
            </a:pPr>
            <a:r>
              <a:rPr lang="zh-TW" sz="1600"/>
              <a:t>def add_numbers(a, b):</a:t>
            </a:r>
            <a:endParaRPr sz="1600"/>
          </a:p>
          <a:p>
            <a:pPr indent="0" lvl="0" marL="0" rtl="0" algn="l">
              <a:spcBef>
                <a:spcPts val="0"/>
              </a:spcBef>
              <a:spcAft>
                <a:spcPts val="0"/>
              </a:spcAft>
              <a:buNone/>
            </a:pPr>
            <a:r>
              <a:rPr lang="zh-TW" sz="1600"/>
              <a:t>    return a + b</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zh-TW" sz="1600"/>
              <a:t># 呼叫函式</a:t>
            </a:r>
            <a:endParaRPr sz="1600"/>
          </a:p>
          <a:p>
            <a:pPr indent="0" lvl="0" marL="0" rtl="0" algn="l">
              <a:spcBef>
                <a:spcPts val="0"/>
              </a:spcBef>
              <a:spcAft>
                <a:spcPts val="0"/>
              </a:spcAft>
              <a:buNone/>
            </a:pPr>
            <a:r>
              <a:rPr lang="zh-TW" sz="1600"/>
              <a:t>result = add_numbers(5, 3)</a:t>
            </a:r>
            <a:endParaRPr sz="1600"/>
          </a:p>
          <a:p>
            <a:pPr indent="0" lvl="0" marL="0" rtl="0" algn="l">
              <a:spcBef>
                <a:spcPts val="0"/>
              </a:spcBef>
              <a:spcAft>
                <a:spcPts val="0"/>
              </a:spcAft>
              <a:buNone/>
            </a:pPr>
            <a:r>
              <a:rPr lang="zh-TW" sz="1600"/>
              <a:t>print(result)  # 輸出: 8</a:t>
            </a:r>
            <a:endParaRPr sz="1600"/>
          </a:p>
          <a:p>
            <a:pPr indent="0" lvl="0" marL="0" rtl="0" algn="l">
              <a:spcBef>
                <a:spcPts val="0"/>
              </a:spcBef>
              <a:spcAft>
                <a:spcPts val="0"/>
              </a:spcAft>
              <a:buNone/>
            </a:pPr>
            <a:r>
              <a:t/>
            </a:r>
            <a:endParaRPr sz="16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1. 使用函式進行邏輯封裝</a:t>
            </a:r>
            <a:endParaRPr/>
          </a:p>
        </p:txBody>
      </p:sp>
      <p:sp>
        <p:nvSpPr>
          <p:cNvPr id="465" name="Google Shape;465;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zh-TW">
                <a:solidFill>
                  <a:srgbClr val="000000"/>
                </a:solidFill>
                <a:latin typeface="Arial"/>
                <a:ea typeface="Arial"/>
                <a:cs typeface="Arial"/>
                <a:sym typeface="Arial"/>
              </a:rPr>
              <a:t>帶有預設參數的函式</a:t>
            </a:r>
            <a:endParaRPr b="1">
              <a:solidFill>
                <a:srgbClr val="000000"/>
              </a:solidFill>
              <a:latin typeface="Arial"/>
              <a:ea typeface="Arial"/>
              <a:cs typeface="Arial"/>
              <a:sym typeface="Arial"/>
            </a:endParaRPr>
          </a:p>
          <a:p>
            <a:pPr indent="0" lvl="0" marL="0" rtl="0" algn="l">
              <a:spcBef>
                <a:spcPts val="1200"/>
              </a:spcBef>
              <a:spcAft>
                <a:spcPts val="0"/>
              </a:spcAft>
              <a:buNone/>
            </a:pPr>
            <a:r>
              <a:rPr lang="zh-TW">
                <a:solidFill>
                  <a:srgbClr val="000000"/>
                </a:solidFill>
                <a:latin typeface="Arial"/>
                <a:ea typeface="Arial"/>
                <a:cs typeface="Arial"/>
                <a:sym typeface="Arial"/>
              </a:rPr>
              <a:t>你可以為函式定義預設參數，當呼叫函式時如果不提供該參數，預設值會被使用。</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466" name="Google Shape;466;p72"/>
          <p:cNvSpPr txBox="1"/>
          <p:nvPr/>
        </p:nvSpPr>
        <p:spPr>
          <a:xfrm>
            <a:off x="832050" y="2332225"/>
            <a:ext cx="57360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t># 帶有預設參數的函式</a:t>
            </a:r>
            <a:endParaRPr sz="1700"/>
          </a:p>
          <a:p>
            <a:pPr indent="0" lvl="0" marL="0" rtl="0" algn="l">
              <a:spcBef>
                <a:spcPts val="0"/>
              </a:spcBef>
              <a:spcAft>
                <a:spcPts val="0"/>
              </a:spcAft>
              <a:buNone/>
            </a:pPr>
            <a:r>
              <a:rPr lang="zh-TW" sz="1700"/>
              <a:t>def greet(name="Guest"):</a:t>
            </a:r>
            <a:endParaRPr sz="1700"/>
          </a:p>
          <a:p>
            <a:pPr indent="0" lvl="0" marL="0" rtl="0" algn="l">
              <a:spcBef>
                <a:spcPts val="0"/>
              </a:spcBef>
              <a:spcAft>
                <a:spcPts val="0"/>
              </a:spcAft>
              <a:buNone/>
            </a:pPr>
            <a:r>
              <a:rPr lang="zh-TW" sz="1700"/>
              <a:t>    print(f"Hello, {name}!")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zh-TW" sz="1700"/>
              <a:t># 呼叫時不提供參數，使用預設值</a:t>
            </a:r>
            <a:endParaRPr sz="1700"/>
          </a:p>
          <a:p>
            <a:pPr indent="0" lvl="0" marL="0" rtl="0" algn="l">
              <a:spcBef>
                <a:spcPts val="0"/>
              </a:spcBef>
              <a:spcAft>
                <a:spcPts val="0"/>
              </a:spcAft>
              <a:buNone/>
            </a:pPr>
            <a:r>
              <a:rPr lang="zh-TW" sz="1700"/>
              <a:t>greet()  # 輸出: Hello, Guest!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zh-TW" sz="1700"/>
              <a:t># 呼叫時提供參數，覆蓋預設值</a:t>
            </a:r>
            <a:endParaRPr sz="1700"/>
          </a:p>
          <a:p>
            <a:pPr indent="0" lvl="0" marL="0" rtl="0" algn="l">
              <a:spcBef>
                <a:spcPts val="0"/>
              </a:spcBef>
              <a:spcAft>
                <a:spcPts val="0"/>
              </a:spcAft>
              <a:buNone/>
            </a:pPr>
            <a:r>
              <a:rPr lang="zh-TW" sz="1700"/>
              <a:t>greet("Alice")  # 輸出: Hello, Alice!</a:t>
            </a:r>
            <a:endParaRPr sz="1700"/>
          </a:p>
          <a:p>
            <a:pPr indent="0" lvl="0" marL="0" rtl="0" algn="l">
              <a:spcBef>
                <a:spcPts val="0"/>
              </a:spcBef>
              <a:spcAft>
                <a:spcPts val="0"/>
              </a:spcAft>
              <a:buNone/>
            </a:pPr>
            <a:r>
              <a:t/>
            </a:r>
            <a:endParaRPr sz="17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1. 使用函式進行邏輯封裝</a:t>
            </a:r>
            <a:endParaRPr/>
          </a:p>
        </p:txBody>
      </p:sp>
      <p:sp>
        <p:nvSpPr>
          <p:cNvPr id="472" name="Google Shape;472;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zh-TW" sz="1600">
                <a:solidFill>
                  <a:srgbClr val="000000"/>
                </a:solidFill>
                <a:latin typeface="Arial"/>
                <a:ea typeface="Arial"/>
                <a:cs typeface="Arial"/>
                <a:sym typeface="Arial"/>
              </a:rPr>
              <a:t>返回多個值的函式</a:t>
            </a:r>
            <a:endParaRPr b="1" sz="1600">
              <a:solidFill>
                <a:srgbClr val="000000"/>
              </a:solidFill>
              <a:latin typeface="Arial"/>
              <a:ea typeface="Arial"/>
              <a:cs typeface="Arial"/>
              <a:sym typeface="Arial"/>
            </a:endParaRPr>
          </a:p>
          <a:p>
            <a:pPr indent="0" lvl="0" marL="0" rtl="0" algn="l">
              <a:spcBef>
                <a:spcPts val="1200"/>
              </a:spcBef>
              <a:spcAft>
                <a:spcPts val="0"/>
              </a:spcAft>
              <a:buNone/>
            </a:pPr>
            <a:r>
              <a:rPr lang="zh-TW" sz="1600">
                <a:solidFill>
                  <a:srgbClr val="000000"/>
                </a:solidFill>
                <a:latin typeface="Arial"/>
                <a:ea typeface="Arial"/>
                <a:cs typeface="Arial"/>
                <a:sym typeface="Arial"/>
              </a:rPr>
              <a:t>函式還可以返回多個值，這在需要同時返回多個計算結果時非常有用。</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473" name="Google Shape;473;p73"/>
          <p:cNvSpPr txBox="1"/>
          <p:nvPr/>
        </p:nvSpPr>
        <p:spPr>
          <a:xfrm>
            <a:off x="844650" y="2370025"/>
            <a:ext cx="5975400" cy="227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700"/>
              <a:t># 定義一個函式返回兩個值</a:t>
            </a:r>
            <a:endParaRPr sz="1700"/>
          </a:p>
          <a:p>
            <a:pPr indent="0" lvl="0" marL="0" rtl="0" algn="l">
              <a:spcBef>
                <a:spcPts val="0"/>
              </a:spcBef>
              <a:spcAft>
                <a:spcPts val="0"/>
              </a:spcAft>
              <a:buNone/>
            </a:pPr>
            <a:r>
              <a:rPr lang="zh-TW" sz="1700"/>
              <a:t>def get_min_max(numbers):</a:t>
            </a:r>
            <a:endParaRPr sz="1700"/>
          </a:p>
          <a:p>
            <a:pPr indent="0" lvl="0" marL="0" rtl="0" algn="l">
              <a:spcBef>
                <a:spcPts val="0"/>
              </a:spcBef>
              <a:spcAft>
                <a:spcPts val="0"/>
              </a:spcAft>
              <a:buNone/>
            </a:pPr>
            <a:r>
              <a:rPr lang="zh-TW" sz="1700"/>
              <a:t>    return min(numbers), max(numbers)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zh-TW" sz="1700"/>
              <a:t># 呼叫函式並同時接收多個返回值</a:t>
            </a:r>
            <a:endParaRPr sz="1700"/>
          </a:p>
          <a:p>
            <a:pPr indent="0" lvl="0" marL="0" rtl="0" algn="l">
              <a:spcBef>
                <a:spcPts val="0"/>
              </a:spcBef>
              <a:spcAft>
                <a:spcPts val="0"/>
              </a:spcAft>
              <a:buNone/>
            </a:pPr>
            <a:r>
              <a:rPr lang="zh-TW" sz="1700"/>
              <a:t>min_value, max_value = get_min_max([2, 5, 1, 8])</a:t>
            </a:r>
            <a:endParaRPr sz="1700"/>
          </a:p>
          <a:p>
            <a:pPr indent="0" lvl="0" marL="0" rtl="0" algn="l">
              <a:spcBef>
                <a:spcPts val="0"/>
              </a:spcBef>
              <a:spcAft>
                <a:spcPts val="0"/>
              </a:spcAft>
              <a:buNone/>
            </a:pPr>
            <a:r>
              <a:rPr lang="zh-TW" sz="1700"/>
              <a:t>print(min_value, max_value)  # 輸出: 1 8</a:t>
            </a:r>
            <a:endParaRPr sz="1700"/>
          </a:p>
          <a:p>
            <a:pPr indent="0" lvl="0" marL="0" rtl="0" algn="l">
              <a:spcBef>
                <a:spcPts val="0"/>
              </a:spcBef>
              <a:spcAft>
                <a:spcPts val="0"/>
              </a:spcAft>
              <a:buNone/>
            </a:pPr>
            <a:r>
              <a:t/>
            </a:r>
            <a:endParaRPr sz="17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區域變數與全域變數</a:t>
            </a:r>
            <a:endParaRPr/>
          </a:p>
        </p:txBody>
      </p:sp>
      <p:sp>
        <p:nvSpPr>
          <p:cNvPr id="479" name="Google Shape;479;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在 Python 中，變數可以根據其作用範圍（Scope）分為區域變數和全域變數。這兩者的區別在於它們的定義位置及存取範圍。了解這兩者對於撰寫模組化、可維護的程式碼非常重要。</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區域變數 (Local Variables)</a:t>
            </a:r>
            <a:endParaRPr/>
          </a:p>
        </p:txBody>
      </p:sp>
      <p:sp>
        <p:nvSpPr>
          <p:cNvPr id="485" name="Google Shape;485;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zh-TW" sz="1500">
                <a:solidFill>
                  <a:srgbClr val="000000"/>
                </a:solidFill>
                <a:latin typeface="Arial"/>
                <a:ea typeface="Arial"/>
                <a:cs typeface="Arial"/>
                <a:sym typeface="Arial"/>
              </a:rPr>
              <a:t>區域變數是定義在函數或區塊內的變數，</a:t>
            </a:r>
            <a:r>
              <a:rPr b="1" lang="zh-TW" sz="1500">
                <a:solidFill>
                  <a:srgbClr val="000000"/>
                </a:solidFill>
                <a:latin typeface="Arial"/>
                <a:ea typeface="Arial"/>
                <a:cs typeface="Arial"/>
                <a:sym typeface="Arial"/>
              </a:rPr>
              <a:t>僅在該函數或區塊內可用</a:t>
            </a:r>
            <a:r>
              <a:rPr lang="zh-TW" sz="1500">
                <a:solidFill>
                  <a:srgbClr val="000000"/>
                </a:solidFill>
                <a:latin typeface="Arial"/>
                <a:ea typeface="Arial"/>
                <a:cs typeface="Arial"/>
                <a:sym typeface="Arial"/>
              </a:rPr>
              <a:t>。當函數執行完畢後，區域變數會被銷毀，不再可用。</a:t>
            </a:r>
            <a:endParaRPr sz="1500">
              <a:solidFill>
                <a:srgbClr val="000000"/>
              </a:solidFill>
              <a:latin typeface="Arial"/>
              <a:ea typeface="Arial"/>
              <a:cs typeface="Arial"/>
              <a:sym typeface="Arial"/>
            </a:endParaRPr>
          </a:p>
          <a:p>
            <a:pPr indent="0" lvl="0" marL="0" rtl="0" algn="l">
              <a:spcBef>
                <a:spcPts val="1200"/>
              </a:spcBef>
              <a:spcAft>
                <a:spcPts val="0"/>
              </a:spcAft>
              <a:buNone/>
            </a:pPr>
            <a:r>
              <a:rPr b="1" lang="zh-TW" sz="1500">
                <a:solidFill>
                  <a:srgbClr val="000000"/>
                </a:solidFill>
                <a:latin typeface="Arial"/>
                <a:ea typeface="Arial"/>
                <a:cs typeface="Arial"/>
                <a:sym typeface="Arial"/>
              </a:rPr>
              <a:t>區域變數的特點</a:t>
            </a:r>
            <a:endParaRPr b="1" sz="15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lang="zh-TW" sz="1500">
                <a:solidFill>
                  <a:srgbClr val="000000"/>
                </a:solidFill>
                <a:latin typeface="Arial"/>
                <a:ea typeface="Arial"/>
                <a:cs typeface="Arial"/>
                <a:sym typeface="Arial"/>
              </a:rPr>
              <a:t>定義在函數內部。</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zh-TW" sz="1500">
                <a:solidFill>
                  <a:srgbClr val="000000"/>
                </a:solidFill>
                <a:latin typeface="Arial"/>
                <a:ea typeface="Arial"/>
                <a:cs typeface="Arial"/>
                <a:sym typeface="Arial"/>
              </a:rPr>
              <a:t>只能在定義它的函數內使用。</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zh-TW" sz="1500">
                <a:solidFill>
                  <a:srgbClr val="000000"/>
                </a:solidFill>
                <a:latin typeface="Arial"/>
                <a:ea typeface="Arial"/>
                <a:cs typeface="Arial"/>
                <a:sym typeface="Arial"/>
              </a:rPr>
              <a:t>當函數執行完畢後，區域變數會被銷毀。</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486" name="Google Shape;486;p75"/>
          <p:cNvSpPr txBox="1"/>
          <p:nvPr/>
        </p:nvSpPr>
        <p:spPr>
          <a:xfrm>
            <a:off x="1613675" y="3234900"/>
            <a:ext cx="5773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def my_function():</a:t>
            </a:r>
            <a:endParaRPr/>
          </a:p>
          <a:p>
            <a:pPr indent="0" lvl="0" marL="0" rtl="0" algn="l">
              <a:spcBef>
                <a:spcPts val="0"/>
              </a:spcBef>
              <a:spcAft>
                <a:spcPts val="0"/>
              </a:spcAft>
              <a:buNone/>
            </a:pPr>
            <a:r>
              <a:rPr lang="zh-TW"/>
              <a:t>    x = 10  # 區域變數 x</a:t>
            </a:r>
            <a:endParaRPr/>
          </a:p>
          <a:p>
            <a:pPr indent="0" lvl="0" marL="0" rtl="0" algn="l">
              <a:spcBef>
                <a:spcPts val="0"/>
              </a:spcBef>
              <a:spcAft>
                <a:spcPts val="0"/>
              </a:spcAft>
              <a:buNone/>
            </a:pPr>
            <a:r>
              <a:rPr lang="zh-TW"/>
              <a:t>    print(x)  # x 在函數內有效</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my_function()  # 會輸出 10</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 print(x)  # 錯誤：因為 x 是區域變數，無法在函數外部使用</a:t>
            </a:r>
            <a:endParaRPr/>
          </a:p>
          <a:p>
            <a:pPr indent="0" lvl="0" marL="0" rtl="0" algn="l">
              <a:spcBef>
                <a:spcPts val="0"/>
              </a:spcBef>
              <a:spcAft>
                <a:spcPts val="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全域變數 (Global Variables)</a:t>
            </a:r>
            <a:endParaRPr/>
          </a:p>
        </p:txBody>
      </p:sp>
      <p:sp>
        <p:nvSpPr>
          <p:cNvPr id="492" name="Google Shape;492;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zh-TW" sz="1400">
                <a:solidFill>
                  <a:srgbClr val="000000"/>
                </a:solidFill>
                <a:latin typeface="Arial"/>
                <a:ea typeface="Arial"/>
                <a:cs typeface="Arial"/>
                <a:sym typeface="Arial"/>
              </a:rPr>
              <a:t>全域變數是定義在</a:t>
            </a:r>
            <a:r>
              <a:rPr b="1" lang="zh-TW" sz="1400">
                <a:solidFill>
                  <a:srgbClr val="000000"/>
                </a:solidFill>
                <a:latin typeface="Arial"/>
                <a:ea typeface="Arial"/>
                <a:cs typeface="Arial"/>
                <a:sym typeface="Arial"/>
              </a:rPr>
              <a:t>函數外部</a:t>
            </a:r>
            <a:r>
              <a:rPr lang="zh-TW" sz="1400">
                <a:solidFill>
                  <a:srgbClr val="000000"/>
                </a:solidFill>
                <a:latin typeface="Arial"/>
                <a:ea typeface="Arial"/>
                <a:cs typeface="Arial"/>
                <a:sym typeface="Arial"/>
              </a:rPr>
              <a:t>的變數，</a:t>
            </a:r>
            <a:r>
              <a:rPr b="1" lang="zh-TW" sz="1400">
                <a:solidFill>
                  <a:srgbClr val="000000"/>
                </a:solidFill>
                <a:latin typeface="Arial"/>
                <a:ea typeface="Arial"/>
                <a:cs typeface="Arial"/>
                <a:sym typeface="Arial"/>
              </a:rPr>
              <a:t>可以在整個程式中存取</a:t>
            </a:r>
            <a:r>
              <a:rPr lang="zh-TW" sz="1400">
                <a:solidFill>
                  <a:srgbClr val="000000"/>
                </a:solidFill>
                <a:latin typeface="Arial"/>
                <a:ea typeface="Arial"/>
                <a:cs typeface="Arial"/>
                <a:sym typeface="Arial"/>
              </a:rPr>
              <a:t>。全域變數在定義後，可以被任何函數或區塊內的程式碼存取或修改。</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zh-TW" sz="1400">
                <a:solidFill>
                  <a:srgbClr val="000000"/>
                </a:solidFill>
                <a:latin typeface="Arial"/>
                <a:ea typeface="Arial"/>
                <a:cs typeface="Arial"/>
                <a:sym typeface="Arial"/>
              </a:rPr>
              <a:t>全域變數的特點</a:t>
            </a:r>
            <a:endParaRPr b="1"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zh-TW" sz="1400">
                <a:solidFill>
                  <a:srgbClr val="000000"/>
                </a:solidFill>
                <a:latin typeface="Arial"/>
                <a:ea typeface="Arial"/>
                <a:cs typeface="Arial"/>
                <a:sym typeface="Arial"/>
              </a:rPr>
              <a:t>定義在函數或程式的外部。</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zh-TW" sz="1400">
                <a:solidFill>
                  <a:srgbClr val="000000"/>
                </a:solidFill>
                <a:latin typeface="Arial"/>
                <a:ea typeface="Arial"/>
                <a:cs typeface="Arial"/>
                <a:sym typeface="Arial"/>
              </a:rPr>
              <a:t>可在整個程式中存取，包括函數內。</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zh-TW" sz="1400">
                <a:solidFill>
                  <a:srgbClr val="000000"/>
                </a:solidFill>
                <a:latin typeface="Arial"/>
                <a:ea typeface="Arial"/>
                <a:cs typeface="Arial"/>
                <a:sym typeface="Arial"/>
              </a:rPr>
              <a:t>需要使用 </a:t>
            </a:r>
            <a:r>
              <a:rPr lang="zh-TW" sz="1400">
                <a:solidFill>
                  <a:srgbClr val="188038"/>
                </a:solidFill>
                <a:latin typeface="Roboto Mono"/>
                <a:ea typeface="Roboto Mono"/>
                <a:cs typeface="Roboto Mono"/>
                <a:sym typeface="Roboto Mono"/>
              </a:rPr>
              <a:t>global</a:t>
            </a:r>
            <a:r>
              <a:rPr lang="zh-TW" sz="1400">
                <a:solidFill>
                  <a:srgbClr val="000000"/>
                </a:solidFill>
                <a:latin typeface="Arial"/>
                <a:ea typeface="Arial"/>
                <a:cs typeface="Arial"/>
                <a:sym typeface="Arial"/>
              </a:rPr>
              <a:t> 關鍵字才能在函數內修改全域變數的值。</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493" name="Google Shape;493;p76"/>
          <p:cNvSpPr txBox="1"/>
          <p:nvPr/>
        </p:nvSpPr>
        <p:spPr>
          <a:xfrm>
            <a:off x="1601050" y="3063425"/>
            <a:ext cx="63033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y = 20  # 全域變數</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def another_function():</a:t>
            </a:r>
            <a:endParaRPr/>
          </a:p>
          <a:p>
            <a:pPr indent="0" lvl="0" marL="0" rtl="0" algn="l">
              <a:spcBef>
                <a:spcPts val="0"/>
              </a:spcBef>
              <a:spcAft>
                <a:spcPts val="0"/>
              </a:spcAft>
              <a:buNone/>
            </a:pPr>
            <a:r>
              <a:rPr lang="zh-TW"/>
              <a:t>    print(y)  # 在函數內存取全域變數 y</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another_function()  # 會輸出 20</a:t>
            </a:r>
            <a:endParaRPr/>
          </a:p>
          <a:p>
            <a:pPr indent="0" lvl="0" marL="0" rtl="0" algn="l">
              <a:spcBef>
                <a:spcPts val="0"/>
              </a:spcBef>
              <a:spcAft>
                <a:spcPts val="0"/>
              </a:spcAft>
              <a:buNone/>
            </a:pPr>
            <a:r>
              <a:rPr lang="zh-TW"/>
              <a:t>print(y)  # 會輸出 20</a:t>
            </a:r>
            <a:endParaRPr/>
          </a:p>
          <a:p>
            <a:pPr indent="0" lvl="0" marL="0" rtl="0" algn="l">
              <a:spcBef>
                <a:spcPts val="0"/>
              </a:spcBef>
              <a:spcAft>
                <a:spcPts val="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在函數內修改全域變數</a:t>
            </a:r>
            <a:endParaRPr/>
          </a:p>
        </p:txBody>
      </p:sp>
      <p:sp>
        <p:nvSpPr>
          <p:cNvPr id="499" name="Google Shape;499;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1600">
                <a:solidFill>
                  <a:srgbClr val="000000"/>
                </a:solidFill>
                <a:latin typeface="Arial"/>
                <a:ea typeface="Arial"/>
                <a:cs typeface="Arial"/>
                <a:sym typeface="Arial"/>
              </a:rPr>
              <a:t>如果要在函數內修改全域變數，必須使用 </a:t>
            </a:r>
            <a:r>
              <a:rPr lang="zh-TW" sz="1600">
                <a:solidFill>
                  <a:srgbClr val="188038"/>
                </a:solidFill>
                <a:latin typeface="Roboto Mono"/>
                <a:ea typeface="Roboto Mono"/>
                <a:cs typeface="Roboto Mono"/>
                <a:sym typeface="Roboto Mono"/>
              </a:rPr>
              <a:t>global</a:t>
            </a:r>
            <a:r>
              <a:rPr lang="zh-TW" sz="1600">
                <a:solidFill>
                  <a:srgbClr val="000000"/>
                </a:solidFill>
                <a:latin typeface="Arial"/>
                <a:ea typeface="Arial"/>
                <a:cs typeface="Arial"/>
                <a:sym typeface="Arial"/>
              </a:rPr>
              <a:t> 關鍵字來告訴 Python 這個變數是全域變數，否則 Python 會將其視為新的區域變數。</a:t>
            </a:r>
            <a:endParaRPr sz="2300"/>
          </a:p>
        </p:txBody>
      </p:sp>
      <p:sp>
        <p:nvSpPr>
          <p:cNvPr id="500" name="Google Shape;500;p77"/>
          <p:cNvSpPr txBox="1"/>
          <p:nvPr/>
        </p:nvSpPr>
        <p:spPr>
          <a:xfrm>
            <a:off x="138675" y="2685200"/>
            <a:ext cx="3882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z = 30  # 全域變數</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def modify_global():</a:t>
            </a:r>
            <a:endParaRPr/>
          </a:p>
          <a:p>
            <a:pPr indent="0" lvl="0" marL="0" rtl="0" algn="l">
              <a:spcBef>
                <a:spcPts val="0"/>
              </a:spcBef>
              <a:spcAft>
                <a:spcPts val="0"/>
              </a:spcAft>
              <a:buNone/>
            </a:pPr>
            <a:r>
              <a:rPr lang="zh-TW"/>
              <a:t>    global z  # 使用 global 關鍵字</a:t>
            </a:r>
            <a:endParaRPr/>
          </a:p>
          <a:p>
            <a:pPr indent="0" lvl="0" marL="0" rtl="0" algn="l">
              <a:spcBef>
                <a:spcPts val="0"/>
              </a:spcBef>
              <a:spcAft>
                <a:spcPts val="0"/>
              </a:spcAft>
              <a:buNone/>
            </a:pPr>
            <a:r>
              <a:rPr lang="zh-TW"/>
              <a:t>    z = 50  # 修改全域變數 z</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modify_global()</a:t>
            </a:r>
            <a:endParaRPr/>
          </a:p>
          <a:p>
            <a:pPr indent="0" lvl="0" marL="0" rtl="0" algn="l">
              <a:spcBef>
                <a:spcPts val="0"/>
              </a:spcBef>
              <a:spcAft>
                <a:spcPts val="0"/>
              </a:spcAft>
              <a:buNone/>
            </a:pPr>
            <a:r>
              <a:rPr lang="zh-TW"/>
              <a:t>print(z)  # 會輸出 50，因為 z 在函數內被修改</a:t>
            </a:r>
            <a:endParaRPr/>
          </a:p>
          <a:p>
            <a:pPr indent="0" lvl="0" marL="0" rtl="0" algn="l">
              <a:spcBef>
                <a:spcPts val="0"/>
              </a:spcBef>
              <a:spcAft>
                <a:spcPts val="0"/>
              </a:spcAft>
              <a:buNone/>
            </a:pPr>
            <a:r>
              <a:t/>
            </a:r>
            <a:endParaRPr/>
          </a:p>
        </p:txBody>
      </p:sp>
      <p:sp>
        <p:nvSpPr>
          <p:cNvPr id="501" name="Google Shape;501;p77"/>
          <p:cNvSpPr txBox="1"/>
          <p:nvPr/>
        </p:nvSpPr>
        <p:spPr>
          <a:xfrm>
            <a:off x="4677050" y="2685200"/>
            <a:ext cx="37062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a = 100  # 全域變數</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def local_assignment():</a:t>
            </a:r>
            <a:endParaRPr/>
          </a:p>
          <a:p>
            <a:pPr indent="0" lvl="0" marL="0" rtl="0" algn="l">
              <a:spcBef>
                <a:spcPts val="0"/>
              </a:spcBef>
              <a:spcAft>
                <a:spcPts val="0"/>
              </a:spcAft>
              <a:buNone/>
            </a:pPr>
            <a:r>
              <a:rPr lang="zh-TW"/>
              <a:t>    a = 200  # 定義一個區域變數 a</a:t>
            </a:r>
            <a:endParaRPr/>
          </a:p>
          <a:p>
            <a:pPr indent="0" lvl="0" marL="0" rtl="0" algn="l">
              <a:spcBef>
                <a:spcPts val="0"/>
              </a:spcBef>
              <a:spcAft>
                <a:spcPts val="0"/>
              </a:spcAft>
              <a:buNone/>
            </a:pPr>
            <a:r>
              <a:rPr lang="zh-TW"/>
              <a:t>    print(a)  # 會輸出 200 (區域變數)</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local_assignment()</a:t>
            </a:r>
            <a:endParaRPr/>
          </a:p>
          <a:p>
            <a:pPr indent="0" lvl="0" marL="0" rtl="0" algn="l">
              <a:spcBef>
                <a:spcPts val="0"/>
              </a:spcBef>
              <a:spcAft>
                <a:spcPts val="0"/>
              </a:spcAft>
              <a:buNone/>
            </a:pPr>
            <a:r>
              <a:rPr lang="zh-TW"/>
              <a:t>print(a)  # 會輸出 100 (全域變數未改變)</a:t>
            </a:r>
            <a:endParaRPr/>
          </a:p>
          <a:p>
            <a:pPr indent="0" lvl="0" marL="0" rtl="0" algn="l">
              <a:spcBef>
                <a:spcPts val="0"/>
              </a:spcBef>
              <a:spcAft>
                <a:spcPts val="0"/>
              </a:spcAft>
              <a:buNone/>
            </a:pPr>
            <a:r>
              <a:t/>
            </a:r>
            <a:endParaRPr/>
          </a:p>
        </p:txBody>
      </p:sp>
      <p:sp>
        <p:nvSpPr>
          <p:cNvPr id="502" name="Google Shape;502;p77"/>
          <p:cNvSpPr txBox="1"/>
          <p:nvPr/>
        </p:nvSpPr>
        <p:spPr>
          <a:xfrm>
            <a:off x="138675" y="2254100"/>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600"/>
              <a:t>使用 </a:t>
            </a:r>
            <a:r>
              <a:rPr lang="zh-TW" sz="1600">
                <a:solidFill>
                  <a:srgbClr val="188038"/>
                </a:solidFill>
                <a:latin typeface="Roboto Mono"/>
                <a:ea typeface="Roboto Mono"/>
                <a:cs typeface="Roboto Mono"/>
                <a:sym typeface="Roboto Mono"/>
              </a:rPr>
              <a:t>global</a:t>
            </a:r>
            <a:endParaRPr/>
          </a:p>
        </p:txBody>
      </p:sp>
      <p:sp>
        <p:nvSpPr>
          <p:cNvPr id="503" name="Google Shape;503;p77"/>
          <p:cNvSpPr txBox="1"/>
          <p:nvPr/>
        </p:nvSpPr>
        <p:spPr>
          <a:xfrm>
            <a:off x="4798925" y="2356200"/>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600"/>
              <a:t>不</a:t>
            </a:r>
            <a:r>
              <a:rPr lang="zh-TW" sz="1600"/>
              <a:t>使用 </a:t>
            </a:r>
            <a:r>
              <a:rPr lang="zh-TW" sz="1600">
                <a:solidFill>
                  <a:srgbClr val="188038"/>
                </a:solidFill>
                <a:latin typeface="Roboto Mono"/>
                <a:ea typeface="Roboto Mono"/>
                <a:cs typeface="Roboto Mono"/>
                <a:sym typeface="Roboto Mono"/>
              </a:rPr>
              <a:t>global</a:t>
            </a:r>
            <a:endParaRPr/>
          </a:p>
        </p:txBody>
      </p:sp>
      <p:cxnSp>
        <p:nvCxnSpPr>
          <p:cNvPr id="504" name="Google Shape;504;p77"/>
          <p:cNvCxnSpPr/>
          <p:nvPr/>
        </p:nvCxnSpPr>
        <p:spPr>
          <a:xfrm>
            <a:off x="126075" y="2723025"/>
            <a:ext cx="8925600" cy="12600"/>
          </a:xfrm>
          <a:prstGeom prst="straightConnector1">
            <a:avLst/>
          </a:prstGeom>
          <a:noFill/>
          <a:ln cap="flat" cmpd="sng" w="9525">
            <a:solidFill>
              <a:schemeClr val="dk1"/>
            </a:solidFill>
            <a:prstDash val="solid"/>
            <a:round/>
            <a:headEnd len="med" w="med" type="none"/>
            <a:tailEnd len="med" w="med" type="none"/>
          </a:ln>
        </p:spPr>
      </p:cxnSp>
      <p:cxnSp>
        <p:nvCxnSpPr>
          <p:cNvPr id="505" name="Google Shape;505;p77"/>
          <p:cNvCxnSpPr/>
          <p:nvPr/>
        </p:nvCxnSpPr>
        <p:spPr>
          <a:xfrm>
            <a:off x="4235825" y="2559150"/>
            <a:ext cx="0" cy="24078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區域變數與全域變數的比較</a:t>
            </a:r>
            <a:endParaRPr/>
          </a:p>
        </p:txBody>
      </p:sp>
      <p:graphicFrame>
        <p:nvGraphicFramePr>
          <p:cNvPr id="511" name="Google Shape;511;p78"/>
          <p:cNvGraphicFramePr/>
          <p:nvPr/>
        </p:nvGraphicFramePr>
        <p:xfrm>
          <a:off x="952500" y="1343300"/>
          <a:ext cx="3000000" cy="3000000"/>
        </p:xfrm>
        <a:graphic>
          <a:graphicData uri="http://schemas.openxmlformats.org/drawingml/2006/table">
            <a:tbl>
              <a:tblPr>
                <a:noFill/>
                <a:tableStyleId>{7C26E4BD-2EE1-4CC8-BD85-72C400897770}</a:tableStyleId>
              </a:tblPr>
              <a:tblGrid>
                <a:gridCol w="1594100"/>
                <a:gridCol w="3021125"/>
                <a:gridCol w="3115400"/>
              </a:tblGrid>
              <a:tr h="381000">
                <a:tc>
                  <a:txBody>
                    <a:bodyPr/>
                    <a:lstStyle/>
                    <a:p>
                      <a:pPr indent="0" lvl="0" marL="0" rtl="0" algn="l">
                        <a:spcBef>
                          <a:spcPts val="0"/>
                        </a:spcBef>
                        <a:spcAft>
                          <a:spcPts val="0"/>
                        </a:spcAft>
                        <a:buNone/>
                      </a:pPr>
                      <a:r>
                        <a:rPr lang="zh-TW"/>
                        <a:t>特性</a:t>
                      </a:r>
                      <a:endParaRPr/>
                    </a:p>
                  </a:txBody>
                  <a:tcPr marT="91425" marB="91425" marR="91425" marL="91425"/>
                </a:tc>
                <a:tc>
                  <a:txBody>
                    <a:bodyPr/>
                    <a:lstStyle/>
                    <a:p>
                      <a:pPr indent="0" lvl="0" marL="0" rtl="0" algn="l">
                        <a:spcBef>
                          <a:spcPts val="0"/>
                        </a:spcBef>
                        <a:spcAft>
                          <a:spcPts val="0"/>
                        </a:spcAft>
                        <a:buNone/>
                      </a:pPr>
                      <a:r>
                        <a:rPr lang="zh-TW"/>
                        <a:t>區域變數 (Local Variable)</a:t>
                      </a:r>
                      <a:endParaRPr/>
                    </a:p>
                  </a:txBody>
                  <a:tcPr marT="91425" marB="91425" marR="91425" marL="91425"/>
                </a:tc>
                <a:tc>
                  <a:txBody>
                    <a:bodyPr/>
                    <a:lstStyle/>
                    <a:p>
                      <a:pPr indent="0" lvl="0" marL="0" rtl="0" algn="l">
                        <a:spcBef>
                          <a:spcPts val="0"/>
                        </a:spcBef>
                        <a:spcAft>
                          <a:spcPts val="0"/>
                        </a:spcAft>
                        <a:buNone/>
                      </a:pPr>
                      <a:r>
                        <a:rPr lang="zh-TW"/>
                        <a:t>全域變數 (Global Variable)</a:t>
                      </a:r>
                      <a:endParaRPr/>
                    </a:p>
                  </a:txBody>
                  <a:tcPr marT="91425" marB="91425" marR="91425" marL="91425"/>
                </a:tc>
              </a:tr>
              <a:tr h="381000">
                <a:tc>
                  <a:txBody>
                    <a:bodyPr/>
                    <a:lstStyle/>
                    <a:p>
                      <a:pPr indent="0" lvl="0" marL="0" rtl="0" algn="l">
                        <a:spcBef>
                          <a:spcPts val="0"/>
                        </a:spcBef>
                        <a:spcAft>
                          <a:spcPts val="0"/>
                        </a:spcAft>
                        <a:buNone/>
                      </a:pPr>
                      <a:r>
                        <a:rPr lang="zh-TW"/>
                        <a:t>定義位置</a:t>
                      </a:r>
                      <a:endParaRPr/>
                    </a:p>
                  </a:txBody>
                  <a:tcPr marT="91425" marB="91425" marR="91425" marL="91425"/>
                </a:tc>
                <a:tc>
                  <a:txBody>
                    <a:bodyPr/>
                    <a:lstStyle/>
                    <a:p>
                      <a:pPr indent="0" lvl="0" marL="0" rtl="0" algn="l">
                        <a:spcBef>
                          <a:spcPts val="0"/>
                        </a:spcBef>
                        <a:spcAft>
                          <a:spcPts val="0"/>
                        </a:spcAft>
                        <a:buNone/>
                      </a:pPr>
                      <a:r>
                        <a:rPr lang="zh-TW"/>
                        <a:t>函數或區塊內部</a:t>
                      </a:r>
                      <a:endParaRPr/>
                    </a:p>
                  </a:txBody>
                  <a:tcPr marT="91425" marB="91425" marR="91425" marL="91425"/>
                </a:tc>
                <a:tc>
                  <a:txBody>
                    <a:bodyPr/>
                    <a:lstStyle/>
                    <a:p>
                      <a:pPr indent="0" lvl="0" marL="0" rtl="0" algn="l">
                        <a:spcBef>
                          <a:spcPts val="0"/>
                        </a:spcBef>
                        <a:spcAft>
                          <a:spcPts val="0"/>
                        </a:spcAft>
                        <a:buNone/>
                      </a:pPr>
                      <a:r>
                        <a:rPr lang="zh-TW"/>
                        <a:t>函數或區塊外部</a:t>
                      </a:r>
                      <a:endParaRPr/>
                    </a:p>
                  </a:txBody>
                  <a:tcPr marT="91425" marB="91425" marR="91425" marL="91425"/>
                </a:tc>
              </a:tr>
              <a:tr h="381000">
                <a:tc>
                  <a:txBody>
                    <a:bodyPr/>
                    <a:lstStyle/>
                    <a:p>
                      <a:pPr indent="0" lvl="0" marL="0" rtl="0" algn="l">
                        <a:spcBef>
                          <a:spcPts val="0"/>
                        </a:spcBef>
                        <a:spcAft>
                          <a:spcPts val="0"/>
                        </a:spcAft>
                        <a:buNone/>
                      </a:pPr>
                      <a:r>
                        <a:rPr lang="zh-TW"/>
                        <a:t>存取範圍</a:t>
                      </a:r>
                      <a:endParaRPr/>
                    </a:p>
                  </a:txBody>
                  <a:tcPr marT="91425" marB="91425" marR="91425" marL="91425"/>
                </a:tc>
                <a:tc>
                  <a:txBody>
                    <a:bodyPr/>
                    <a:lstStyle/>
                    <a:p>
                      <a:pPr indent="0" lvl="0" marL="0" rtl="0" algn="l">
                        <a:spcBef>
                          <a:spcPts val="0"/>
                        </a:spcBef>
                        <a:spcAft>
                          <a:spcPts val="0"/>
                        </a:spcAft>
                        <a:buNone/>
                      </a:pPr>
                      <a:r>
                        <a:rPr lang="zh-TW"/>
                        <a:t>只能在定義它的函數或區塊內存取</a:t>
                      </a:r>
                      <a:endParaRPr/>
                    </a:p>
                  </a:txBody>
                  <a:tcPr marT="91425" marB="91425" marR="91425" marL="91425"/>
                </a:tc>
                <a:tc>
                  <a:txBody>
                    <a:bodyPr/>
                    <a:lstStyle/>
                    <a:p>
                      <a:pPr indent="0" lvl="0" marL="0" rtl="0" algn="l">
                        <a:spcBef>
                          <a:spcPts val="0"/>
                        </a:spcBef>
                        <a:spcAft>
                          <a:spcPts val="0"/>
                        </a:spcAft>
                        <a:buNone/>
                      </a:pPr>
                      <a:r>
                        <a:rPr lang="zh-TW"/>
                        <a:t>可以在整個程式中存取，包括函數內</a:t>
                      </a:r>
                      <a:endParaRPr/>
                    </a:p>
                  </a:txBody>
                  <a:tcPr marT="91425" marB="91425" marR="91425" marL="91425"/>
                </a:tc>
              </a:tr>
              <a:tr h="381000">
                <a:tc>
                  <a:txBody>
                    <a:bodyPr/>
                    <a:lstStyle/>
                    <a:p>
                      <a:pPr indent="0" lvl="0" marL="0" rtl="0" algn="l">
                        <a:spcBef>
                          <a:spcPts val="0"/>
                        </a:spcBef>
                        <a:spcAft>
                          <a:spcPts val="0"/>
                        </a:spcAft>
                        <a:buNone/>
                      </a:pPr>
                      <a:r>
                        <a:rPr lang="zh-TW"/>
                        <a:t>生命週期</a:t>
                      </a:r>
                      <a:endParaRPr/>
                    </a:p>
                  </a:txBody>
                  <a:tcPr marT="91425" marB="91425" marR="91425" marL="91425"/>
                </a:tc>
                <a:tc>
                  <a:txBody>
                    <a:bodyPr/>
                    <a:lstStyle/>
                    <a:p>
                      <a:pPr indent="0" lvl="0" marL="0" rtl="0" algn="l">
                        <a:spcBef>
                          <a:spcPts val="0"/>
                        </a:spcBef>
                        <a:spcAft>
                          <a:spcPts val="0"/>
                        </a:spcAft>
                        <a:buNone/>
                      </a:pPr>
                      <a:r>
                        <a:rPr lang="zh-TW"/>
                        <a:t>隨著函數的執行結束而銷毀</a:t>
                      </a:r>
                      <a:endParaRPr/>
                    </a:p>
                  </a:txBody>
                  <a:tcPr marT="91425" marB="91425" marR="91425" marL="91425"/>
                </a:tc>
                <a:tc>
                  <a:txBody>
                    <a:bodyPr/>
                    <a:lstStyle/>
                    <a:p>
                      <a:pPr indent="0" lvl="0" marL="0" rtl="0" algn="l">
                        <a:spcBef>
                          <a:spcPts val="0"/>
                        </a:spcBef>
                        <a:spcAft>
                          <a:spcPts val="0"/>
                        </a:spcAft>
                        <a:buNone/>
                      </a:pPr>
                      <a:r>
                        <a:rPr lang="zh-TW"/>
                        <a:t>在整個程式執行過程中都存在</a:t>
                      </a:r>
                      <a:endParaRPr/>
                    </a:p>
                  </a:txBody>
                  <a:tcPr marT="91425" marB="91425" marR="91425" marL="91425"/>
                </a:tc>
              </a:tr>
              <a:tr h="381000">
                <a:tc>
                  <a:txBody>
                    <a:bodyPr/>
                    <a:lstStyle/>
                    <a:p>
                      <a:pPr indent="0" lvl="0" marL="0" rtl="0" algn="l">
                        <a:spcBef>
                          <a:spcPts val="0"/>
                        </a:spcBef>
                        <a:spcAft>
                          <a:spcPts val="0"/>
                        </a:spcAft>
                        <a:buNone/>
                      </a:pPr>
                      <a:r>
                        <a:rPr lang="zh-TW"/>
                        <a:t>修改方式</a:t>
                      </a:r>
                      <a:endParaRPr/>
                    </a:p>
                  </a:txBody>
                  <a:tcPr marT="91425" marB="91425" marR="91425" marL="91425"/>
                </a:tc>
                <a:tc>
                  <a:txBody>
                    <a:bodyPr/>
                    <a:lstStyle/>
                    <a:p>
                      <a:pPr indent="0" lvl="0" marL="0" rtl="0" algn="l">
                        <a:spcBef>
                          <a:spcPts val="0"/>
                        </a:spcBef>
                        <a:spcAft>
                          <a:spcPts val="0"/>
                        </a:spcAft>
                        <a:buNone/>
                      </a:pPr>
                      <a:r>
                        <a:rPr lang="zh-TW"/>
                        <a:t>不需要特殊語法</a:t>
                      </a:r>
                      <a:endParaRPr/>
                    </a:p>
                  </a:txBody>
                  <a:tcPr marT="91425" marB="91425" marR="91425" marL="91425"/>
                </a:tc>
                <a:tc>
                  <a:txBody>
                    <a:bodyPr/>
                    <a:lstStyle/>
                    <a:p>
                      <a:pPr indent="0" lvl="0" marL="0" rtl="0" algn="l">
                        <a:spcBef>
                          <a:spcPts val="0"/>
                        </a:spcBef>
                        <a:spcAft>
                          <a:spcPts val="0"/>
                        </a:spcAft>
                        <a:buNone/>
                      </a:pPr>
                      <a:r>
                        <a:rPr lang="zh-TW"/>
                        <a:t>需要 global 關鍵字才能在函數內修改</a:t>
                      </a:r>
                      <a:endParaRPr/>
                    </a:p>
                  </a:txBody>
                  <a:tcPr marT="91425" marB="91425" marR="91425" marL="91425"/>
                </a:tc>
              </a:tr>
              <a:tr h="381000">
                <a:tc>
                  <a:txBody>
                    <a:bodyPr/>
                    <a:lstStyle/>
                    <a:p>
                      <a:pPr indent="0" lvl="0" marL="0" rtl="0" algn="l">
                        <a:spcBef>
                          <a:spcPts val="0"/>
                        </a:spcBef>
                        <a:spcAft>
                          <a:spcPts val="0"/>
                        </a:spcAft>
                        <a:buNone/>
                      </a:pPr>
                      <a:r>
                        <a:rPr lang="zh-TW"/>
                        <a:t>使用範例</a:t>
                      </a:r>
                      <a:endParaRPr/>
                    </a:p>
                  </a:txBody>
                  <a:tcPr marT="91425" marB="91425" marR="91425" marL="91425"/>
                </a:tc>
                <a:tc>
                  <a:txBody>
                    <a:bodyPr/>
                    <a:lstStyle/>
                    <a:p>
                      <a:pPr indent="0" lvl="0" marL="0" rtl="0" algn="l">
                        <a:spcBef>
                          <a:spcPts val="0"/>
                        </a:spcBef>
                        <a:spcAft>
                          <a:spcPts val="0"/>
                        </a:spcAft>
                        <a:buNone/>
                      </a:pPr>
                      <a:r>
                        <a:rPr lang="zh-TW"/>
                        <a:t>函數內計算過程中使用的變數</a:t>
                      </a:r>
                      <a:endParaRPr/>
                    </a:p>
                  </a:txBody>
                  <a:tcPr marT="91425" marB="91425" marR="91425" marL="91425"/>
                </a:tc>
                <a:tc>
                  <a:txBody>
                    <a:bodyPr/>
                    <a:lstStyle/>
                    <a:p>
                      <a:pPr indent="0" lvl="0" marL="0" rtl="0" algn="l">
                        <a:spcBef>
                          <a:spcPts val="0"/>
                        </a:spcBef>
                        <a:spcAft>
                          <a:spcPts val="0"/>
                        </a:spcAft>
                        <a:buNone/>
                      </a:pPr>
                      <a:r>
                        <a:rPr lang="zh-TW"/>
                        <a:t>配置設定、全局計數器等需要多處使用的變數</a:t>
                      </a:r>
                      <a:endParaRPr/>
                    </a:p>
                  </a:txBody>
                  <a:tcPr marT="91425" marB="91425" marR="91425" marL="91425"/>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2. 使用物件導向進行邏輯封裝</a:t>
            </a:r>
            <a:endParaRPr/>
          </a:p>
        </p:txBody>
      </p:sp>
      <p:sp>
        <p:nvSpPr>
          <p:cNvPr id="517" name="Google Shape;517;p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zh-TW" sz="1500">
                <a:solidFill>
                  <a:srgbClr val="000000"/>
                </a:solidFill>
                <a:latin typeface="Arial"/>
                <a:ea typeface="Arial"/>
                <a:cs typeface="Arial"/>
                <a:sym typeface="Arial"/>
              </a:rPr>
              <a:t>什麼是物件導向？</a:t>
            </a:r>
            <a:endParaRPr b="1" sz="1500">
              <a:solidFill>
                <a:srgbClr val="000000"/>
              </a:solidFill>
              <a:latin typeface="Arial"/>
              <a:ea typeface="Arial"/>
              <a:cs typeface="Arial"/>
              <a:sym typeface="Arial"/>
            </a:endParaRPr>
          </a:p>
          <a:p>
            <a:pPr indent="0" lvl="0" marL="0" rtl="0" algn="l">
              <a:spcBef>
                <a:spcPts val="1200"/>
              </a:spcBef>
              <a:spcAft>
                <a:spcPts val="0"/>
              </a:spcAft>
              <a:buNone/>
            </a:pPr>
            <a:r>
              <a:rPr lang="zh-TW" sz="1500">
                <a:solidFill>
                  <a:srgbClr val="000000"/>
                </a:solidFill>
                <a:latin typeface="Arial"/>
                <a:ea typeface="Arial"/>
                <a:cs typeface="Arial"/>
                <a:sym typeface="Arial"/>
              </a:rPr>
              <a:t>物件導向程式設計（OOP）是一種將程式邏輯封裝在**類別（class）**中的方法。類別是一種自訂的資料結構，能夠封裝屬性（變數）和方法（函式）。透過 OOP，可以模擬現實世界中的物件，並更好地組織和管理程式邏輯。</a:t>
            </a:r>
            <a:endParaRPr sz="1500">
              <a:solidFill>
                <a:srgbClr val="000000"/>
              </a:solidFill>
              <a:latin typeface="Arial"/>
              <a:ea typeface="Arial"/>
              <a:cs typeface="Arial"/>
              <a:sym typeface="Arial"/>
            </a:endParaRPr>
          </a:p>
          <a:p>
            <a:pPr indent="0" lvl="0" marL="0" rtl="0" algn="l">
              <a:spcBef>
                <a:spcPts val="1200"/>
              </a:spcBef>
              <a:spcAft>
                <a:spcPts val="0"/>
              </a:spcAft>
              <a:buNone/>
            </a:pPr>
            <a:r>
              <a:rPr b="1" lang="zh-TW" sz="1500">
                <a:solidFill>
                  <a:srgbClr val="000000"/>
                </a:solidFill>
                <a:latin typeface="Arial"/>
                <a:ea typeface="Arial"/>
                <a:cs typeface="Arial"/>
                <a:sym typeface="Arial"/>
              </a:rPr>
              <a:t>物件導向的基礎概念</a:t>
            </a:r>
            <a:endParaRPr b="1" sz="15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b="1" lang="zh-TW" sz="1500">
                <a:solidFill>
                  <a:srgbClr val="000000"/>
                </a:solidFill>
                <a:latin typeface="Arial"/>
                <a:ea typeface="Arial"/>
                <a:cs typeface="Arial"/>
                <a:sym typeface="Arial"/>
              </a:rPr>
              <a:t>類別（Class）</a:t>
            </a:r>
            <a:r>
              <a:rPr lang="zh-TW" sz="1500">
                <a:solidFill>
                  <a:srgbClr val="000000"/>
                </a:solidFill>
                <a:latin typeface="Arial"/>
                <a:ea typeface="Arial"/>
                <a:cs typeface="Arial"/>
                <a:sym typeface="Arial"/>
              </a:rPr>
              <a:t>：定義物件的藍圖，包含屬性和行為。</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b="1" lang="zh-TW" sz="1500">
                <a:solidFill>
                  <a:srgbClr val="000000"/>
                </a:solidFill>
                <a:latin typeface="Arial"/>
                <a:ea typeface="Arial"/>
                <a:cs typeface="Arial"/>
                <a:sym typeface="Arial"/>
              </a:rPr>
              <a:t>物件（Object）</a:t>
            </a:r>
            <a:r>
              <a:rPr lang="zh-TW" sz="1500">
                <a:solidFill>
                  <a:srgbClr val="000000"/>
                </a:solidFill>
                <a:latin typeface="Arial"/>
                <a:ea typeface="Arial"/>
                <a:cs typeface="Arial"/>
                <a:sym typeface="Arial"/>
              </a:rPr>
              <a:t>：由類別實例化而來，是類別的具體表現。</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b="1" lang="zh-TW" sz="1500">
                <a:solidFill>
                  <a:srgbClr val="000000"/>
                </a:solidFill>
                <a:latin typeface="Arial"/>
                <a:ea typeface="Arial"/>
                <a:cs typeface="Arial"/>
                <a:sym typeface="Arial"/>
              </a:rPr>
              <a:t>屬性（Attributes）</a:t>
            </a:r>
            <a:r>
              <a:rPr lang="zh-TW" sz="1500">
                <a:solidFill>
                  <a:srgbClr val="000000"/>
                </a:solidFill>
                <a:latin typeface="Arial"/>
                <a:ea typeface="Arial"/>
                <a:cs typeface="Arial"/>
                <a:sym typeface="Arial"/>
              </a:rPr>
              <a:t>：物件的特性，類似於變數。</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b="1" lang="zh-TW" sz="1500">
                <a:solidFill>
                  <a:srgbClr val="000000"/>
                </a:solidFill>
                <a:latin typeface="Arial"/>
                <a:ea typeface="Arial"/>
                <a:cs typeface="Arial"/>
                <a:sym typeface="Arial"/>
              </a:rPr>
              <a:t>方法（Methods）</a:t>
            </a:r>
            <a:r>
              <a:rPr lang="zh-TW" sz="1500">
                <a:solidFill>
                  <a:srgbClr val="000000"/>
                </a:solidFill>
                <a:latin typeface="Arial"/>
                <a:ea typeface="Arial"/>
                <a:cs typeface="Arial"/>
                <a:sym typeface="Arial"/>
              </a:rPr>
              <a:t>：物件的行為，類似於函式，但與物件緊密結合。</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2. 使用物件導向進行邏輯封裝</a:t>
            </a:r>
            <a:endParaRPr/>
          </a:p>
        </p:txBody>
      </p:sp>
      <p:sp>
        <p:nvSpPr>
          <p:cNvPr id="523" name="Google Shape;523;p80"/>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定義與使用類別的範例</a:t>
            </a:r>
            <a:endParaRPr/>
          </a:p>
        </p:txBody>
      </p:sp>
      <p:sp>
        <p:nvSpPr>
          <p:cNvPr id="524" name="Google Shape;524;p80"/>
          <p:cNvSpPr txBox="1"/>
          <p:nvPr/>
        </p:nvSpPr>
        <p:spPr>
          <a:xfrm>
            <a:off x="713650" y="1510800"/>
            <a:ext cx="80304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 定義一個簡單的類別</a:t>
            </a:r>
            <a:endParaRPr/>
          </a:p>
          <a:p>
            <a:pPr indent="0" lvl="0" marL="0" rtl="0" algn="l">
              <a:spcBef>
                <a:spcPts val="0"/>
              </a:spcBef>
              <a:spcAft>
                <a:spcPts val="0"/>
              </a:spcAft>
              <a:buNone/>
            </a:pPr>
            <a:r>
              <a:rPr lang="zh-TW"/>
              <a:t>class Person:</a:t>
            </a:r>
            <a:endParaRPr/>
          </a:p>
          <a:p>
            <a:pPr indent="0" lvl="0" marL="0" rtl="0" algn="l">
              <a:spcBef>
                <a:spcPts val="0"/>
              </a:spcBef>
              <a:spcAft>
                <a:spcPts val="0"/>
              </a:spcAft>
              <a:buNone/>
            </a:pPr>
            <a:r>
              <a:rPr lang="zh-TW"/>
              <a:t>    # 初始化方法（constructor），用於設置初始屬性</a:t>
            </a:r>
            <a:endParaRPr/>
          </a:p>
          <a:p>
            <a:pPr indent="0" lvl="0" marL="0" rtl="0" algn="l">
              <a:spcBef>
                <a:spcPts val="0"/>
              </a:spcBef>
              <a:spcAft>
                <a:spcPts val="0"/>
              </a:spcAft>
              <a:buNone/>
            </a:pPr>
            <a:r>
              <a:rPr lang="zh-TW"/>
              <a:t>    def __init__(self, name, age):</a:t>
            </a:r>
            <a:endParaRPr/>
          </a:p>
          <a:p>
            <a:pPr indent="0" lvl="0" marL="0" rtl="0" algn="l">
              <a:spcBef>
                <a:spcPts val="0"/>
              </a:spcBef>
              <a:spcAft>
                <a:spcPts val="0"/>
              </a:spcAft>
              <a:buNone/>
            </a:pPr>
            <a:r>
              <a:rPr lang="zh-TW"/>
              <a:t>        self.name = name</a:t>
            </a:r>
            <a:endParaRPr/>
          </a:p>
          <a:p>
            <a:pPr indent="0" lvl="0" marL="0" rtl="0" algn="l">
              <a:spcBef>
                <a:spcPts val="0"/>
              </a:spcBef>
              <a:spcAft>
                <a:spcPts val="0"/>
              </a:spcAft>
              <a:buNone/>
            </a:pPr>
            <a:r>
              <a:rPr lang="zh-TW"/>
              <a:t>        self.age = age</a:t>
            </a:r>
            <a:endParaRPr/>
          </a:p>
          <a:p>
            <a:pPr indent="0" lvl="0" marL="0" rtl="0" algn="l">
              <a:spcBef>
                <a:spcPts val="0"/>
              </a:spcBef>
              <a:spcAft>
                <a:spcPts val="0"/>
              </a:spcAft>
              <a:buNone/>
            </a:pPr>
            <a:r>
              <a:rPr lang="zh-TW"/>
              <a:t>    </a:t>
            </a:r>
            <a:endParaRPr/>
          </a:p>
          <a:p>
            <a:pPr indent="0" lvl="0" marL="0" rtl="0" algn="l">
              <a:spcBef>
                <a:spcPts val="0"/>
              </a:spcBef>
              <a:spcAft>
                <a:spcPts val="0"/>
              </a:spcAft>
              <a:buNone/>
            </a:pPr>
            <a:r>
              <a:rPr lang="zh-TW"/>
              <a:t>    # 方法：介紹自己</a:t>
            </a:r>
            <a:endParaRPr/>
          </a:p>
          <a:p>
            <a:pPr indent="0" lvl="0" marL="0" rtl="0" algn="l">
              <a:spcBef>
                <a:spcPts val="0"/>
              </a:spcBef>
              <a:spcAft>
                <a:spcPts val="0"/>
              </a:spcAft>
              <a:buNone/>
            </a:pPr>
            <a:r>
              <a:rPr lang="zh-TW"/>
              <a:t>    def introduce(self):</a:t>
            </a:r>
            <a:endParaRPr/>
          </a:p>
          <a:p>
            <a:pPr indent="0" lvl="0" marL="0" rtl="0" algn="l">
              <a:spcBef>
                <a:spcPts val="0"/>
              </a:spcBef>
              <a:spcAft>
                <a:spcPts val="0"/>
              </a:spcAft>
              <a:buNone/>
            </a:pPr>
            <a:r>
              <a:rPr lang="zh-TW"/>
              <a:t>        print(f"My name is {self.name} and I am {self.age} years old.")</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 創建一個 Person 類的物件</a:t>
            </a:r>
            <a:endParaRPr/>
          </a:p>
          <a:p>
            <a:pPr indent="0" lvl="0" marL="0" rtl="0" algn="l">
              <a:spcBef>
                <a:spcPts val="0"/>
              </a:spcBef>
              <a:spcAft>
                <a:spcPts val="0"/>
              </a:spcAft>
              <a:buNone/>
            </a:pPr>
            <a:r>
              <a:rPr lang="zh-TW"/>
              <a:t>person1 = Person("Alice", 25)</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 呼叫物件的方法</a:t>
            </a:r>
            <a:endParaRPr/>
          </a:p>
          <a:p>
            <a:pPr indent="0" lvl="0" marL="0" rtl="0" algn="l">
              <a:spcBef>
                <a:spcPts val="0"/>
              </a:spcBef>
              <a:spcAft>
                <a:spcPts val="0"/>
              </a:spcAft>
              <a:buNone/>
            </a:pPr>
            <a:r>
              <a:rPr lang="zh-TW"/>
              <a:t>person1.introduce()  # 輸出: My name is Alice and I am 25 years old.</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81"/>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2. 使用物件導向進行邏輯封裝</a:t>
            </a:r>
            <a:endParaRPr/>
          </a:p>
        </p:txBody>
      </p:sp>
      <p:sp>
        <p:nvSpPr>
          <p:cNvPr id="530" name="Google Shape;530;p81"/>
          <p:cNvSpPr txBox="1"/>
          <p:nvPr>
            <p:ph idx="1" type="body"/>
          </p:nvPr>
        </p:nvSpPr>
        <p:spPr>
          <a:xfrm>
            <a:off x="311700" y="7151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zh-TW" sz="1500">
                <a:solidFill>
                  <a:srgbClr val="000000"/>
                </a:solidFill>
                <a:latin typeface="Arial"/>
                <a:ea typeface="Arial"/>
                <a:cs typeface="Arial"/>
                <a:sym typeface="Arial"/>
              </a:rPr>
              <a:t>封裝與資料隱藏</a:t>
            </a:r>
            <a:endParaRPr b="1" sz="1500">
              <a:solidFill>
                <a:srgbClr val="000000"/>
              </a:solidFill>
              <a:latin typeface="Arial"/>
              <a:ea typeface="Arial"/>
              <a:cs typeface="Arial"/>
              <a:sym typeface="Arial"/>
            </a:endParaRPr>
          </a:p>
          <a:p>
            <a:pPr indent="0" lvl="0" marL="0" rtl="0" algn="l">
              <a:spcBef>
                <a:spcPts val="1200"/>
              </a:spcBef>
              <a:spcAft>
                <a:spcPts val="0"/>
              </a:spcAft>
              <a:buNone/>
            </a:pPr>
            <a:r>
              <a:rPr lang="zh-TW" sz="1500">
                <a:solidFill>
                  <a:srgbClr val="000000"/>
                </a:solidFill>
                <a:latin typeface="Arial"/>
                <a:ea typeface="Arial"/>
                <a:cs typeface="Arial"/>
                <a:sym typeface="Arial"/>
              </a:rPr>
              <a:t>在物件導向中，</a:t>
            </a:r>
            <a:r>
              <a:rPr b="1" lang="zh-TW" sz="1500">
                <a:solidFill>
                  <a:srgbClr val="000000"/>
                </a:solidFill>
                <a:latin typeface="Arial"/>
                <a:ea typeface="Arial"/>
                <a:cs typeface="Arial"/>
                <a:sym typeface="Arial"/>
              </a:rPr>
              <a:t>封裝</a:t>
            </a:r>
            <a:r>
              <a:rPr lang="zh-TW" sz="1500">
                <a:solidFill>
                  <a:srgbClr val="000000"/>
                </a:solidFill>
                <a:latin typeface="Arial"/>
                <a:ea typeface="Arial"/>
                <a:cs typeface="Arial"/>
                <a:sym typeface="Arial"/>
              </a:rPr>
              <a:t>意味著隱藏物件的內部細節，只暴露外部接口來與物件互動。這樣可以避免外部直接修改物件內部的屬性，確保程式更穩定。</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531" name="Google Shape;531;p81"/>
          <p:cNvSpPr txBox="1"/>
          <p:nvPr/>
        </p:nvSpPr>
        <p:spPr>
          <a:xfrm>
            <a:off x="311700" y="1689275"/>
            <a:ext cx="50838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class BankAccount:</a:t>
            </a:r>
            <a:endParaRPr/>
          </a:p>
          <a:p>
            <a:pPr indent="0" lvl="0" marL="0" rtl="0" algn="l">
              <a:spcBef>
                <a:spcPts val="0"/>
              </a:spcBef>
              <a:spcAft>
                <a:spcPts val="0"/>
              </a:spcAft>
              <a:buNone/>
            </a:pPr>
            <a:r>
              <a:rPr lang="zh-TW"/>
              <a:t>    def __init__(self, balance):</a:t>
            </a:r>
            <a:endParaRPr/>
          </a:p>
          <a:p>
            <a:pPr indent="0" lvl="0" marL="0" rtl="0" algn="l">
              <a:spcBef>
                <a:spcPts val="0"/>
              </a:spcBef>
              <a:spcAft>
                <a:spcPts val="0"/>
              </a:spcAft>
              <a:buNone/>
            </a:pPr>
            <a:r>
              <a:rPr lang="zh-TW"/>
              <a:t>        self.__balance = balance  # 使用雙下劃線表示私有屬性</a:t>
            </a:r>
            <a:endParaRPr/>
          </a:p>
          <a:p>
            <a:pPr indent="0" lvl="0" marL="0" rtl="0" algn="l">
              <a:spcBef>
                <a:spcPts val="0"/>
              </a:spcBef>
              <a:spcAft>
                <a:spcPts val="0"/>
              </a:spcAft>
              <a:buNone/>
            </a:pPr>
            <a:r>
              <a:rPr lang="zh-TW"/>
              <a:t>    </a:t>
            </a:r>
            <a:endParaRPr/>
          </a:p>
          <a:p>
            <a:pPr indent="0" lvl="0" marL="0" rtl="0" algn="l">
              <a:spcBef>
                <a:spcPts val="0"/>
              </a:spcBef>
              <a:spcAft>
                <a:spcPts val="0"/>
              </a:spcAft>
              <a:buNone/>
            </a:pPr>
            <a:r>
              <a:rPr lang="zh-TW"/>
              <a:t>    def deposit(self, amount):</a:t>
            </a:r>
            <a:endParaRPr/>
          </a:p>
          <a:p>
            <a:pPr indent="0" lvl="0" marL="0" rtl="0" algn="l">
              <a:spcBef>
                <a:spcPts val="0"/>
              </a:spcBef>
              <a:spcAft>
                <a:spcPts val="0"/>
              </a:spcAft>
              <a:buNone/>
            </a:pPr>
            <a:r>
              <a:rPr lang="zh-TW"/>
              <a:t>        self.__balance += amount</a:t>
            </a:r>
            <a:endParaRPr/>
          </a:p>
          <a:p>
            <a:pPr indent="0" lvl="0" marL="0" rtl="0" algn="l">
              <a:spcBef>
                <a:spcPts val="0"/>
              </a:spcBef>
              <a:spcAft>
                <a:spcPts val="0"/>
              </a:spcAft>
              <a:buNone/>
            </a:pPr>
            <a:r>
              <a:rPr lang="zh-TW"/>
              <a:t>    </a:t>
            </a:r>
            <a:endParaRPr/>
          </a:p>
          <a:p>
            <a:pPr indent="0" lvl="0" marL="0" rtl="0" algn="l">
              <a:spcBef>
                <a:spcPts val="0"/>
              </a:spcBef>
              <a:spcAft>
                <a:spcPts val="0"/>
              </a:spcAft>
              <a:buNone/>
            </a:pPr>
            <a:r>
              <a:rPr lang="zh-TW"/>
              <a:t>    def withdraw(self, amount):</a:t>
            </a:r>
            <a:endParaRPr/>
          </a:p>
          <a:p>
            <a:pPr indent="0" lvl="0" marL="0" rtl="0" algn="l">
              <a:spcBef>
                <a:spcPts val="0"/>
              </a:spcBef>
              <a:spcAft>
                <a:spcPts val="0"/>
              </a:spcAft>
              <a:buNone/>
            </a:pPr>
            <a:r>
              <a:rPr lang="zh-TW"/>
              <a:t>        if amount &lt;= self.__balance:</a:t>
            </a:r>
            <a:endParaRPr/>
          </a:p>
          <a:p>
            <a:pPr indent="0" lvl="0" marL="0" rtl="0" algn="l">
              <a:spcBef>
                <a:spcPts val="0"/>
              </a:spcBef>
              <a:spcAft>
                <a:spcPts val="0"/>
              </a:spcAft>
              <a:buNone/>
            </a:pPr>
            <a:r>
              <a:rPr lang="zh-TW"/>
              <a:t>            self.__balance -= amount</a:t>
            </a:r>
            <a:endParaRPr/>
          </a:p>
          <a:p>
            <a:pPr indent="0" lvl="0" marL="0" rtl="0" algn="l">
              <a:spcBef>
                <a:spcPts val="0"/>
              </a:spcBef>
              <a:spcAft>
                <a:spcPts val="0"/>
              </a:spcAft>
              <a:buNone/>
            </a:pPr>
            <a:r>
              <a:rPr lang="zh-TW"/>
              <a:t>        else:</a:t>
            </a:r>
            <a:endParaRPr/>
          </a:p>
          <a:p>
            <a:pPr indent="0" lvl="0" marL="0" rtl="0" algn="l">
              <a:spcBef>
                <a:spcPts val="0"/>
              </a:spcBef>
              <a:spcAft>
                <a:spcPts val="0"/>
              </a:spcAft>
              <a:buNone/>
            </a:pPr>
            <a:r>
              <a:rPr lang="zh-TW"/>
              <a:t>            print("Insufficient funds")</a:t>
            </a:r>
            <a:endParaRPr/>
          </a:p>
          <a:p>
            <a:pPr indent="0" lvl="0" marL="0" rtl="0" algn="l">
              <a:spcBef>
                <a:spcPts val="0"/>
              </a:spcBef>
              <a:spcAft>
                <a:spcPts val="0"/>
              </a:spcAft>
              <a:buNone/>
            </a:pPr>
            <a:r>
              <a:rPr lang="zh-TW"/>
              <a:t>    </a:t>
            </a:r>
            <a:endParaRPr/>
          </a:p>
          <a:p>
            <a:pPr indent="0" lvl="0" marL="0" rtl="0" algn="l">
              <a:spcBef>
                <a:spcPts val="0"/>
              </a:spcBef>
              <a:spcAft>
                <a:spcPts val="0"/>
              </a:spcAft>
              <a:buNone/>
            </a:pPr>
            <a:r>
              <a:rPr lang="zh-TW"/>
              <a:t>    def get_balance(self):</a:t>
            </a:r>
            <a:endParaRPr/>
          </a:p>
          <a:p>
            <a:pPr indent="0" lvl="0" marL="0" rtl="0" algn="l">
              <a:spcBef>
                <a:spcPts val="0"/>
              </a:spcBef>
              <a:spcAft>
                <a:spcPts val="0"/>
              </a:spcAft>
              <a:buNone/>
            </a:pPr>
            <a:r>
              <a:rPr lang="zh-TW"/>
              <a:t>        return self.__balance</a:t>
            </a:r>
            <a:endParaRPr sz="1700"/>
          </a:p>
        </p:txBody>
      </p:sp>
      <p:sp>
        <p:nvSpPr>
          <p:cNvPr id="532" name="Google Shape;532;p81"/>
          <p:cNvSpPr txBox="1"/>
          <p:nvPr/>
        </p:nvSpPr>
        <p:spPr>
          <a:xfrm>
            <a:off x="5685475" y="2017000"/>
            <a:ext cx="3000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500"/>
              <a:t># 創建一個 BankAccount 物件</a:t>
            </a:r>
            <a:endParaRPr sz="1500"/>
          </a:p>
          <a:p>
            <a:pPr indent="0" lvl="0" marL="0" rtl="0" algn="l">
              <a:spcBef>
                <a:spcPts val="0"/>
              </a:spcBef>
              <a:spcAft>
                <a:spcPts val="0"/>
              </a:spcAft>
              <a:buNone/>
            </a:pPr>
            <a:r>
              <a:rPr lang="zh-TW" sz="1500"/>
              <a:t>account = BankAccount(100)</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zh-TW" sz="1500"/>
              <a:t># 存錢和取錢</a:t>
            </a:r>
            <a:endParaRPr sz="1500"/>
          </a:p>
          <a:p>
            <a:pPr indent="0" lvl="0" marL="0" rtl="0" algn="l">
              <a:spcBef>
                <a:spcPts val="0"/>
              </a:spcBef>
              <a:spcAft>
                <a:spcPts val="0"/>
              </a:spcAft>
              <a:buNone/>
            </a:pPr>
            <a:r>
              <a:rPr lang="zh-TW" sz="1500"/>
              <a:t>account.deposit(50)</a:t>
            </a:r>
            <a:endParaRPr sz="1500"/>
          </a:p>
          <a:p>
            <a:pPr indent="0" lvl="0" marL="0" rtl="0" algn="l">
              <a:spcBef>
                <a:spcPts val="0"/>
              </a:spcBef>
              <a:spcAft>
                <a:spcPts val="0"/>
              </a:spcAft>
              <a:buNone/>
            </a:pPr>
            <a:r>
              <a:rPr lang="zh-TW" sz="1500"/>
              <a:t>account.withdraw(30)</a:t>
            </a:r>
            <a:endParaRPr sz="1500"/>
          </a:p>
          <a:p>
            <a:pPr indent="0" lvl="0" marL="0" rtl="0" algn="l">
              <a:spcBef>
                <a:spcPts val="0"/>
              </a:spcBef>
              <a:spcAft>
                <a:spcPts val="0"/>
              </a:spcAft>
              <a:buNone/>
            </a:pPr>
            <a:r>
              <a:rPr lang="zh-TW" sz="1500"/>
              <a:t>print(account.get_balance())  # 輸出: 120</a:t>
            </a:r>
            <a:endParaRPr sz="20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82"/>
          <p:cNvSpPr txBox="1"/>
          <p:nvPr>
            <p:ph type="title"/>
          </p:nvPr>
        </p:nvSpPr>
        <p:spPr>
          <a:xfrm>
            <a:off x="311700" y="205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2. 使用物件導向進行邏輯封裝</a:t>
            </a:r>
            <a:endParaRPr/>
          </a:p>
        </p:txBody>
      </p:sp>
      <p:sp>
        <p:nvSpPr>
          <p:cNvPr id="538" name="Google Shape;538;p82"/>
          <p:cNvSpPr txBox="1"/>
          <p:nvPr>
            <p:ph idx="1" type="body"/>
          </p:nvPr>
        </p:nvSpPr>
        <p:spPr>
          <a:xfrm>
            <a:off x="311700" y="7782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zh-TW" sz="1400">
                <a:solidFill>
                  <a:srgbClr val="000000"/>
                </a:solidFill>
                <a:latin typeface="Arial"/>
                <a:ea typeface="Arial"/>
                <a:cs typeface="Arial"/>
                <a:sym typeface="Arial"/>
              </a:rPr>
              <a:t>繼承與多型</a:t>
            </a:r>
            <a:endParaRPr b="1" sz="1400">
              <a:solidFill>
                <a:srgbClr val="000000"/>
              </a:solidFill>
              <a:latin typeface="Arial"/>
              <a:ea typeface="Arial"/>
              <a:cs typeface="Arial"/>
              <a:sym typeface="Arial"/>
            </a:endParaRPr>
          </a:p>
          <a:p>
            <a:pPr indent="0" lvl="0" marL="0" rtl="0" algn="l">
              <a:spcBef>
                <a:spcPts val="1200"/>
              </a:spcBef>
              <a:spcAft>
                <a:spcPts val="0"/>
              </a:spcAft>
              <a:buNone/>
            </a:pPr>
            <a:r>
              <a:rPr lang="zh-TW" sz="1400">
                <a:solidFill>
                  <a:srgbClr val="000000"/>
                </a:solidFill>
                <a:latin typeface="Arial"/>
                <a:ea typeface="Arial"/>
                <a:cs typeface="Arial"/>
                <a:sym typeface="Arial"/>
              </a:rPr>
              <a:t>OOP 的另一個強大功能是</a:t>
            </a:r>
            <a:r>
              <a:rPr b="1" lang="zh-TW" sz="1400">
                <a:solidFill>
                  <a:srgbClr val="000000"/>
                </a:solidFill>
                <a:latin typeface="Arial"/>
                <a:ea typeface="Arial"/>
                <a:cs typeface="Arial"/>
                <a:sym typeface="Arial"/>
              </a:rPr>
              <a:t>繼承（Inheritance）</a:t>
            </a:r>
            <a:r>
              <a:rPr lang="zh-TW" sz="1400">
                <a:solidFill>
                  <a:srgbClr val="000000"/>
                </a:solidFill>
                <a:latin typeface="Arial"/>
                <a:ea typeface="Arial"/>
                <a:cs typeface="Arial"/>
                <a:sym typeface="Arial"/>
              </a:rPr>
              <a:t>，允許一個類別繼承另一個類別的屬性和方法。這樣可以讓程式碼更加模組化和可重複使用。</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539" name="Google Shape;539;p82"/>
          <p:cNvSpPr txBox="1"/>
          <p:nvPr/>
        </p:nvSpPr>
        <p:spPr>
          <a:xfrm>
            <a:off x="630325" y="1928800"/>
            <a:ext cx="61773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 定義父類別</a:t>
            </a:r>
            <a:endParaRPr/>
          </a:p>
          <a:p>
            <a:pPr indent="0" lvl="0" marL="0" rtl="0" algn="l">
              <a:spcBef>
                <a:spcPts val="0"/>
              </a:spcBef>
              <a:spcAft>
                <a:spcPts val="0"/>
              </a:spcAft>
              <a:buNone/>
            </a:pPr>
            <a:r>
              <a:rPr lang="zh-TW"/>
              <a:t>class Animal:</a:t>
            </a:r>
            <a:endParaRPr/>
          </a:p>
          <a:p>
            <a:pPr indent="0" lvl="0" marL="0" rtl="0" algn="l">
              <a:spcBef>
                <a:spcPts val="0"/>
              </a:spcBef>
              <a:spcAft>
                <a:spcPts val="0"/>
              </a:spcAft>
              <a:buNone/>
            </a:pPr>
            <a:r>
              <a:rPr lang="zh-TW"/>
              <a:t>    def speak(self):</a:t>
            </a:r>
            <a:endParaRPr/>
          </a:p>
          <a:p>
            <a:pPr indent="0" lvl="0" marL="0" rtl="0" algn="l">
              <a:spcBef>
                <a:spcPts val="0"/>
              </a:spcBef>
              <a:spcAft>
                <a:spcPts val="0"/>
              </a:spcAft>
              <a:buNone/>
            </a:pPr>
            <a:r>
              <a:rPr lang="zh-TW"/>
              <a:t>        print("The animal makes a sound")</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 定義子類別，繼承自 Animal</a:t>
            </a:r>
            <a:endParaRPr/>
          </a:p>
          <a:p>
            <a:pPr indent="0" lvl="0" marL="0" rtl="0" algn="l">
              <a:spcBef>
                <a:spcPts val="0"/>
              </a:spcBef>
              <a:spcAft>
                <a:spcPts val="0"/>
              </a:spcAft>
              <a:buNone/>
            </a:pPr>
            <a:r>
              <a:rPr lang="zh-TW"/>
              <a:t>class Dog(Animal):</a:t>
            </a:r>
            <a:endParaRPr/>
          </a:p>
          <a:p>
            <a:pPr indent="0" lvl="0" marL="0" rtl="0" algn="l">
              <a:spcBef>
                <a:spcPts val="0"/>
              </a:spcBef>
              <a:spcAft>
                <a:spcPts val="0"/>
              </a:spcAft>
              <a:buNone/>
            </a:pPr>
            <a:r>
              <a:rPr lang="zh-TW"/>
              <a:t>    def speak(self):</a:t>
            </a:r>
            <a:endParaRPr/>
          </a:p>
          <a:p>
            <a:pPr indent="0" lvl="0" marL="0" rtl="0" algn="l">
              <a:spcBef>
                <a:spcPts val="0"/>
              </a:spcBef>
              <a:spcAft>
                <a:spcPts val="0"/>
              </a:spcAft>
              <a:buNone/>
            </a:pPr>
            <a:r>
              <a:rPr lang="zh-TW"/>
              <a:t>        print("The dog barks")</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 創建物件並呼叫方法</a:t>
            </a:r>
            <a:endParaRPr/>
          </a:p>
          <a:p>
            <a:pPr indent="0" lvl="0" marL="0" rtl="0" algn="l">
              <a:spcBef>
                <a:spcPts val="0"/>
              </a:spcBef>
              <a:spcAft>
                <a:spcPts val="0"/>
              </a:spcAft>
              <a:buNone/>
            </a:pPr>
            <a:r>
              <a:rPr lang="zh-TW"/>
              <a:t>dog = Dog()</a:t>
            </a:r>
            <a:endParaRPr/>
          </a:p>
          <a:p>
            <a:pPr indent="0" lvl="0" marL="0" rtl="0" algn="l">
              <a:spcBef>
                <a:spcPts val="0"/>
              </a:spcBef>
              <a:spcAft>
                <a:spcPts val="0"/>
              </a:spcAft>
              <a:buNone/>
            </a:pPr>
            <a:r>
              <a:rPr lang="zh-TW"/>
              <a:t>dog.speak()  # 輸出: The dog barks</a:t>
            </a:r>
            <a:endParaRPr/>
          </a:p>
        </p:txBody>
      </p:sp>
      <p:sp>
        <p:nvSpPr>
          <p:cNvPr id="540" name="Google Shape;540;p82"/>
          <p:cNvSpPr txBox="1"/>
          <p:nvPr/>
        </p:nvSpPr>
        <p:spPr>
          <a:xfrm>
            <a:off x="5093100" y="2140050"/>
            <a:ext cx="3874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在這裡，</a:t>
            </a:r>
            <a:r>
              <a:rPr lang="zh-TW">
                <a:solidFill>
                  <a:srgbClr val="188038"/>
                </a:solidFill>
                <a:latin typeface="Roboto Mono"/>
                <a:ea typeface="Roboto Mono"/>
                <a:cs typeface="Roboto Mono"/>
                <a:sym typeface="Roboto Mono"/>
              </a:rPr>
              <a:t>Dog</a:t>
            </a:r>
            <a:r>
              <a:rPr lang="zh-TW"/>
              <a:t> 類別繼承了 </a:t>
            </a:r>
            <a:r>
              <a:rPr lang="zh-TW">
                <a:solidFill>
                  <a:srgbClr val="188038"/>
                </a:solidFill>
                <a:latin typeface="Roboto Mono"/>
                <a:ea typeface="Roboto Mono"/>
                <a:cs typeface="Roboto Mono"/>
                <a:sym typeface="Roboto Mono"/>
              </a:rPr>
              <a:t>Animal</a:t>
            </a:r>
            <a:r>
              <a:rPr lang="zh-TW"/>
              <a:t> 類別，並且覆寫了父類別的 </a:t>
            </a:r>
            <a:r>
              <a:rPr lang="zh-TW">
                <a:solidFill>
                  <a:srgbClr val="188038"/>
                </a:solidFill>
                <a:latin typeface="Roboto Mono"/>
                <a:ea typeface="Roboto Mono"/>
                <a:cs typeface="Roboto Mono"/>
                <a:sym typeface="Roboto Mono"/>
              </a:rPr>
              <a:t>speak()</a:t>
            </a:r>
            <a:r>
              <a:rPr lang="zh-TW"/>
              <a:t> 方法，這就是所謂的</a:t>
            </a:r>
            <a:r>
              <a:rPr b="1" lang="zh-TW"/>
              <a:t>多型（Polymorphism）</a:t>
            </a:r>
            <a:r>
              <a:rPr lang="zh-TW"/>
              <a:t>。</a:t>
            </a:r>
            <a:endParaRPr sz="17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3"/>
          <p:cNvSpPr txBox="1"/>
          <p:nvPr>
            <p:ph type="title"/>
          </p:nvPr>
        </p:nvSpPr>
        <p:spPr>
          <a:xfrm>
            <a:off x="311700" y="192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函式與物件導向比較</a:t>
            </a:r>
            <a:endParaRPr/>
          </a:p>
        </p:txBody>
      </p:sp>
      <p:graphicFrame>
        <p:nvGraphicFramePr>
          <p:cNvPr id="546" name="Google Shape;546;p83"/>
          <p:cNvGraphicFramePr/>
          <p:nvPr/>
        </p:nvGraphicFramePr>
        <p:xfrm>
          <a:off x="952500" y="938475"/>
          <a:ext cx="3000000" cy="3000000"/>
        </p:xfrm>
        <a:graphic>
          <a:graphicData uri="http://schemas.openxmlformats.org/drawingml/2006/table">
            <a:tbl>
              <a:tblPr>
                <a:noFill/>
                <a:tableStyleId>{7C26E4BD-2EE1-4CC8-BD85-72C400897770}</a:tableStyleId>
              </a:tblPr>
              <a:tblGrid>
                <a:gridCol w="2413000"/>
                <a:gridCol w="2413000"/>
                <a:gridCol w="2413000"/>
              </a:tblGrid>
              <a:tr h="381000">
                <a:tc>
                  <a:txBody>
                    <a:bodyPr/>
                    <a:lstStyle/>
                    <a:p>
                      <a:pPr indent="0" lvl="0" marL="0" rtl="0" algn="ctr">
                        <a:lnSpc>
                          <a:spcPct val="115000"/>
                        </a:lnSpc>
                        <a:spcBef>
                          <a:spcPts val="0"/>
                        </a:spcBef>
                        <a:spcAft>
                          <a:spcPts val="0"/>
                        </a:spcAft>
                        <a:buNone/>
                      </a:pPr>
                      <a:r>
                        <a:rPr b="1" lang="zh-TW" sz="1100"/>
                        <a:t>比較項目</a:t>
                      </a:r>
                      <a:endParaRPr b="1" sz="1100"/>
                    </a:p>
                  </a:txBody>
                  <a:tcPr marT="91425" marB="91425" marR="91425" marL="91425"/>
                </a:tc>
                <a:tc>
                  <a:txBody>
                    <a:bodyPr/>
                    <a:lstStyle/>
                    <a:p>
                      <a:pPr indent="0" lvl="0" marL="0" rtl="0" algn="l">
                        <a:spcBef>
                          <a:spcPts val="0"/>
                        </a:spcBef>
                        <a:spcAft>
                          <a:spcPts val="0"/>
                        </a:spcAft>
                        <a:buNone/>
                      </a:pPr>
                      <a:r>
                        <a:rPr lang="zh-TW"/>
                        <a:t>函式（Function）</a:t>
                      </a:r>
                      <a:endParaRPr/>
                    </a:p>
                  </a:txBody>
                  <a:tcPr marT="91425" marB="91425" marR="91425" marL="91425"/>
                </a:tc>
                <a:tc>
                  <a:txBody>
                    <a:bodyPr/>
                    <a:lstStyle/>
                    <a:p>
                      <a:pPr indent="0" lvl="0" marL="0" rtl="0" algn="l">
                        <a:spcBef>
                          <a:spcPts val="0"/>
                        </a:spcBef>
                        <a:spcAft>
                          <a:spcPts val="0"/>
                        </a:spcAft>
                        <a:buNone/>
                      </a:pPr>
                      <a:r>
                        <a:rPr lang="zh-TW"/>
                        <a:t>物件導向程式設計（OOP）</a:t>
                      </a:r>
                      <a:endParaRPr/>
                    </a:p>
                  </a:txBody>
                  <a:tcPr marT="91425" marB="91425" marR="91425" marL="91425"/>
                </a:tc>
              </a:tr>
              <a:tr h="381000">
                <a:tc>
                  <a:txBody>
                    <a:bodyPr/>
                    <a:lstStyle/>
                    <a:p>
                      <a:pPr indent="0" lvl="0" marL="0" rtl="0" algn="l">
                        <a:spcBef>
                          <a:spcPts val="0"/>
                        </a:spcBef>
                        <a:spcAft>
                          <a:spcPts val="0"/>
                        </a:spcAft>
                        <a:buNone/>
                      </a:pPr>
                      <a:r>
                        <a:rPr lang="zh-TW"/>
                        <a:t>概念</a:t>
                      </a:r>
                      <a:endParaRPr/>
                    </a:p>
                  </a:txBody>
                  <a:tcPr marT="91425" marB="91425" marR="91425" marL="91425"/>
                </a:tc>
                <a:tc>
                  <a:txBody>
                    <a:bodyPr/>
                    <a:lstStyle/>
                    <a:p>
                      <a:pPr indent="0" lvl="0" marL="0" rtl="0" algn="l">
                        <a:spcBef>
                          <a:spcPts val="0"/>
                        </a:spcBef>
                        <a:spcAft>
                          <a:spcPts val="0"/>
                        </a:spcAft>
                        <a:buNone/>
                      </a:pPr>
                      <a:r>
                        <a:rPr lang="zh-TW"/>
                        <a:t>將重複的邏輯封裝在一個函式中，並根據需要呼叫</a:t>
                      </a:r>
                      <a:endParaRPr/>
                    </a:p>
                  </a:txBody>
                  <a:tcPr marT="91425" marB="91425" marR="91425" marL="91425"/>
                </a:tc>
                <a:tc>
                  <a:txBody>
                    <a:bodyPr/>
                    <a:lstStyle/>
                    <a:p>
                      <a:pPr indent="0" lvl="0" marL="0" rtl="0" algn="l">
                        <a:spcBef>
                          <a:spcPts val="0"/>
                        </a:spcBef>
                        <a:spcAft>
                          <a:spcPts val="0"/>
                        </a:spcAft>
                        <a:buNone/>
                      </a:pPr>
                      <a:r>
                        <a:rPr lang="zh-TW"/>
                        <a:t>將資料與行為封裝在類別中，通過物件來操作與互動</a:t>
                      </a:r>
                      <a:endParaRPr/>
                    </a:p>
                  </a:txBody>
                  <a:tcPr marT="91425" marB="91425" marR="91425" marL="91425"/>
                </a:tc>
              </a:tr>
              <a:tr h="381000">
                <a:tc>
                  <a:txBody>
                    <a:bodyPr/>
                    <a:lstStyle/>
                    <a:p>
                      <a:pPr indent="0" lvl="0" marL="0" rtl="0" algn="l">
                        <a:spcBef>
                          <a:spcPts val="0"/>
                        </a:spcBef>
                        <a:spcAft>
                          <a:spcPts val="0"/>
                        </a:spcAft>
                        <a:buNone/>
                      </a:pPr>
                      <a:r>
                        <a:rPr lang="zh-TW"/>
                        <a:t>適用場景</a:t>
                      </a:r>
                      <a:endParaRPr/>
                    </a:p>
                  </a:txBody>
                  <a:tcPr marT="91425" marB="91425" marR="91425" marL="91425"/>
                </a:tc>
                <a:tc>
                  <a:txBody>
                    <a:bodyPr/>
                    <a:lstStyle/>
                    <a:p>
                      <a:pPr indent="0" lvl="0" marL="0" rtl="0" algn="l">
                        <a:spcBef>
                          <a:spcPts val="0"/>
                        </a:spcBef>
                        <a:spcAft>
                          <a:spcPts val="0"/>
                        </a:spcAft>
                        <a:buNone/>
                      </a:pPr>
                      <a:r>
                        <a:rPr lang="zh-TW"/>
                        <a:t>適合獨立的功能性操作，例如數學計算或資料處理</a:t>
                      </a:r>
                      <a:endParaRPr/>
                    </a:p>
                  </a:txBody>
                  <a:tcPr marT="91425" marB="91425" marR="91425" marL="91425"/>
                </a:tc>
                <a:tc>
                  <a:txBody>
                    <a:bodyPr/>
                    <a:lstStyle/>
                    <a:p>
                      <a:pPr indent="0" lvl="0" marL="0" rtl="0" algn="l">
                        <a:spcBef>
                          <a:spcPts val="0"/>
                        </a:spcBef>
                        <a:spcAft>
                          <a:spcPts val="0"/>
                        </a:spcAft>
                        <a:buNone/>
                      </a:pPr>
                      <a:r>
                        <a:rPr lang="zh-TW"/>
                        <a:t>適合處理複雜系統，特別是有資料與行為關聯時</a:t>
                      </a:r>
                      <a:endParaRPr/>
                    </a:p>
                  </a:txBody>
                  <a:tcPr marT="91425" marB="91425" marR="91425" marL="91425"/>
                </a:tc>
              </a:tr>
              <a:tr h="381000">
                <a:tc>
                  <a:txBody>
                    <a:bodyPr/>
                    <a:lstStyle/>
                    <a:p>
                      <a:pPr indent="0" lvl="0" marL="0" rtl="0" algn="l">
                        <a:spcBef>
                          <a:spcPts val="0"/>
                        </a:spcBef>
                        <a:spcAft>
                          <a:spcPts val="0"/>
                        </a:spcAft>
                        <a:buNone/>
                      </a:pPr>
                      <a:r>
                        <a:rPr lang="zh-TW"/>
                        <a:t>可擴展性</a:t>
                      </a:r>
                      <a:endParaRPr/>
                    </a:p>
                  </a:txBody>
                  <a:tcPr marT="91425" marB="91425" marR="91425" marL="91425"/>
                </a:tc>
                <a:tc>
                  <a:txBody>
                    <a:bodyPr/>
                    <a:lstStyle/>
                    <a:p>
                      <a:pPr indent="0" lvl="0" marL="0" rtl="0" algn="l">
                        <a:spcBef>
                          <a:spcPts val="0"/>
                        </a:spcBef>
                        <a:spcAft>
                          <a:spcPts val="0"/>
                        </a:spcAft>
                        <a:buNone/>
                      </a:pPr>
                      <a:r>
                        <a:rPr lang="zh-TW"/>
                        <a:t>通常以函式為單位，較難擴展功能</a:t>
                      </a:r>
                      <a:endParaRPr/>
                    </a:p>
                  </a:txBody>
                  <a:tcPr marT="91425" marB="91425" marR="91425" marL="91425"/>
                </a:tc>
                <a:tc>
                  <a:txBody>
                    <a:bodyPr/>
                    <a:lstStyle/>
                    <a:p>
                      <a:pPr indent="0" lvl="0" marL="0" rtl="0" algn="l">
                        <a:spcBef>
                          <a:spcPts val="0"/>
                        </a:spcBef>
                        <a:spcAft>
                          <a:spcPts val="0"/>
                        </a:spcAft>
                        <a:buNone/>
                      </a:pPr>
                      <a:r>
                        <a:rPr lang="zh-TW"/>
                        <a:t>易於擴展，類別可以繼承並覆寫父類別的行為</a:t>
                      </a:r>
                      <a:endParaRPr/>
                    </a:p>
                  </a:txBody>
                  <a:tcPr marT="91425" marB="91425" marR="91425" marL="91425"/>
                </a:tc>
              </a:tr>
              <a:tr h="381000">
                <a:tc>
                  <a:txBody>
                    <a:bodyPr/>
                    <a:lstStyle/>
                    <a:p>
                      <a:pPr indent="0" lvl="0" marL="0" rtl="0" algn="l">
                        <a:spcBef>
                          <a:spcPts val="0"/>
                        </a:spcBef>
                        <a:spcAft>
                          <a:spcPts val="0"/>
                        </a:spcAft>
                        <a:buNone/>
                      </a:pPr>
                      <a:r>
                        <a:rPr lang="zh-TW"/>
                        <a:t>抽象化</a:t>
                      </a:r>
                      <a:endParaRPr/>
                    </a:p>
                  </a:txBody>
                  <a:tcPr marT="91425" marB="91425" marR="91425" marL="91425"/>
                </a:tc>
                <a:tc>
                  <a:txBody>
                    <a:bodyPr/>
                    <a:lstStyle/>
                    <a:p>
                      <a:pPr indent="0" lvl="0" marL="0" rtl="0" algn="l">
                        <a:spcBef>
                          <a:spcPts val="0"/>
                        </a:spcBef>
                        <a:spcAft>
                          <a:spcPts val="0"/>
                        </a:spcAft>
                        <a:buNone/>
                      </a:pPr>
                      <a:r>
                        <a:rPr lang="zh-TW"/>
                        <a:t>通常為具體的邏輯處理，抽象化程度較低</a:t>
                      </a:r>
                      <a:endParaRPr/>
                    </a:p>
                  </a:txBody>
                  <a:tcPr marT="91425" marB="91425" marR="91425" marL="91425"/>
                </a:tc>
                <a:tc>
                  <a:txBody>
                    <a:bodyPr/>
                    <a:lstStyle/>
                    <a:p>
                      <a:pPr indent="0" lvl="0" marL="0" rtl="0" algn="l">
                        <a:spcBef>
                          <a:spcPts val="0"/>
                        </a:spcBef>
                        <a:spcAft>
                          <a:spcPts val="0"/>
                        </a:spcAft>
                        <a:buNone/>
                      </a:pPr>
                      <a:r>
                        <a:rPr lang="zh-TW"/>
                        <a:t>更適合模擬現實世界的抽象概念，例如動物、車輛等</a:t>
                      </a:r>
                      <a:endParaRPr/>
                    </a:p>
                  </a:txBody>
                  <a:tcPr marT="91425" marB="91425" marR="91425" marL="91425"/>
                </a:tc>
              </a:tr>
              <a:tr h="381000">
                <a:tc>
                  <a:txBody>
                    <a:bodyPr/>
                    <a:lstStyle/>
                    <a:p>
                      <a:pPr indent="0" lvl="0" marL="0" rtl="0" algn="l">
                        <a:spcBef>
                          <a:spcPts val="0"/>
                        </a:spcBef>
                        <a:spcAft>
                          <a:spcPts val="0"/>
                        </a:spcAft>
                        <a:buNone/>
                      </a:pPr>
                      <a:r>
                        <a:rPr lang="zh-TW"/>
                        <a:t>資料處理方式</a:t>
                      </a:r>
                      <a:endParaRPr/>
                    </a:p>
                  </a:txBody>
                  <a:tcPr marT="91425" marB="91425" marR="91425" marL="91425"/>
                </a:tc>
                <a:tc>
                  <a:txBody>
                    <a:bodyPr/>
                    <a:lstStyle/>
                    <a:p>
                      <a:pPr indent="0" lvl="0" marL="0" rtl="0" algn="l">
                        <a:spcBef>
                          <a:spcPts val="0"/>
                        </a:spcBef>
                        <a:spcAft>
                          <a:spcPts val="0"/>
                        </a:spcAft>
                        <a:buNone/>
                      </a:pPr>
                      <a:r>
                        <a:rPr lang="zh-TW"/>
                        <a:t>透過傳遞參數與返回值處理資料</a:t>
                      </a:r>
                      <a:endParaRPr/>
                    </a:p>
                  </a:txBody>
                  <a:tcPr marT="91425" marB="91425" marR="91425" marL="91425"/>
                </a:tc>
                <a:tc>
                  <a:txBody>
                    <a:bodyPr/>
                    <a:lstStyle/>
                    <a:p>
                      <a:pPr indent="0" lvl="0" marL="0" rtl="0" algn="l">
                        <a:spcBef>
                          <a:spcPts val="0"/>
                        </a:spcBef>
                        <a:spcAft>
                          <a:spcPts val="0"/>
                        </a:spcAft>
                        <a:buNone/>
                      </a:pPr>
                      <a:r>
                        <a:rPr lang="zh-TW"/>
                        <a:t>屬性存儲資料，方法操縱資料，並與物件的狀態相關</a:t>
                      </a:r>
                      <a:endParaRPr/>
                    </a:p>
                  </a:txBody>
                  <a:tcPr marT="91425" marB="91425" marR="91425" marL="91425"/>
                </a:tc>
              </a:tr>
              <a:tr h="381000">
                <a:tc>
                  <a:txBody>
                    <a:bodyPr/>
                    <a:lstStyle/>
                    <a:p>
                      <a:pPr indent="0" lvl="0" marL="0" rtl="0" algn="l">
                        <a:spcBef>
                          <a:spcPts val="0"/>
                        </a:spcBef>
                        <a:spcAft>
                          <a:spcPts val="0"/>
                        </a:spcAft>
                        <a:buNone/>
                      </a:pPr>
                      <a:r>
                        <a:rPr lang="zh-TW"/>
                        <a:t>可讀性</a:t>
                      </a:r>
                      <a:endParaRPr/>
                    </a:p>
                  </a:txBody>
                  <a:tcPr marT="91425" marB="91425" marR="91425" marL="91425"/>
                </a:tc>
                <a:tc>
                  <a:txBody>
                    <a:bodyPr/>
                    <a:lstStyle/>
                    <a:p>
                      <a:pPr indent="0" lvl="0" marL="0" rtl="0" algn="l">
                        <a:spcBef>
                          <a:spcPts val="0"/>
                        </a:spcBef>
                        <a:spcAft>
                          <a:spcPts val="0"/>
                        </a:spcAft>
                        <a:buNone/>
                      </a:pPr>
                      <a:r>
                        <a:rPr lang="zh-TW"/>
                        <a:t>簡單的函式邏輯易於理解，但隨邏輯複雜化難維護</a:t>
                      </a:r>
                      <a:endParaRPr/>
                    </a:p>
                  </a:txBody>
                  <a:tcPr marT="91425" marB="91425" marR="91425" marL="91425"/>
                </a:tc>
                <a:tc>
                  <a:txBody>
                    <a:bodyPr/>
                    <a:lstStyle/>
                    <a:p>
                      <a:pPr indent="0" lvl="0" marL="0" rtl="0" algn="l">
                        <a:spcBef>
                          <a:spcPts val="0"/>
                        </a:spcBef>
                        <a:spcAft>
                          <a:spcPts val="0"/>
                        </a:spcAft>
                        <a:buNone/>
                      </a:pPr>
                      <a:r>
                        <a:rPr lang="zh-TW"/>
                        <a:t>透過物件的分層和繼承結構使程式碼更有組織性</a:t>
                      </a:r>
                      <a:endParaRPr/>
                    </a:p>
                  </a:txBody>
                  <a:tcPr marT="91425" marB="91425" marR="91425" marL="91425"/>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84"/>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資料前處理</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為什麼要資料前處理</a:t>
            </a:r>
            <a:endParaRPr/>
          </a:p>
        </p:txBody>
      </p:sp>
      <p:sp>
        <p:nvSpPr>
          <p:cNvPr id="557" name="Google Shape;557;p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資料前處理是機器學習、資料科學等領域中極為重要的一步。資料通常會包含雜訊、不完整或不一致的部分，因此在進行模型訓練前，必須先清理並格式化資料，以提升模型的準確性和效能。資料前處理的主要步驟包括資料清理、特徵縮放、特徵選擇、資料編碼等。</a:t>
            </a:r>
            <a:endParaRPr/>
          </a:p>
        </p:txBody>
      </p:sp>
      <p:pic>
        <p:nvPicPr>
          <p:cNvPr id="558" name="Google Shape;558;p85"/>
          <p:cNvPicPr preferRelativeResize="0"/>
          <p:nvPr/>
        </p:nvPicPr>
        <p:blipFill>
          <a:blip r:embed="rId3">
            <a:alphaModFix/>
          </a:blip>
          <a:stretch>
            <a:fillRect/>
          </a:stretch>
        </p:blipFill>
        <p:spPr>
          <a:xfrm>
            <a:off x="5937725" y="2298574"/>
            <a:ext cx="2991975" cy="26202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資料前處理的常見步驟</a:t>
            </a:r>
            <a:endParaRPr/>
          </a:p>
        </p:txBody>
      </p:sp>
      <p:graphicFrame>
        <p:nvGraphicFramePr>
          <p:cNvPr id="564" name="Google Shape;564;p86"/>
          <p:cNvGraphicFramePr/>
          <p:nvPr/>
        </p:nvGraphicFramePr>
        <p:xfrm>
          <a:off x="952500" y="1201825"/>
          <a:ext cx="3000000" cy="3000000"/>
        </p:xfrm>
        <a:graphic>
          <a:graphicData uri="http://schemas.openxmlformats.org/drawingml/2006/table">
            <a:tbl>
              <a:tblPr>
                <a:noFill/>
                <a:tableStyleId>{7C26E4BD-2EE1-4CC8-BD85-72C400897770}</a:tableStyleId>
              </a:tblPr>
              <a:tblGrid>
                <a:gridCol w="1501600"/>
                <a:gridCol w="5737400"/>
              </a:tblGrid>
              <a:tr h="381000">
                <a:tc>
                  <a:txBody>
                    <a:bodyPr/>
                    <a:lstStyle/>
                    <a:p>
                      <a:pPr indent="0" lvl="0" marL="0" rtl="0" algn="l">
                        <a:spcBef>
                          <a:spcPts val="0"/>
                        </a:spcBef>
                        <a:spcAft>
                          <a:spcPts val="0"/>
                        </a:spcAft>
                        <a:buNone/>
                      </a:pPr>
                      <a:r>
                        <a:rPr lang="zh-TW"/>
                        <a:t>步驟</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r>
              <a:tr h="381000">
                <a:tc>
                  <a:txBody>
                    <a:bodyPr/>
                    <a:lstStyle/>
                    <a:p>
                      <a:pPr indent="0" lvl="0" marL="0" rtl="0" algn="l">
                        <a:spcBef>
                          <a:spcPts val="0"/>
                        </a:spcBef>
                        <a:spcAft>
                          <a:spcPts val="0"/>
                        </a:spcAft>
                        <a:buNone/>
                      </a:pPr>
                      <a:r>
                        <a:rPr lang="zh-TW"/>
                        <a:t>資料清理</a:t>
                      </a:r>
                      <a:endParaRPr/>
                    </a:p>
                  </a:txBody>
                  <a:tcPr marT="91425" marB="91425" marR="91425" marL="91425"/>
                </a:tc>
                <a:tc>
                  <a:txBody>
                    <a:bodyPr/>
                    <a:lstStyle/>
                    <a:p>
                      <a:pPr indent="0" lvl="0" marL="0" rtl="0" algn="l">
                        <a:spcBef>
                          <a:spcPts val="0"/>
                        </a:spcBef>
                        <a:spcAft>
                          <a:spcPts val="0"/>
                        </a:spcAft>
                        <a:buNone/>
                      </a:pPr>
                      <a:r>
                        <a:rPr lang="zh-TW"/>
                        <a:t>處理遺失值、異常值，移除重複數據或無效數據</a:t>
                      </a:r>
                      <a:endParaRPr/>
                    </a:p>
                  </a:txBody>
                  <a:tcPr marT="91425" marB="91425" marR="91425" marL="91425"/>
                </a:tc>
              </a:tr>
              <a:tr h="381000">
                <a:tc>
                  <a:txBody>
                    <a:bodyPr/>
                    <a:lstStyle/>
                    <a:p>
                      <a:pPr indent="0" lvl="0" marL="0" rtl="0" algn="l">
                        <a:spcBef>
                          <a:spcPts val="0"/>
                        </a:spcBef>
                        <a:spcAft>
                          <a:spcPts val="0"/>
                        </a:spcAft>
                        <a:buNone/>
                      </a:pPr>
                      <a:r>
                        <a:rPr lang="zh-TW"/>
                        <a:t>資料轉換</a:t>
                      </a:r>
                      <a:endParaRPr/>
                    </a:p>
                  </a:txBody>
                  <a:tcPr marT="91425" marB="91425" marR="91425" marL="91425"/>
                </a:tc>
                <a:tc>
                  <a:txBody>
                    <a:bodyPr/>
                    <a:lstStyle/>
                    <a:p>
                      <a:pPr indent="0" lvl="0" marL="0" rtl="0" algn="l">
                        <a:spcBef>
                          <a:spcPts val="0"/>
                        </a:spcBef>
                        <a:spcAft>
                          <a:spcPts val="0"/>
                        </a:spcAft>
                        <a:buNone/>
                      </a:pPr>
                      <a:r>
                        <a:rPr lang="zh-TW"/>
                        <a:t>將數據進行標準化、正規化，或進行數據格式轉換</a:t>
                      </a:r>
                      <a:endParaRPr/>
                    </a:p>
                  </a:txBody>
                  <a:tcPr marT="91425" marB="91425" marR="91425" marL="91425"/>
                </a:tc>
              </a:tr>
              <a:tr h="381000">
                <a:tc>
                  <a:txBody>
                    <a:bodyPr/>
                    <a:lstStyle/>
                    <a:p>
                      <a:pPr indent="0" lvl="0" marL="0" rtl="0" algn="l">
                        <a:spcBef>
                          <a:spcPts val="0"/>
                        </a:spcBef>
                        <a:spcAft>
                          <a:spcPts val="0"/>
                        </a:spcAft>
                        <a:buNone/>
                      </a:pPr>
                      <a:r>
                        <a:rPr lang="zh-TW"/>
                        <a:t>資料編碼</a:t>
                      </a:r>
                      <a:endParaRPr/>
                    </a:p>
                  </a:txBody>
                  <a:tcPr marT="91425" marB="91425" marR="91425" marL="91425"/>
                </a:tc>
                <a:tc>
                  <a:txBody>
                    <a:bodyPr/>
                    <a:lstStyle/>
                    <a:p>
                      <a:pPr indent="0" lvl="0" marL="0" rtl="0" algn="l">
                        <a:spcBef>
                          <a:spcPts val="0"/>
                        </a:spcBef>
                        <a:spcAft>
                          <a:spcPts val="0"/>
                        </a:spcAft>
                        <a:buNone/>
                      </a:pPr>
                      <a:r>
                        <a:rPr lang="zh-TW"/>
                        <a:t>將類別變數轉換為數字格式（例如將字串轉換為數值，或使用One-Hot Encoding）</a:t>
                      </a:r>
                      <a:endParaRPr/>
                    </a:p>
                  </a:txBody>
                  <a:tcPr marT="91425" marB="91425" marR="91425" marL="91425"/>
                </a:tc>
              </a:tr>
              <a:tr h="381000">
                <a:tc>
                  <a:txBody>
                    <a:bodyPr/>
                    <a:lstStyle/>
                    <a:p>
                      <a:pPr indent="0" lvl="0" marL="0" rtl="0" algn="l">
                        <a:spcBef>
                          <a:spcPts val="0"/>
                        </a:spcBef>
                        <a:spcAft>
                          <a:spcPts val="0"/>
                        </a:spcAft>
                        <a:buNone/>
                      </a:pPr>
                      <a:r>
                        <a:rPr lang="zh-TW"/>
                        <a:t>特徵縮放</a:t>
                      </a:r>
                      <a:endParaRPr/>
                    </a:p>
                  </a:txBody>
                  <a:tcPr marT="91425" marB="91425" marR="91425" marL="91425"/>
                </a:tc>
                <a:tc>
                  <a:txBody>
                    <a:bodyPr/>
                    <a:lstStyle/>
                    <a:p>
                      <a:pPr indent="0" lvl="0" marL="0" rtl="0" algn="l">
                        <a:spcBef>
                          <a:spcPts val="0"/>
                        </a:spcBef>
                        <a:spcAft>
                          <a:spcPts val="0"/>
                        </a:spcAft>
                        <a:buNone/>
                      </a:pPr>
                      <a:r>
                        <a:rPr lang="zh-TW"/>
                        <a:t>將數據按比例縮放，確保所有變數具有相似的範圍，常見的縮放方法有標準化和正規化</a:t>
                      </a:r>
                      <a:endParaRPr/>
                    </a:p>
                  </a:txBody>
                  <a:tcPr marT="91425" marB="91425" marR="91425" marL="91425"/>
                </a:tc>
              </a:tr>
              <a:tr h="381000">
                <a:tc>
                  <a:txBody>
                    <a:bodyPr/>
                    <a:lstStyle/>
                    <a:p>
                      <a:pPr indent="0" lvl="0" marL="0" rtl="0" algn="l">
                        <a:spcBef>
                          <a:spcPts val="0"/>
                        </a:spcBef>
                        <a:spcAft>
                          <a:spcPts val="0"/>
                        </a:spcAft>
                        <a:buNone/>
                      </a:pPr>
                      <a:r>
                        <a:rPr lang="zh-TW"/>
                        <a:t>特徵選擇</a:t>
                      </a:r>
                      <a:endParaRPr/>
                    </a:p>
                  </a:txBody>
                  <a:tcPr marT="91425" marB="91425" marR="91425" marL="91425"/>
                </a:tc>
                <a:tc>
                  <a:txBody>
                    <a:bodyPr/>
                    <a:lstStyle/>
                    <a:p>
                      <a:pPr indent="0" lvl="0" marL="0" rtl="0" algn="l">
                        <a:spcBef>
                          <a:spcPts val="0"/>
                        </a:spcBef>
                        <a:spcAft>
                          <a:spcPts val="0"/>
                        </a:spcAft>
                        <a:buNone/>
                      </a:pPr>
                      <a:r>
                        <a:rPr lang="zh-TW"/>
                        <a:t>從大量變數中選擇最具代表性的特徵，減少模型的計算成本和過擬合風險</a:t>
                      </a:r>
                      <a:endParaRPr/>
                    </a:p>
                  </a:txBody>
                  <a:tcPr marT="91425" marB="91425" marR="91425" marL="91425"/>
                </a:tc>
              </a:tr>
              <a:tr h="381000">
                <a:tc>
                  <a:txBody>
                    <a:bodyPr/>
                    <a:lstStyle/>
                    <a:p>
                      <a:pPr indent="0" lvl="0" marL="0" rtl="0" algn="l">
                        <a:spcBef>
                          <a:spcPts val="0"/>
                        </a:spcBef>
                        <a:spcAft>
                          <a:spcPts val="0"/>
                        </a:spcAft>
                        <a:buNone/>
                      </a:pPr>
                      <a:r>
                        <a:rPr lang="zh-TW"/>
                        <a:t>資料分割</a:t>
                      </a:r>
                      <a:endParaRPr/>
                    </a:p>
                  </a:txBody>
                  <a:tcPr marT="91425" marB="91425" marR="91425" marL="91425"/>
                </a:tc>
                <a:tc>
                  <a:txBody>
                    <a:bodyPr/>
                    <a:lstStyle/>
                    <a:p>
                      <a:pPr indent="0" lvl="0" marL="0" rtl="0" algn="l">
                        <a:spcBef>
                          <a:spcPts val="0"/>
                        </a:spcBef>
                        <a:spcAft>
                          <a:spcPts val="0"/>
                        </a:spcAft>
                        <a:buNone/>
                      </a:pPr>
                      <a:r>
                        <a:rPr lang="zh-TW"/>
                        <a:t>將資料集分為訓練集、測試集和驗證集，用於訓練和評估模型</a:t>
                      </a:r>
                      <a:endParaRPr/>
                    </a:p>
                  </a:txBody>
                  <a:tcPr marT="91425" marB="91425" marR="91425" marL="91425"/>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87"/>
          <p:cNvSpPr txBox="1"/>
          <p:nvPr>
            <p:ph type="title"/>
          </p:nvPr>
        </p:nvSpPr>
        <p:spPr>
          <a:xfrm>
            <a:off x="398888" y="180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資料缺失值的常見處理方法</a:t>
            </a:r>
            <a:endParaRPr/>
          </a:p>
        </p:txBody>
      </p:sp>
      <p:graphicFrame>
        <p:nvGraphicFramePr>
          <p:cNvPr id="570" name="Google Shape;570;p87"/>
          <p:cNvGraphicFramePr/>
          <p:nvPr/>
        </p:nvGraphicFramePr>
        <p:xfrm>
          <a:off x="398888" y="752975"/>
          <a:ext cx="3000000" cy="3000000"/>
        </p:xfrm>
        <a:graphic>
          <a:graphicData uri="http://schemas.openxmlformats.org/drawingml/2006/table">
            <a:tbl>
              <a:tblPr>
                <a:noFill/>
                <a:tableStyleId>{7C26E4BD-2EE1-4CC8-BD85-72C400897770}</a:tableStyleId>
              </a:tblPr>
              <a:tblGrid>
                <a:gridCol w="1486850"/>
                <a:gridCol w="3545850"/>
                <a:gridCol w="3313525"/>
              </a:tblGrid>
              <a:tr h="427700">
                <a:tc>
                  <a:txBody>
                    <a:bodyPr/>
                    <a:lstStyle/>
                    <a:p>
                      <a:pPr indent="0" lvl="0" marL="0" rtl="0" algn="l">
                        <a:spcBef>
                          <a:spcPts val="0"/>
                        </a:spcBef>
                        <a:spcAft>
                          <a:spcPts val="0"/>
                        </a:spcAft>
                        <a:buNone/>
                      </a:pPr>
                      <a:r>
                        <a:rPr lang="zh-TW"/>
                        <a:t>方法</a:t>
                      </a:r>
                      <a:endParaRPr/>
                    </a:p>
                  </a:txBody>
                  <a:tcPr marT="91425" marB="91425" marR="91425" marL="91425"/>
                </a:tc>
                <a:tc>
                  <a:txBody>
                    <a:bodyPr/>
                    <a:lstStyle/>
                    <a:p>
                      <a:pPr indent="0" lvl="0" marL="0" rtl="0" algn="l">
                        <a:spcBef>
                          <a:spcPts val="0"/>
                        </a:spcBef>
                        <a:spcAft>
                          <a:spcPts val="0"/>
                        </a:spcAft>
                        <a:buNone/>
                      </a:pPr>
                      <a:r>
                        <a:rPr lang="zh-TW"/>
                        <a:t>說明</a:t>
                      </a:r>
                      <a:endParaRPr/>
                    </a:p>
                  </a:txBody>
                  <a:tcPr marT="91425" marB="91425" marR="91425" marL="91425"/>
                </a:tc>
                <a:tc>
                  <a:txBody>
                    <a:bodyPr/>
                    <a:lstStyle/>
                    <a:p>
                      <a:pPr indent="0" lvl="0" marL="0" rtl="0" algn="l">
                        <a:spcBef>
                          <a:spcPts val="0"/>
                        </a:spcBef>
                        <a:spcAft>
                          <a:spcPts val="0"/>
                        </a:spcAft>
                        <a:buNone/>
                      </a:pPr>
                      <a:r>
                        <a:rPr lang="zh-TW"/>
                        <a:t>適用情境</a:t>
                      </a:r>
                      <a:endParaRPr/>
                    </a:p>
                  </a:txBody>
                  <a:tcPr marT="91425" marB="91425" marR="91425" marL="91425"/>
                </a:tc>
              </a:tr>
              <a:tr h="778275">
                <a:tc>
                  <a:txBody>
                    <a:bodyPr/>
                    <a:lstStyle/>
                    <a:p>
                      <a:pPr indent="0" lvl="0" marL="0" rtl="0" algn="l">
                        <a:spcBef>
                          <a:spcPts val="0"/>
                        </a:spcBef>
                        <a:spcAft>
                          <a:spcPts val="0"/>
                        </a:spcAft>
                        <a:buNone/>
                      </a:pPr>
                      <a:r>
                        <a:rPr lang="zh-TW"/>
                        <a:t>刪除含有缺失值的資料</a:t>
                      </a:r>
                      <a:endParaRPr/>
                    </a:p>
                  </a:txBody>
                  <a:tcPr marT="91425" marB="91425" marR="91425" marL="91425"/>
                </a:tc>
                <a:tc>
                  <a:txBody>
                    <a:bodyPr/>
                    <a:lstStyle/>
                    <a:p>
                      <a:pPr indent="0" lvl="0" marL="0" rtl="0" algn="l">
                        <a:spcBef>
                          <a:spcPts val="0"/>
                        </a:spcBef>
                        <a:spcAft>
                          <a:spcPts val="0"/>
                        </a:spcAft>
                        <a:buNone/>
                      </a:pPr>
                      <a:r>
                        <a:rPr lang="zh-TW"/>
                        <a:t>刪除含有缺失值的行或列。</a:t>
                      </a:r>
                      <a:endParaRPr/>
                    </a:p>
                  </a:txBody>
                  <a:tcPr marT="91425" marB="91425" marR="91425" marL="91425"/>
                </a:tc>
                <a:tc>
                  <a:txBody>
                    <a:bodyPr/>
                    <a:lstStyle/>
                    <a:p>
                      <a:pPr indent="0" lvl="0" marL="0" rtl="0" algn="l">
                        <a:spcBef>
                          <a:spcPts val="0"/>
                        </a:spcBef>
                        <a:spcAft>
                          <a:spcPts val="0"/>
                        </a:spcAft>
                        <a:buNone/>
                      </a:pPr>
                      <a:r>
                        <a:rPr lang="zh-TW"/>
                        <a:t>當資料集較大且缺失值不多時適合使用，不會引入額外的假設，但可能會丟失有用資料。</a:t>
                      </a:r>
                      <a:endParaRPr/>
                    </a:p>
                  </a:txBody>
                  <a:tcPr marT="91425" marB="91425" marR="91425" marL="91425"/>
                </a:tc>
              </a:tr>
              <a:tr h="781650">
                <a:tc>
                  <a:txBody>
                    <a:bodyPr/>
                    <a:lstStyle/>
                    <a:p>
                      <a:pPr indent="0" lvl="0" marL="0" rtl="0" algn="l">
                        <a:spcBef>
                          <a:spcPts val="0"/>
                        </a:spcBef>
                        <a:spcAft>
                          <a:spcPts val="0"/>
                        </a:spcAft>
                        <a:buNone/>
                      </a:pPr>
                      <a:r>
                        <a:rPr lang="zh-TW"/>
                        <a:t>用常數填補（零、均值等）</a:t>
                      </a:r>
                      <a:endParaRPr/>
                    </a:p>
                  </a:txBody>
                  <a:tcPr marT="91425" marB="91425" marR="91425" marL="91425"/>
                </a:tc>
                <a:tc>
                  <a:txBody>
                    <a:bodyPr/>
                    <a:lstStyle/>
                    <a:p>
                      <a:pPr indent="0" lvl="0" marL="0" rtl="0" algn="l">
                        <a:spcBef>
                          <a:spcPts val="0"/>
                        </a:spcBef>
                        <a:spcAft>
                          <a:spcPts val="0"/>
                        </a:spcAft>
                        <a:buNone/>
                      </a:pPr>
                      <a:r>
                        <a:rPr lang="zh-TW"/>
                        <a:t>將缺失值用特定常數填補，例如 0、平均值、中位數、最常見值等。</a:t>
                      </a:r>
                      <a:endParaRPr/>
                    </a:p>
                  </a:txBody>
                  <a:tcPr marT="91425" marB="91425" marR="91425" marL="91425"/>
                </a:tc>
                <a:tc>
                  <a:txBody>
                    <a:bodyPr/>
                    <a:lstStyle/>
                    <a:p>
                      <a:pPr indent="0" lvl="0" marL="0" rtl="0" algn="l">
                        <a:spcBef>
                          <a:spcPts val="0"/>
                        </a:spcBef>
                        <a:spcAft>
                          <a:spcPts val="0"/>
                        </a:spcAft>
                        <a:buNone/>
                      </a:pPr>
                      <a:r>
                        <a:rPr lang="zh-TW"/>
                        <a:t>當缺失值比例不高且特徵分佈均勻時較適用，但這種方法有時會削弱資料的變異性，特別是對分佈偏斜的數據。</a:t>
                      </a:r>
                      <a:endParaRPr/>
                    </a:p>
                  </a:txBody>
                  <a:tcPr marT="91425" marB="91425" marR="91425" marL="91425"/>
                </a:tc>
              </a:tr>
              <a:tr h="411275">
                <a:tc>
                  <a:txBody>
                    <a:bodyPr/>
                    <a:lstStyle/>
                    <a:p>
                      <a:pPr indent="0" lvl="0" marL="0" rtl="0" algn="l">
                        <a:spcBef>
                          <a:spcPts val="0"/>
                        </a:spcBef>
                        <a:spcAft>
                          <a:spcPts val="0"/>
                        </a:spcAft>
                        <a:buNone/>
                      </a:pPr>
                      <a:r>
                        <a:rPr lang="zh-TW"/>
                        <a:t>用鄰近值填補</a:t>
                      </a:r>
                      <a:endParaRPr/>
                    </a:p>
                  </a:txBody>
                  <a:tcPr marT="91425" marB="91425" marR="91425" marL="91425"/>
                </a:tc>
                <a:tc>
                  <a:txBody>
                    <a:bodyPr/>
                    <a:lstStyle/>
                    <a:p>
                      <a:pPr indent="0" lvl="0" marL="0" rtl="0" algn="l">
                        <a:spcBef>
                          <a:spcPts val="0"/>
                        </a:spcBef>
                        <a:spcAft>
                          <a:spcPts val="0"/>
                        </a:spcAft>
                        <a:buNone/>
                      </a:pPr>
                      <a:r>
                        <a:rPr lang="zh-TW"/>
                        <a:t>根據與缺失值相似的其他觀測點的值進行填補。例如使用最近鄰演算法（K-Nearest Neighbors, KNN）來預測缺失值。</a:t>
                      </a:r>
                      <a:endParaRPr/>
                    </a:p>
                  </a:txBody>
                  <a:tcPr marT="91425" marB="91425" marR="91425" marL="91425"/>
                </a:tc>
                <a:tc>
                  <a:txBody>
                    <a:bodyPr/>
                    <a:lstStyle/>
                    <a:p>
                      <a:pPr indent="0" lvl="0" marL="0" rtl="0" algn="l">
                        <a:spcBef>
                          <a:spcPts val="0"/>
                        </a:spcBef>
                        <a:spcAft>
                          <a:spcPts val="0"/>
                        </a:spcAft>
                        <a:buNone/>
                      </a:pPr>
                      <a:r>
                        <a:rPr lang="zh-TW"/>
                        <a:t>當資料具有相關性或相似性時，這種方法會保留資料內在的模式。缺點是計算較複雜，尤其在資料量大時。</a:t>
                      </a:r>
                      <a:endParaRPr/>
                    </a:p>
                  </a:txBody>
                  <a:tcPr marT="91425" marB="91425" marR="91425" marL="91425"/>
                </a:tc>
              </a:tr>
              <a:tr h="411275">
                <a:tc>
                  <a:txBody>
                    <a:bodyPr/>
                    <a:lstStyle/>
                    <a:p>
                      <a:pPr indent="0" lvl="0" marL="0" rtl="0" algn="l">
                        <a:spcBef>
                          <a:spcPts val="0"/>
                        </a:spcBef>
                        <a:spcAft>
                          <a:spcPts val="0"/>
                        </a:spcAft>
                        <a:buNone/>
                      </a:pPr>
                      <a:r>
                        <a:rPr lang="zh-TW"/>
                        <a:t>用插值法填補</a:t>
                      </a:r>
                      <a:endParaRPr/>
                    </a:p>
                  </a:txBody>
                  <a:tcPr marT="91425" marB="91425" marR="91425" marL="91425"/>
                </a:tc>
                <a:tc>
                  <a:txBody>
                    <a:bodyPr/>
                    <a:lstStyle/>
                    <a:p>
                      <a:pPr indent="0" lvl="0" marL="0" rtl="0" algn="l">
                        <a:spcBef>
                          <a:spcPts val="0"/>
                        </a:spcBef>
                        <a:spcAft>
                          <a:spcPts val="0"/>
                        </a:spcAft>
                        <a:buNone/>
                      </a:pPr>
                      <a:r>
                        <a:rPr lang="zh-TW"/>
                        <a:t>通過插值法推斷出缺失值的合理範圍，例如線性插值法、樣條插值法等。</a:t>
                      </a:r>
                      <a:endParaRPr/>
                    </a:p>
                  </a:txBody>
                  <a:tcPr marT="91425" marB="91425" marR="91425" marL="91425"/>
                </a:tc>
                <a:tc>
                  <a:txBody>
                    <a:bodyPr/>
                    <a:lstStyle/>
                    <a:p>
                      <a:pPr indent="0" lvl="0" marL="0" rtl="0" algn="l">
                        <a:spcBef>
                          <a:spcPts val="0"/>
                        </a:spcBef>
                        <a:spcAft>
                          <a:spcPts val="0"/>
                        </a:spcAft>
                        <a:buNone/>
                      </a:pPr>
                      <a:r>
                        <a:rPr lang="zh-TW"/>
                        <a:t>適合連續型資料，例如時間序列資料。插值方法假設資料點之間有連續變化，不適合類別型變量。</a:t>
                      </a:r>
                      <a:endParaRPr/>
                    </a:p>
                  </a:txBody>
                  <a:tcPr marT="91425" marB="91425" marR="91425" marL="91425"/>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資料缺失值的常見處理方法</a:t>
            </a:r>
            <a:endParaRPr/>
          </a:p>
        </p:txBody>
      </p:sp>
      <p:graphicFrame>
        <p:nvGraphicFramePr>
          <p:cNvPr id="576" name="Google Shape;576;p88"/>
          <p:cNvGraphicFramePr/>
          <p:nvPr/>
        </p:nvGraphicFramePr>
        <p:xfrm>
          <a:off x="687750" y="1206025"/>
          <a:ext cx="3000000" cy="3000000"/>
        </p:xfrm>
        <a:graphic>
          <a:graphicData uri="http://schemas.openxmlformats.org/drawingml/2006/table">
            <a:tbl>
              <a:tblPr>
                <a:noFill/>
                <a:tableStyleId>{7C26E4BD-2EE1-4CC8-BD85-72C400897770}</a:tableStyleId>
              </a:tblPr>
              <a:tblGrid>
                <a:gridCol w="1753500"/>
                <a:gridCol w="3480750"/>
                <a:gridCol w="2910300"/>
              </a:tblGrid>
              <a:tr h="381000">
                <a:tc>
                  <a:txBody>
                    <a:bodyPr/>
                    <a:lstStyle/>
                    <a:p>
                      <a:pPr indent="0" lvl="0" marL="0" rtl="0" algn="l">
                        <a:spcBef>
                          <a:spcPts val="0"/>
                        </a:spcBef>
                        <a:spcAft>
                          <a:spcPts val="0"/>
                        </a:spcAft>
                        <a:buNone/>
                      </a:pPr>
                      <a:r>
                        <a:rPr lang="zh-TW"/>
                        <a:t>方法</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a:t>說明</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a:t>適用情境</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zh-TW"/>
                        <a:t>使用迴歸填補</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a:t>通過對已知數據擬合一個迴歸模型，預測缺失值。</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a:t>當變數之間具有較強的線性或非線性關聯性時，這種方法可以更精確地預測缺失值，但過度依賴模型假設。</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zh-TW"/>
                        <a:t>標記缺失值</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a:t>保留缺失值並在新的一列中標記該值是否缺失。</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zh-TW"/>
                        <a:t>當缺失值本身具有一定意義（例如反映出某一種特殊狀態）時，可以保留缺失值並讓模型學習其含義。</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zh-TW"/>
                        <a:t>多重插補（Multiple Imputation）</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zh-TW"/>
                        <a:t>通過多次插補來估計不同可能的缺失值，並生成多個資料集，最終合併這些結果。</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zh-TW"/>
                        <a:t>這是處理缺失值的一種更準確的方法，但實施較為複雜。適合缺失值較多且關鍵變量需要準確估計的情況。</a:t>
                      </a:r>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89"/>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資料視覺化</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資料視覺化</a:t>
            </a:r>
            <a:endParaRPr/>
          </a:p>
          <a:p>
            <a:pPr indent="0" lvl="0" marL="0" rtl="0" algn="l">
              <a:spcBef>
                <a:spcPts val="0"/>
              </a:spcBef>
              <a:spcAft>
                <a:spcPts val="0"/>
              </a:spcAft>
              <a:buNone/>
            </a:pPr>
            <a:r>
              <a:t/>
            </a:r>
            <a:endParaRPr/>
          </a:p>
        </p:txBody>
      </p:sp>
      <p:sp>
        <p:nvSpPr>
          <p:cNvPr id="587" name="Google Shape;587;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資料視覺化是將資料以圖形或圖表的方式展現，使資料的模式、趨勢或關係更易理解。對於資料分析和機器學習來說，資料視覺化有助於快速理解資料分佈、檢測異常值、比較不同特徵，以及幫助決策制定。</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常見的資料視覺化技術</a:t>
            </a:r>
            <a:endParaRPr/>
          </a:p>
        </p:txBody>
      </p:sp>
      <p:graphicFrame>
        <p:nvGraphicFramePr>
          <p:cNvPr id="593" name="Google Shape;593;p91"/>
          <p:cNvGraphicFramePr/>
          <p:nvPr/>
        </p:nvGraphicFramePr>
        <p:xfrm>
          <a:off x="952500" y="1165400"/>
          <a:ext cx="3000000" cy="3000000"/>
        </p:xfrm>
        <a:graphic>
          <a:graphicData uri="http://schemas.openxmlformats.org/drawingml/2006/table">
            <a:tbl>
              <a:tblPr>
                <a:noFill/>
                <a:tableStyleId>{7C26E4BD-2EE1-4CC8-BD85-72C400897770}</a:tableStyleId>
              </a:tblPr>
              <a:tblGrid>
                <a:gridCol w="2413000"/>
                <a:gridCol w="2413000"/>
                <a:gridCol w="2413000"/>
              </a:tblGrid>
              <a:tr h="381000">
                <a:tc>
                  <a:txBody>
                    <a:bodyPr/>
                    <a:lstStyle/>
                    <a:p>
                      <a:pPr indent="0" lvl="0" marL="0" rtl="0" algn="l">
                        <a:spcBef>
                          <a:spcPts val="0"/>
                        </a:spcBef>
                        <a:spcAft>
                          <a:spcPts val="0"/>
                        </a:spcAft>
                        <a:buNone/>
                      </a:pPr>
                      <a:r>
                        <a:rPr lang="zh-TW"/>
                        <a:t>圖表類型</a:t>
                      </a:r>
                      <a:endParaRPr/>
                    </a:p>
                  </a:txBody>
                  <a:tcPr marT="91425" marB="91425" marR="91425" marL="91425"/>
                </a:tc>
                <a:tc>
                  <a:txBody>
                    <a:bodyPr/>
                    <a:lstStyle/>
                    <a:p>
                      <a:pPr indent="0" lvl="0" marL="0" rtl="0" algn="l">
                        <a:spcBef>
                          <a:spcPts val="0"/>
                        </a:spcBef>
                        <a:spcAft>
                          <a:spcPts val="0"/>
                        </a:spcAft>
                        <a:buNone/>
                      </a:pPr>
                      <a:r>
                        <a:rPr lang="zh-TW"/>
                        <a:t>用途</a:t>
                      </a:r>
                      <a:endParaRPr/>
                    </a:p>
                  </a:txBody>
                  <a:tcPr marT="91425" marB="91425" marR="91425" marL="91425"/>
                </a:tc>
                <a:tc>
                  <a:txBody>
                    <a:bodyPr/>
                    <a:lstStyle/>
                    <a:p>
                      <a:pPr indent="0" lvl="0" marL="0" rtl="0" algn="l">
                        <a:spcBef>
                          <a:spcPts val="0"/>
                        </a:spcBef>
                        <a:spcAft>
                          <a:spcPts val="0"/>
                        </a:spcAft>
                        <a:buNone/>
                      </a:pPr>
                      <a:r>
                        <a:rPr lang="zh-TW"/>
                        <a:t>範例</a:t>
                      </a:r>
                      <a:endParaRPr/>
                    </a:p>
                  </a:txBody>
                  <a:tcPr marT="91425" marB="91425" marR="91425" marL="91425"/>
                </a:tc>
              </a:tr>
              <a:tr h="381000">
                <a:tc>
                  <a:txBody>
                    <a:bodyPr/>
                    <a:lstStyle/>
                    <a:p>
                      <a:pPr indent="0" lvl="0" marL="0" rtl="0" algn="l">
                        <a:spcBef>
                          <a:spcPts val="0"/>
                        </a:spcBef>
                        <a:spcAft>
                          <a:spcPts val="0"/>
                        </a:spcAft>
                        <a:buNone/>
                      </a:pPr>
                      <a:r>
                        <a:rPr lang="zh-TW"/>
                        <a:t>折線圖 (Line Plot)</a:t>
                      </a:r>
                      <a:endParaRPr/>
                    </a:p>
                  </a:txBody>
                  <a:tcPr marT="91425" marB="91425" marR="91425" marL="91425"/>
                </a:tc>
                <a:tc>
                  <a:txBody>
                    <a:bodyPr/>
                    <a:lstStyle/>
                    <a:p>
                      <a:pPr indent="0" lvl="0" marL="0" rtl="0" algn="l">
                        <a:spcBef>
                          <a:spcPts val="0"/>
                        </a:spcBef>
                        <a:spcAft>
                          <a:spcPts val="0"/>
                        </a:spcAft>
                        <a:buNone/>
                      </a:pPr>
                      <a:r>
                        <a:rPr lang="zh-TW"/>
                        <a:t>用於展示數據隨時間或順序的變化。通常用於時間序列數據。</a:t>
                      </a:r>
                      <a:endParaRPr/>
                    </a:p>
                  </a:txBody>
                  <a:tcPr marT="91425" marB="91425" marR="91425" marL="91425"/>
                </a:tc>
                <a:tc>
                  <a:txBody>
                    <a:bodyPr/>
                    <a:lstStyle/>
                    <a:p>
                      <a:pPr indent="0" lvl="0" marL="0" rtl="0" algn="l">
                        <a:spcBef>
                          <a:spcPts val="0"/>
                        </a:spcBef>
                        <a:spcAft>
                          <a:spcPts val="0"/>
                        </a:spcAft>
                        <a:buNone/>
                      </a:pPr>
                      <a:r>
                        <a:rPr lang="zh-TW"/>
                        <a:t>股票價格、溫度變化、銷售額變化。</a:t>
                      </a:r>
                      <a:endParaRPr/>
                    </a:p>
                  </a:txBody>
                  <a:tcPr marT="91425" marB="91425" marR="91425" marL="91425"/>
                </a:tc>
              </a:tr>
              <a:tr h="381000">
                <a:tc>
                  <a:txBody>
                    <a:bodyPr/>
                    <a:lstStyle/>
                    <a:p>
                      <a:pPr indent="0" lvl="0" marL="0" rtl="0" algn="l">
                        <a:spcBef>
                          <a:spcPts val="0"/>
                        </a:spcBef>
                        <a:spcAft>
                          <a:spcPts val="0"/>
                        </a:spcAft>
                        <a:buNone/>
                      </a:pPr>
                      <a:r>
                        <a:rPr lang="zh-TW"/>
                        <a:t>條形圖 (Bar Plot)</a:t>
                      </a:r>
                      <a:endParaRPr/>
                    </a:p>
                  </a:txBody>
                  <a:tcPr marT="91425" marB="91425" marR="91425" marL="91425"/>
                </a:tc>
                <a:tc>
                  <a:txBody>
                    <a:bodyPr/>
                    <a:lstStyle/>
                    <a:p>
                      <a:pPr indent="0" lvl="0" marL="0" rtl="0" algn="l">
                        <a:spcBef>
                          <a:spcPts val="0"/>
                        </a:spcBef>
                        <a:spcAft>
                          <a:spcPts val="0"/>
                        </a:spcAft>
                        <a:buNone/>
                      </a:pPr>
                      <a:r>
                        <a:rPr lang="zh-TW"/>
                        <a:t>用於比較不同類別之間的數量或頻率。適合於類別型數據的展示。</a:t>
                      </a:r>
                      <a:endParaRPr/>
                    </a:p>
                  </a:txBody>
                  <a:tcPr marT="91425" marB="91425" marR="91425" marL="91425"/>
                </a:tc>
                <a:tc>
                  <a:txBody>
                    <a:bodyPr/>
                    <a:lstStyle/>
                    <a:p>
                      <a:pPr indent="0" lvl="0" marL="0" rtl="0" algn="l">
                        <a:spcBef>
                          <a:spcPts val="0"/>
                        </a:spcBef>
                        <a:spcAft>
                          <a:spcPts val="0"/>
                        </a:spcAft>
                        <a:buNone/>
                      </a:pPr>
                      <a:r>
                        <a:rPr lang="zh-TW"/>
                        <a:t>不同產品的銷售量、不同行業的就業人數。</a:t>
                      </a:r>
                      <a:endParaRPr/>
                    </a:p>
                  </a:txBody>
                  <a:tcPr marT="91425" marB="91425" marR="91425" marL="91425"/>
                </a:tc>
              </a:tr>
              <a:tr h="381000">
                <a:tc>
                  <a:txBody>
                    <a:bodyPr/>
                    <a:lstStyle/>
                    <a:p>
                      <a:pPr indent="0" lvl="0" marL="0" rtl="0" algn="l">
                        <a:spcBef>
                          <a:spcPts val="0"/>
                        </a:spcBef>
                        <a:spcAft>
                          <a:spcPts val="0"/>
                        </a:spcAft>
                        <a:buNone/>
                      </a:pPr>
                      <a:r>
                        <a:rPr lang="zh-TW"/>
                        <a:t>直方圖 (Histogram)</a:t>
                      </a:r>
                      <a:endParaRPr/>
                    </a:p>
                  </a:txBody>
                  <a:tcPr marT="91425" marB="91425" marR="91425" marL="91425"/>
                </a:tc>
                <a:tc>
                  <a:txBody>
                    <a:bodyPr/>
                    <a:lstStyle/>
                    <a:p>
                      <a:pPr indent="0" lvl="0" marL="0" rtl="0" algn="l">
                        <a:spcBef>
                          <a:spcPts val="0"/>
                        </a:spcBef>
                        <a:spcAft>
                          <a:spcPts val="0"/>
                        </a:spcAft>
                        <a:buNone/>
                      </a:pPr>
                      <a:r>
                        <a:rPr lang="zh-TW"/>
                        <a:t>用於展示數據的分佈情況，特別是連續變數。</a:t>
                      </a:r>
                      <a:endParaRPr/>
                    </a:p>
                  </a:txBody>
                  <a:tcPr marT="91425" marB="91425" marR="91425" marL="91425"/>
                </a:tc>
                <a:tc>
                  <a:txBody>
                    <a:bodyPr/>
                    <a:lstStyle/>
                    <a:p>
                      <a:pPr indent="0" lvl="0" marL="0" rtl="0" algn="l">
                        <a:spcBef>
                          <a:spcPts val="0"/>
                        </a:spcBef>
                        <a:spcAft>
                          <a:spcPts val="0"/>
                        </a:spcAft>
                        <a:buNone/>
                      </a:pPr>
                      <a:r>
                        <a:rPr lang="zh-TW"/>
                        <a:t>數據分佈、分數分佈、收入分佈。</a:t>
                      </a:r>
                      <a:endParaRPr/>
                    </a:p>
                  </a:txBody>
                  <a:tcPr marT="91425" marB="91425" marR="91425" marL="91425"/>
                </a:tc>
              </a:tr>
              <a:tr h="381000">
                <a:tc>
                  <a:txBody>
                    <a:bodyPr/>
                    <a:lstStyle/>
                    <a:p>
                      <a:pPr indent="0" lvl="0" marL="0" rtl="0" algn="l">
                        <a:spcBef>
                          <a:spcPts val="0"/>
                        </a:spcBef>
                        <a:spcAft>
                          <a:spcPts val="0"/>
                        </a:spcAft>
                        <a:buNone/>
                      </a:pPr>
                      <a:r>
                        <a:rPr lang="zh-TW"/>
                        <a:t>散點圖 (Scatter Plot)</a:t>
                      </a:r>
                      <a:endParaRPr/>
                    </a:p>
                  </a:txBody>
                  <a:tcPr marT="91425" marB="91425" marR="91425" marL="91425"/>
                </a:tc>
                <a:tc>
                  <a:txBody>
                    <a:bodyPr/>
                    <a:lstStyle/>
                    <a:p>
                      <a:pPr indent="0" lvl="0" marL="0" rtl="0" algn="l">
                        <a:spcBef>
                          <a:spcPts val="0"/>
                        </a:spcBef>
                        <a:spcAft>
                          <a:spcPts val="0"/>
                        </a:spcAft>
                        <a:buNone/>
                      </a:pPr>
                      <a:r>
                        <a:rPr lang="zh-TW"/>
                        <a:t>用於顯示兩個連續變數之間的關係。可以幫助檢查變數之間的相關性或模式。</a:t>
                      </a:r>
                      <a:endParaRPr/>
                    </a:p>
                  </a:txBody>
                  <a:tcPr marT="91425" marB="91425" marR="91425" marL="91425"/>
                </a:tc>
                <a:tc>
                  <a:txBody>
                    <a:bodyPr/>
                    <a:lstStyle/>
                    <a:p>
                      <a:pPr indent="0" lvl="0" marL="0" rtl="0" algn="l">
                        <a:spcBef>
                          <a:spcPts val="0"/>
                        </a:spcBef>
                        <a:spcAft>
                          <a:spcPts val="0"/>
                        </a:spcAft>
                        <a:buNone/>
                      </a:pPr>
                      <a:r>
                        <a:rPr lang="zh-TW"/>
                        <a:t>身高與體重的關係、學習時間與成績的關係。</a:t>
                      </a:r>
                      <a:endParaRPr/>
                    </a:p>
                  </a:txBody>
                  <a:tcPr marT="91425" marB="91425" marR="91425" marL="91425"/>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常見的資料視覺化技術</a:t>
            </a:r>
            <a:endParaRPr/>
          </a:p>
        </p:txBody>
      </p:sp>
      <p:graphicFrame>
        <p:nvGraphicFramePr>
          <p:cNvPr id="599" name="Google Shape;599;p92"/>
          <p:cNvGraphicFramePr/>
          <p:nvPr/>
        </p:nvGraphicFramePr>
        <p:xfrm>
          <a:off x="952500" y="1165400"/>
          <a:ext cx="3000000" cy="3000000"/>
        </p:xfrm>
        <a:graphic>
          <a:graphicData uri="http://schemas.openxmlformats.org/drawingml/2006/table">
            <a:tbl>
              <a:tblPr>
                <a:noFill/>
                <a:tableStyleId>{7C26E4BD-2EE1-4CC8-BD85-72C400897770}</a:tableStyleId>
              </a:tblPr>
              <a:tblGrid>
                <a:gridCol w="2413000"/>
                <a:gridCol w="2413000"/>
                <a:gridCol w="2413000"/>
              </a:tblGrid>
              <a:tr h="381000">
                <a:tc>
                  <a:txBody>
                    <a:bodyPr/>
                    <a:lstStyle/>
                    <a:p>
                      <a:pPr indent="0" lvl="0" marL="0" rtl="0" algn="l">
                        <a:spcBef>
                          <a:spcPts val="0"/>
                        </a:spcBef>
                        <a:spcAft>
                          <a:spcPts val="0"/>
                        </a:spcAft>
                        <a:buNone/>
                      </a:pPr>
                      <a:r>
                        <a:rPr lang="zh-TW"/>
                        <a:t>圖表類型</a:t>
                      </a:r>
                      <a:endParaRPr/>
                    </a:p>
                  </a:txBody>
                  <a:tcPr marT="91425" marB="91425" marR="91425" marL="91425"/>
                </a:tc>
                <a:tc>
                  <a:txBody>
                    <a:bodyPr/>
                    <a:lstStyle/>
                    <a:p>
                      <a:pPr indent="0" lvl="0" marL="0" rtl="0" algn="l">
                        <a:spcBef>
                          <a:spcPts val="0"/>
                        </a:spcBef>
                        <a:spcAft>
                          <a:spcPts val="0"/>
                        </a:spcAft>
                        <a:buNone/>
                      </a:pPr>
                      <a:r>
                        <a:rPr lang="zh-TW"/>
                        <a:t>用途</a:t>
                      </a:r>
                      <a:endParaRPr/>
                    </a:p>
                  </a:txBody>
                  <a:tcPr marT="91425" marB="91425" marR="91425" marL="91425"/>
                </a:tc>
                <a:tc>
                  <a:txBody>
                    <a:bodyPr/>
                    <a:lstStyle/>
                    <a:p>
                      <a:pPr indent="0" lvl="0" marL="0" rtl="0" algn="l">
                        <a:spcBef>
                          <a:spcPts val="0"/>
                        </a:spcBef>
                        <a:spcAft>
                          <a:spcPts val="0"/>
                        </a:spcAft>
                        <a:buNone/>
                      </a:pPr>
                      <a:r>
                        <a:rPr lang="zh-TW"/>
                        <a:t>範例</a:t>
                      </a:r>
                      <a:endParaRPr/>
                    </a:p>
                  </a:txBody>
                  <a:tcPr marT="91425" marB="91425" marR="91425" marL="91425"/>
                </a:tc>
              </a:tr>
              <a:tr h="381000">
                <a:tc>
                  <a:txBody>
                    <a:bodyPr/>
                    <a:lstStyle/>
                    <a:p>
                      <a:pPr indent="0" lvl="0" marL="0" rtl="0" algn="l">
                        <a:spcBef>
                          <a:spcPts val="0"/>
                        </a:spcBef>
                        <a:spcAft>
                          <a:spcPts val="0"/>
                        </a:spcAft>
                        <a:buNone/>
                      </a:pPr>
                      <a:r>
                        <a:rPr lang="zh-TW"/>
                        <a:t>箱型圖 (Box Plot)</a:t>
                      </a:r>
                      <a:endParaRPr/>
                    </a:p>
                  </a:txBody>
                  <a:tcPr marT="91425" marB="91425" marR="91425" marL="91425"/>
                </a:tc>
                <a:tc>
                  <a:txBody>
                    <a:bodyPr/>
                    <a:lstStyle/>
                    <a:p>
                      <a:pPr indent="0" lvl="0" marL="0" rtl="0" algn="l">
                        <a:spcBef>
                          <a:spcPts val="0"/>
                        </a:spcBef>
                        <a:spcAft>
                          <a:spcPts val="0"/>
                        </a:spcAft>
                        <a:buNone/>
                      </a:pPr>
                      <a:r>
                        <a:rPr lang="zh-TW"/>
                        <a:t>用於展示數據的分佈特徵，特別是展示數據的集中趨勢與異常值。</a:t>
                      </a:r>
                      <a:endParaRPr/>
                    </a:p>
                  </a:txBody>
                  <a:tcPr marT="91425" marB="91425" marR="91425" marL="91425"/>
                </a:tc>
                <a:tc>
                  <a:txBody>
                    <a:bodyPr/>
                    <a:lstStyle/>
                    <a:p>
                      <a:pPr indent="0" lvl="0" marL="0" rtl="0" algn="l">
                        <a:spcBef>
                          <a:spcPts val="0"/>
                        </a:spcBef>
                        <a:spcAft>
                          <a:spcPts val="0"/>
                        </a:spcAft>
                        <a:buNone/>
                      </a:pPr>
                      <a:r>
                        <a:rPr lang="zh-TW"/>
                        <a:t>顯示不同群體的收入分佈或成績分佈。</a:t>
                      </a:r>
                      <a:endParaRPr/>
                    </a:p>
                  </a:txBody>
                  <a:tcPr marT="91425" marB="91425" marR="91425" marL="91425"/>
                </a:tc>
              </a:tr>
              <a:tr h="381000">
                <a:tc>
                  <a:txBody>
                    <a:bodyPr/>
                    <a:lstStyle/>
                    <a:p>
                      <a:pPr indent="0" lvl="0" marL="0" rtl="0" algn="l">
                        <a:spcBef>
                          <a:spcPts val="0"/>
                        </a:spcBef>
                        <a:spcAft>
                          <a:spcPts val="0"/>
                        </a:spcAft>
                        <a:buNone/>
                      </a:pPr>
                      <a:r>
                        <a:rPr lang="zh-TW"/>
                        <a:t>熱圖 (Heatmap)</a:t>
                      </a:r>
                      <a:endParaRPr/>
                    </a:p>
                  </a:txBody>
                  <a:tcPr marT="91425" marB="91425" marR="91425" marL="91425"/>
                </a:tc>
                <a:tc>
                  <a:txBody>
                    <a:bodyPr/>
                    <a:lstStyle/>
                    <a:p>
                      <a:pPr indent="0" lvl="0" marL="0" rtl="0" algn="l">
                        <a:spcBef>
                          <a:spcPts val="0"/>
                        </a:spcBef>
                        <a:spcAft>
                          <a:spcPts val="0"/>
                        </a:spcAft>
                        <a:buNone/>
                      </a:pPr>
                      <a:r>
                        <a:rPr lang="zh-TW"/>
                        <a:t>用於展示數據的相關矩陣或變量之間的關係，通常適用於展示數據之間的相關性強弱。</a:t>
                      </a:r>
                      <a:endParaRPr/>
                    </a:p>
                  </a:txBody>
                  <a:tcPr marT="91425" marB="91425" marR="91425" marL="91425"/>
                </a:tc>
                <a:tc>
                  <a:txBody>
                    <a:bodyPr/>
                    <a:lstStyle/>
                    <a:p>
                      <a:pPr indent="0" lvl="0" marL="0" rtl="0" algn="l">
                        <a:spcBef>
                          <a:spcPts val="0"/>
                        </a:spcBef>
                        <a:spcAft>
                          <a:spcPts val="0"/>
                        </a:spcAft>
                        <a:buNone/>
                      </a:pPr>
                      <a:r>
                        <a:rPr lang="zh-TW"/>
                        <a:t>變量之間的相關性、混淆矩陣。</a:t>
                      </a:r>
                      <a:endParaRPr/>
                    </a:p>
                  </a:txBody>
                  <a:tcPr marT="91425" marB="91425" marR="91425" marL="91425"/>
                </a:tc>
              </a:tr>
              <a:tr h="381000">
                <a:tc>
                  <a:txBody>
                    <a:bodyPr/>
                    <a:lstStyle/>
                    <a:p>
                      <a:pPr indent="0" lvl="0" marL="0" rtl="0" algn="l">
                        <a:spcBef>
                          <a:spcPts val="0"/>
                        </a:spcBef>
                        <a:spcAft>
                          <a:spcPts val="0"/>
                        </a:spcAft>
                        <a:buNone/>
                      </a:pPr>
                      <a:r>
                        <a:rPr lang="zh-TW"/>
                        <a:t>餅圖 (Pie Chart)</a:t>
                      </a:r>
                      <a:endParaRPr/>
                    </a:p>
                  </a:txBody>
                  <a:tcPr marT="91425" marB="91425" marR="91425" marL="91425"/>
                </a:tc>
                <a:tc>
                  <a:txBody>
                    <a:bodyPr/>
                    <a:lstStyle/>
                    <a:p>
                      <a:pPr indent="0" lvl="0" marL="0" rtl="0" algn="l">
                        <a:spcBef>
                          <a:spcPts val="0"/>
                        </a:spcBef>
                        <a:spcAft>
                          <a:spcPts val="0"/>
                        </a:spcAft>
                        <a:buNone/>
                      </a:pPr>
                      <a:r>
                        <a:rPr lang="zh-TW"/>
                        <a:t>用於顯示各部分在整體中的比例，適合展示類別型資料的構成。</a:t>
                      </a:r>
                      <a:endParaRPr/>
                    </a:p>
                  </a:txBody>
                  <a:tcPr marT="91425" marB="91425" marR="91425" marL="91425"/>
                </a:tc>
                <a:tc>
                  <a:txBody>
                    <a:bodyPr/>
                    <a:lstStyle/>
                    <a:p>
                      <a:pPr indent="0" lvl="0" marL="0" rtl="0" algn="l">
                        <a:spcBef>
                          <a:spcPts val="0"/>
                        </a:spcBef>
                        <a:spcAft>
                          <a:spcPts val="0"/>
                        </a:spcAft>
                        <a:buNone/>
                      </a:pPr>
                      <a:r>
                        <a:rPr lang="zh-TW"/>
                        <a:t>市場佔有率、投票結果。</a:t>
                      </a:r>
                      <a:endParaRPr/>
                    </a:p>
                  </a:txBody>
                  <a:tcPr marT="91425" marB="91425" marR="91425" marL="91425"/>
                </a:tc>
              </a:tr>
              <a:tr h="381000">
                <a:tc>
                  <a:txBody>
                    <a:bodyPr/>
                    <a:lstStyle/>
                    <a:p>
                      <a:pPr indent="0" lvl="0" marL="0" rtl="0" algn="l">
                        <a:spcBef>
                          <a:spcPts val="0"/>
                        </a:spcBef>
                        <a:spcAft>
                          <a:spcPts val="0"/>
                        </a:spcAft>
                        <a:buNone/>
                      </a:pPr>
                      <a:r>
                        <a:rPr lang="zh-TW"/>
                        <a:t>對角圖 (Pair Plot)</a:t>
                      </a:r>
                      <a:endParaRPr/>
                    </a:p>
                  </a:txBody>
                  <a:tcPr marT="91425" marB="91425" marR="91425" marL="91425"/>
                </a:tc>
                <a:tc>
                  <a:txBody>
                    <a:bodyPr/>
                    <a:lstStyle/>
                    <a:p>
                      <a:pPr indent="0" lvl="0" marL="0" rtl="0" algn="l">
                        <a:spcBef>
                          <a:spcPts val="0"/>
                        </a:spcBef>
                        <a:spcAft>
                          <a:spcPts val="0"/>
                        </a:spcAft>
                        <a:buNone/>
                      </a:pPr>
                      <a:r>
                        <a:rPr lang="zh-TW"/>
                        <a:t>用於同時顯示多個變量之間的兩兩關係。</a:t>
                      </a:r>
                      <a:endParaRPr/>
                    </a:p>
                  </a:txBody>
                  <a:tcPr marT="91425" marB="91425" marR="91425" marL="91425"/>
                </a:tc>
                <a:tc>
                  <a:txBody>
                    <a:bodyPr/>
                    <a:lstStyle/>
                    <a:p>
                      <a:pPr indent="0" lvl="0" marL="0" rtl="0" algn="l">
                        <a:spcBef>
                          <a:spcPts val="0"/>
                        </a:spcBef>
                        <a:spcAft>
                          <a:spcPts val="0"/>
                        </a:spcAft>
                        <a:buNone/>
                      </a:pPr>
                      <a:r>
                        <a:rPr lang="zh-TW"/>
                        <a:t>多變量資料的相關性分析。</a:t>
                      </a:r>
                      <a:endParaRPr/>
                    </a:p>
                  </a:txBody>
                  <a:tcPr marT="91425" marB="91425" marR="91425" marL="91425"/>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資料視覺化的-matplotlib</a:t>
            </a:r>
            <a:endParaRPr/>
          </a:p>
        </p:txBody>
      </p:sp>
      <p:sp>
        <p:nvSpPr>
          <p:cNvPr id="605" name="Google Shape;605;p9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詳colab範例</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資料視覺化的範例-使用</a:t>
            </a:r>
            <a:r>
              <a:rPr lang="zh-TW"/>
              <a:t>seaborn</a:t>
            </a:r>
            <a:endParaRPr/>
          </a:p>
        </p:txBody>
      </p:sp>
      <p:sp>
        <p:nvSpPr>
          <p:cNvPr id="611" name="Google Shape;611;p9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詳colab範例</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9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實作演練</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sz="3600"/>
              <a:t>實作演練</a:t>
            </a:r>
            <a:endParaRPr sz="3600"/>
          </a:p>
          <a:p>
            <a:pPr indent="0" lvl="0" marL="0" rtl="0" algn="l">
              <a:spcBef>
                <a:spcPts val="0"/>
              </a:spcBef>
              <a:spcAft>
                <a:spcPts val="0"/>
              </a:spcAft>
              <a:buNone/>
            </a:pPr>
            <a:r>
              <a:rPr lang="zh-TW" sz="3600">
                <a:solidFill>
                  <a:schemeClr val="lt1"/>
                </a:solidFill>
              </a:rPr>
              <a:t>作演練</a:t>
            </a:r>
            <a:endParaRPr/>
          </a:p>
        </p:txBody>
      </p:sp>
      <p:sp>
        <p:nvSpPr>
          <p:cNvPr id="622" name="Google Shape;622;p9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詳colab範例</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參考</a:t>
            </a:r>
            <a:endParaRPr/>
          </a:p>
        </p:txBody>
      </p:sp>
      <p:sp>
        <p:nvSpPr>
          <p:cNvPr id="628" name="Google Shape;628;p9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1.</a:t>
            </a:r>
            <a:r>
              <a:rPr lang="zh-TW" u="sng">
                <a:solidFill>
                  <a:schemeClr val="hlink"/>
                </a:solidFill>
                <a:hlinkClick r:id="rId3"/>
              </a:rPr>
              <a:t>https://cflin.com/course/python/Python_01.pdf</a:t>
            </a:r>
            <a:endParaRPr/>
          </a:p>
          <a:p>
            <a:pPr indent="0" lvl="0" marL="0" rtl="0" algn="l">
              <a:spcBef>
                <a:spcPts val="1200"/>
              </a:spcBef>
              <a:spcAft>
                <a:spcPts val="0"/>
              </a:spcAft>
              <a:buNone/>
            </a:pPr>
            <a:r>
              <a:rPr lang="zh-TW"/>
              <a:t>2.</a:t>
            </a:r>
            <a:r>
              <a:rPr lang="zh-TW" u="sng">
                <a:solidFill>
                  <a:schemeClr val="hlink"/>
                </a:solidFill>
                <a:hlinkClick r:id="rId4"/>
              </a:rPr>
              <a:t>https://www.hlbh.hlc.edu.tw/resource/openfid.php?id=37572</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