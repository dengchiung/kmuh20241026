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y="5143500" cx="9144000"/>
  <p:notesSz cx="6858000" cy="9144000"/>
  <p:embeddedFontLst>
    <p:embeddedFont>
      <p:font typeface="Proxima Nova"/>
      <p:regular r:id="rId102"/>
      <p:bold r:id="rId103"/>
      <p:italic r:id="rId104"/>
      <p:boldItalic r:id="rId105"/>
    </p:embeddedFont>
    <p:embeddedFont>
      <p:font typeface="Libre Franklin"/>
      <p:regular r:id="rId106"/>
      <p:bold r:id="rId107"/>
      <p:italic r:id="rId108"/>
      <p:boldItalic r:id="rId109"/>
    </p:embeddedFont>
    <p:embeddedFont>
      <p:font typeface="Roboto Mono"/>
      <p:regular r:id="rId110"/>
      <p:bold r:id="rId111"/>
      <p:italic r:id="rId112"/>
      <p:boldItalic r:id="rId1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14" roundtripDataSignature="AMtx7mgs2OyqpTgwT8IOSk0bZcQ4Pqq4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AE00EC-52DB-4802-A0A3-6F10BCCD3F60}">
  <a:tblStyle styleId="{13AE00EC-52DB-4802-A0A3-6F10BCCD3F6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6273F57-4A60-4CBA-9E0A-1DAEBCCD9011}"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LibreFranklin-bold.fntdata"/><Relationship Id="rId106" Type="http://schemas.openxmlformats.org/officeDocument/2006/relationships/font" Target="fonts/LibreFranklin-regular.fntdata"/><Relationship Id="rId105" Type="http://schemas.openxmlformats.org/officeDocument/2006/relationships/font" Target="fonts/ProximaNova-boldItalic.fntdata"/><Relationship Id="rId104" Type="http://schemas.openxmlformats.org/officeDocument/2006/relationships/font" Target="fonts/ProximaNova-italic.fntdata"/><Relationship Id="rId109" Type="http://schemas.openxmlformats.org/officeDocument/2006/relationships/font" Target="fonts/LibreFranklin-boldItalic.fntdata"/><Relationship Id="rId108" Type="http://schemas.openxmlformats.org/officeDocument/2006/relationships/font" Target="fonts/LibreFranklin-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ProximaNova-bold.fntdata"/><Relationship Id="rId102" Type="http://schemas.openxmlformats.org/officeDocument/2006/relationships/font" Target="fonts/ProximaNova-regular.fntdata"/><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10" Type="http://schemas.openxmlformats.org/officeDocument/2006/relationships/font" Target="fonts/RobotoMono-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customschemas.google.com/relationships/presentationmetadata" Target="metadata"/><Relationship Id="rId18" Type="http://schemas.openxmlformats.org/officeDocument/2006/relationships/slide" Target="slides/slide11.xml"/><Relationship Id="rId113" Type="http://schemas.openxmlformats.org/officeDocument/2006/relationships/font" Target="fonts/RobotoMono-boldItalic.fntdata"/><Relationship Id="rId112" Type="http://schemas.openxmlformats.org/officeDocument/2006/relationships/font" Target="fonts/RobotoMono-italic.fntdata"/><Relationship Id="rId111" Type="http://schemas.openxmlformats.org/officeDocument/2006/relationships/font" Target="fonts/RobotoMono-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79750" y="4715900"/>
            <a:ext cx="5438125" cy="446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6:notes"/>
          <p:cNvSpPr/>
          <p:nvPr>
            <p:ph idx="2" type="sldImg"/>
          </p:nvPr>
        </p:nvSpPr>
        <p:spPr>
          <a:xfrm>
            <a:off x="92075" y="744538"/>
            <a:ext cx="6615113"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679750" y="4715900"/>
            <a:ext cx="5438125" cy="446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7:notes"/>
          <p:cNvSpPr/>
          <p:nvPr>
            <p:ph idx="2" type="sldImg"/>
          </p:nvPr>
        </p:nvSpPr>
        <p:spPr>
          <a:xfrm>
            <a:off x="92075" y="744538"/>
            <a:ext cx="6615113"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79750" y="4715900"/>
            <a:ext cx="5438125" cy="4467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8:notes"/>
          <p:cNvSpPr/>
          <p:nvPr>
            <p:ph idx="2" type="sldImg"/>
          </p:nvPr>
        </p:nvSpPr>
        <p:spPr>
          <a:xfrm>
            <a:off x="92075" y="744538"/>
            <a:ext cx="6615113"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0ee217a9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0ee217a9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2" name="Google Shape;442;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3" name="Google Shape;47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0" name="Google Shape;48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2" name="Google Shape;492;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1" name="Google Shape;541;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0" name="Google Shape;570;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6" name="Google Shape;596;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3" name="Google Shape;603;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0" name="Google Shape;630;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7" name="Google Shape;637;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8" name="Google Shape;668;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8" name="Google Shape;708;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4" name="Google Shape;714;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0" name="Google Shape;720;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5" name="Google Shape;725;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3" name="Google Shape;743;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5" name="Google Shape;755;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0" name="Google Shape;760;p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6" name="Google Shape;766;p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9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95"/>
          <p:cNvSpPr txBox="1"/>
          <p:nvPr>
            <p:ph type="ctrTitle"/>
          </p:nvPr>
        </p:nvSpPr>
        <p:spPr>
          <a:xfrm>
            <a:off x="510450" y="1257300"/>
            <a:ext cx="8123100" cy="158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95"/>
          <p:cNvSpPr txBox="1"/>
          <p:nvPr>
            <p:ph idx="1" type="subTitle"/>
          </p:nvPr>
        </p:nvSpPr>
        <p:spPr>
          <a:xfrm>
            <a:off x="510450" y="3182313"/>
            <a:ext cx="8123100" cy="630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400"/>
              <a:buNone/>
              <a:defRPr sz="2400">
                <a:solidFill>
                  <a:schemeClr val="lt1"/>
                </a:solidFill>
              </a:defRPr>
            </a:lvl1pPr>
            <a:lvl2pPr lvl="1" algn="l">
              <a:lnSpc>
                <a:spcPct val="100000"/>
              </a:lnSpc>
              <a:spcBef>
                <a:spcPts val="0"/>
              </a:spcBef>
              <a:spcAft>
                <a:spcPts val="0"/>
              </a:spcAft>
              <a:buClr>
                <a:schemeClr val="lt1"/>
              </a:buClr>
              <a:buSzPts val="2400"/>
              <a:buNone/>
              <a:defRPr sz="2400">
                <a:solidFill>
                  <a:schemeClr val="lt1"/>
                </a:solidFill>
              </a:defRPr>
            </a:lvl2pPr>
            <a:lvl3pPr lvl="2" algn="l">
              <a:lnSpc>
                <a:spcPct val="100000"/>
              </a:lnSpc>
              <a:spcBef>
                <a:spcPts val="0"/>
              </a:spcBef>
              <a:spcAft>
                <a:spcPts val="0"/>
              </a:spcAft>
              <a:buClr>
                <a:schemeClr val="lt1"/>
              </a:buClr>
              <a:buSzPts val="2400"/>
              <a:buNone/>
              <a:defRPr sz="2400">
                <a:solidFill>
                  <a:schemeClr val="lt1"/>
                </a:solidFill>
              </a:defRPr>
            </a:lvl3pPr>
            <a:lvl4pPr lvl="3" algn="l">
              <a:lnSpc>
                <a:spcPct val="100000"/>
              </a:lnSpc>
              <a:spcBef>
                <a:spcPts val="0"/>
              </a:spcBef>
              <a:spcAft>
                <a:spcPts val="0"/>
              </a:spcAft>
              <a:buClr>
                <a:schemeClr val="lt1"/>
              </a:buClr>
              <a:buSzPts val="2400"/>
              <a:buNone/>
              <a:defRPr sz="2400">
                <a:solidFill>
                  <a:schemeClr val="lt1"/>
                </a:solidFill>
              </a:defRPr>
            </a:lvl4pPr>
            <a:lvl5pPr lvl="4" algn="l">
              <a:lnSpc>
                <a:spcPct val="100000"/>
              </a:lnSpc>
              <a:spcBef>
                <a:spcPts val="0"/>
              </a:spcBef>
              <a:spcAft>
                <a:spcPts val="0"/>
              </a:spcAft>
              <a:buClr>
                <a:schemeClr val="lt1"/>
              </a:buClr>
              <a:buSzPts val="2400"/>
              <a:buNone/>
              <a:defRPr sz="2400">
                <a:solidFill>
                  <a:schemeClr val="lt1"/>
                </a:solidFill>
              </a:defRPr>
            </a:lvl5pPr>
            <a:lvl6pPr lvl="5" algn="l">
              <a:lnSpc>
                <a:spcPct val="100000"/>
              </a:lnSpc>
              <a:spcBef>
                <a:spcPts val="0"/>
              </a:spcBef>
              <a:spcAft>
                <a:spcPts val="0"/>
              </a:spcAft>
              <a:buClr>
                <a:schemeClr val="lt1"/>
              </a:buClr>
              <a:buSzPts val="2400"/>
              <a:buNone/>
              <a:defRPr sz="2400">
                <a:solidFill>
                  <a:schemeClr val="lt1"/>
                </a:solidFill>
              </a:defRPr>
            </a:lvl6pPr>
            <a:lvl7pPr lvl="6" algn="l">
              <a:lnSpc>
                <a:spcPct val="100000"/>
              </a:lnSpc>
              <a:spcBef>
                <a:spcPts val="0"/>
              </a:spcBef>
              <a:spcAft>
                <a:spcPts val="0"/>
              </a:spcAft>
              <a:buClr>
                <a:schemeClr val="lt1"/>
              </a:buClr>
              <a:buSzPts val="2400"/>
              <a:buNone/>
              <a:defRPr sz="2400">
                <a:solidFill>
                  <a:schemeClr val="lt1"/>
                </a:solidFill>
              </a:defRPr>
            </a:lvl7pPr>
            <a:lvl8pPr lvl="7" algn="l">
              <a:lnSpc>
                <a:spcPct val="100000"/>
              </a:lnSpc>
              <a:spcBef>
                <a:spcPts val="0"/>
              </a:spcBef>
              <a:spcAft>
                <a:spcPts val="0"/>
              </a:spcAft>
              <a:buClr>
                <a:schemeClr val="lt1"/>
              </a:buClr>
              <a:buSzPts val="2400"/>
              <a:buNone/>
              <a:defRPr sz="2400">
                <a:solidFill>
                  <a:schemeClr val="lt1"/>
                </a:solidFill>
              </a:defRPr>
            </a:lvl8pPr>
            <a:lvl9pPr lvl="8" algn="l">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9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9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9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9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24" name="Shape 24"/>
        <p:cNvGrpSpPr/>
        <p:nvPr/>
      </p:nvGrpSpPr>
      <p:grpSpPr>
        <a:xfrm>
          <a:off x="0" y="0"/>
          <a:ext cx="0" cy="0"/>
          <a:chOff x="0" y="0"/>
          <a:chExt cx="0" cy="0"/>
        </a:xfrm>
      </p:grpSpPr>
      <p:sp>
        <p:nvSpPr>
          <p:cNvPr id="25" name="Google Shape;25;p98"/>
          <p:cNvSpPr txBox="1"/>
          <p:nvPr>
            <p:ph type="title"/>
          </p:nvPr>
        </p:nvSpPr>
        <p:spPr>
          <a:xfrm>
            <a:off x="1028700" y="514350"/>
            <a:ext cx="7200900" cy="1114425"/>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8"/>
          <p:cNvSpPr txBox="1"/>
          <p:nvPr>
            <p:ph idx="1" type="body"/>
          </p:nvPr>
        </p:nvSpPr>
        <p:spPr>
          <a:xfrm>
            <a:off x="1028700" y="1714500"/>
            <a:ext cx="7200900" cy="268605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750"/>
              </a:spcBef>
              <a:spcAft>
                <a:spcPts val="0"/>
              </a:spcAft>
              <a:buClr>
                <a:schemeClr val="dk2"/>
              </a:buClr>
              <a:buSzPts val="1800"/>
              <a:buChar char="■"/>
              <a:defRPr/>
            </a:lvl1pPr>
            <a:lvl2pPr indent="-342900" lvl="1" marL="914400" algn="l">
              <a:lnSpc>
                <a:spcPct val="94000"/>
              </a:lnSpc>
              <a:spcBef>
                <a:spcPts val="375"/>
              </a:spcBef>
              <a:spcAft>
                <a:spcPts val="0"/>
              </a:spcAft>
              <a:buClr>
                <a:schemeClr val="dk2"/>
              </a:buClr>
              <a:buSzPts val="1800"/>
              <a:buChar char="–"/>
              <a:defRPr/>
            </a:lvl2pPr>
            <a:lvl3pPr indent="-342900" lvl="2" marL="1371600" algn="l">
              <a:lnSpc>
                <a:spcPct val="94000"/>
              </a:lnSpc>
              <a:spcBef>
                <a:spcPts val="375"/>
              </a:spcBef>
              <a:spcAft>
                <a:spcPts val="0"/>
              </a:spcAft>
              <a:buClr>
                <a:schemeClr val="dk2"/>
              </a:buClr>
              <a:buSzPts val="1800"/>
              <a:buChar char="■"/>
              <a:defRPr/>
            </a:lvl3pPr>
            <a:lvl4pPr indent="-342900" lvl="3" marL="1828800" algn="l">
              <a:lnSpc>
                <a:spcPct val="94000"/>
              </a:lnSpc>
              <a:spcBef>
                <a:spcPts val="375"/>
              </a:spcBef>
              <a:spcAft>
                <a:spcPts val="0"/>
              </a:spcAft>
              <a:buClr>
                <a:schemeClr val="dk2"/>
              </a:buClr>
              <a:buSzPts val="1800"/>
              <a:buChar char="–"/>
              <a:defRPr/>
            </a:lvl4pPr>
            <a:lvl5pPr indent="-342900" lvl="4" marL="2286000" algn="l">
              <a:lnSpc>
                <a:spcPct val="94000"/>
              </a:lnSpc>
              <a:spcBef>
                <a:spcPts val="375"/>
              </a:spcBef>
              <a:spcAft>
                <a:spcPts val="0"/>
              </a:spcAft>
              <a:buClr>
                <a:schemeClr val="dk2"/>
              </a:buClr>
              <a:buSzPts val="1800"/>
              <a:buChar char="■"/>
              <a:defRPr/>
            </a:lvl5pPr>
            <a:lvl6pPr indent="-342900" lvl="5" marL="2743200" algn="l">
              <a:lnSpc>
                <a:spcPct val="94000"/>
              </a:lnSpc>
              <a:spcBef>
                <a:spcPts val="375"/>
              </a:spcBef>
              <a:spcAft>
                <a:spcPts val="0"/>
              </a:spcAft>
              <a:buClr>
                <a:schemeClr val="dk2"/>
              </a:buClr>
              <a:buSzPts val="1800"/>
              <a:buChar char="–"/>
              <a:defRPr/>
            </a:lvl6pPr>
            <a:lvl7pPr indent="-342900" lvl="6" marL="3200400" algn="l">
              <a:lnSpc>
                <a:spcPct val="94000"/>
              </a:lnSpc>
              <a:spcBef>
                <a:spcPts val="375"/>
              </a:spcBef>
              <a:spcAft>
                <a:spcPts val="0"/>
              </a:spcAft>
              <a:buClr>
                <a:schemeClr val="dk2"/>
              </a:buClr>
              <a:buSzPts val="1800"/>
              <a:buChar char="■"/>
              <a:defRPr/>
            </a:lvl7pPr>
            <a:lvl8pPr indent="-342900" lvl="7" marL="3657600" algn="l">
              <a:lnSpc>
                <a:spcPct val="94000"/>
              </a:lnSpc>
              <a:spcBef>
                <a:spcPts val="375"/>
              </a:spcBef>
              <a:spcAft>
                <a:spcPts val="0"/>
              </a:spcAft>
              <a:buClr>
                <a:schemeClr val="dk2"/>
              </a:buClr>
              <a:buSzPts val="1800"/>
              <a:buChar char="–"/>
              <a:defRPr/>
            </a:lvl8pPr>
            <a:lvl9pPr indent="-342900" lvl="8" marL="4114800" algn="l">
              <a:lnSpc>
                <a:spcPct val="94000"/>
              </a:lnSpc>
              <a:spcBef>
                <a:spcPts val="375"/>
              </a:spcBef>
              <a:spcAft>
                <a:spcPts val="150"/>
              </a:spcAft>
              <a:buClr>
                <a:schemeClr val="dk2"/>
              </a:buClr>
              <a:buSzPts val="1800"/>
              <a:buChar char="■"/>
              <a:defRPr/>
            </a:lvl9pPr>
          </a:lstStyle>
          <a:p/>
        </p:txBody>
      </p:sp>
      <p:sp>
        <p:nvSpPr>
          <p:cNvPr id="27" name="Google Shape;27;p98"/>
          <p:cNvSpPr txBox="1"/>
          <p:nvPr>
            <p:ph idx="10" type="dt"/>
          </p:nvPr>
        </p:nvSpPr>
        <p:spPr>
          <a:xfrm>
            <a:off x="1042987" y="4840039"/>
            <a:ext cx="903429" cy="30346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98"/>
          <p:cNvSpPr txBox="1"/>
          <p:nvPr>
            <p:ph idx="11" type="ftr"/>
          </p:nvPr>
        </p:nvSpPr>
        <p:spPr>
          <a:xfrm>
            <a:off x="2170174" y="4840039"/>
            <a:ext cx="4710623" cy="30346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98"/>
          <p:cNvSpPr txBox="1"/>
          <p:nvPr>
            <p:ph idx="12" type="sldNum"/>
          </p:nvPr>
        </p:nvSpPr>
        <p:spPr>
          <a:xfrm>
            <a:off x="7104553" y="4840039"/>
            <a:ext cx="1197219" cy="303461"/>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1pPr>
            <a:lvl2pPr indent="0" lvl="1"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2pPr>
            <a:lvl3pPr indent="0" lvl="2"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3pPr>
            <a:lvl4pPr indent="0" lvl="3"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4pPr>
            <a:lvl5pPr indent="0" lvl="4"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5pPr>
            <a:lvl6pPr indent="0" lvl="5"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6pPr>
            <a:lvl7pPr indent="0" lvl="6"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7pPr>
            <a:lvl8pPr indent="0" lvl="7"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8pPr>
            <a:lvl9pPr indent="0" lvl="8" marL="0" algn="r">
              <a:lnSpc>
                <a:spcPct val="100000"/>
              </a:lnSpc>
              <a:spcBef>
                <a:spcPts val="0"/>
              </a:spcBef>
              <a:spcAft>
                <a:spcPts val="0"/>
              </a:spcAft>
              <a:buSzPts val="1000"/>
              <a:buNone/>
              <a:defRPr b="0" i="0" sz="1000" u="none" cap="none" strike="noStrike">
                <a:solidFill>
                  <a:srgbClr val="191B0E"/>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
        <p:nvSpPr>
          <p:cNvPr id="30" name="Google Shape;30;p98"/>
          <p:cNvSpPr txBox="1"/>
          <p:nvPr/>
        </p:nvSpPr>
        <p:spPr>
          <a:xfrm>
            <a:off x="6928009" y="4817074"/>
            <a:ext cx="2215991" cy="276969"/>
          </a:xfrm>
          <a:prstGeom prst="rect">
            <a:avLst/>
          </a:prstGeom>
          <a:noFill/>
          <a:ln>
            <a:noFill/>
          </a:ln>
        </p:spPr>
        <p:txBody>
          <a:bodyPr anchorCtr="0" anchor="t" bIns="34275" lIns="68550" spcFirstLastPara="1" rIns="68550" wrap="square" tIns="34275">
            <a:spAutoFit/>
          </a:bodyPr>
          <a:lstStyle/>
          <a:p>
            <a:pPr indent="0" lvl="0" marL="0" marR="0" rtl="0" algn="l">
              <a:lnSpc>
                <a:spcPct val="100000"/>
              </a:lnSpc>
              <a:spcBef>
                <a:spcPts val="0"/>
              </a:spcBef>
              <a:spcAft>
                <a:spcPts val="0"/>
              </a:spcAft>
              <a:buClr>
                <a:srgbClr val="000000"/>
              </a:buClr>
              <a:buSzPts val="1350"/>
              <a:buFont typeface="Arial"/>
              <a:buNone/>
            </a:pPr>
            <a:r>
              <a:rPr b="0" i="0" lang="zh-TW" sz="1350" u="none" cap="none" strike="noStrike">
                <a:solidFill>
                  <a:schemeClr val="dk1"/>
                </a:solidFill>
                <a:latin typeface="Libre Franklin"/>
                <a:ea typeface="Libre Franklin"/>
                <a:cs typeface="Libre Franklin"/>
                <a:sym typeface="Libre Franklin"/>
              </a:rPr>
              <a:t>體系智能醫療推動辦公室製</a:t>
            </a:r>
            <a:endParaRPr b="0" i="0" sz="1350" u="none" cap="none" strike="noStrike">
              <a:solidFill>
                <a:schemeClr val="dk1"/>
              </a:solidFill>
              <a:latin typeface="Libre Franklin"/>
              <a:ea typeface="Libre Franklin"/>
              <a:cs typeface="Libre Franklin"/>
              <a:sym typeface="Libre Frankli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1" name="Shape 31"/>
        <p:cNvGrpSpPr/>
        <p:nvPr/>
      </p:nvGrpSpPr>
      <p:grpSpPr>
        <a:xfrm>
          <a:off x="0" y="0"/>
          <a:ext cx="0" cy="0"/>
          <a:chOff x="0" y="0"/>
          <a:chExt cx="0" cy="0"/>
        </a:xfrm>
      </p:grpSpPr>
      <p:cxnSp>
        <p:nvCxnSpPr>
          <p:cNvPr id="32" name="Google Shape;32;p101"/>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33" name="Google Shape;33;p101"/>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4" name="Google Shape;34;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0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10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10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2" name="Shape 42"/>
        <p:cNvGrpSpPr/>
        <p:nvPr/>
      </p:nvGrpSpPr>
      <p:grpSpPr>
        <a:xfrm>
          <a:off x="0" y="0"/>
          <a:ext cx="0" cy="0"/>
          <a:chOff x="0" y="0"/>
          <a:chExt cx="0" cy="0"/>
        </a:xfrm>
      </p:grpSpPr>
      <p:sp>
        <p:nvSpPr>
          <p:cNvPr id="43" name="Google Shape;43;p104"/>
          <p:cNvSpPr txBox="1"/>
          <p:nvPr>
            <p:ph type="title"/>
          </p:nvPr>
        </p:nvSpPr>
        <p:spPr>
          <a:xfrm>
            <a:off x="490250" y="526350"/>
            <a:ext cx="57975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05"/>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105"/>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8" name="Google Shape;48;p105"/>
          <p:cNvSpPr txBox="1"/>
          <p:nvPr>
            <p:ph type="title"/>
          </p:nvPr>
        </p:nvSpPr>
        <p:spPr>
          <a:xfrm>
            <a:off x="265500" y="1205825"/>
            <a:ext cx="4045200" cy="1509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105"/>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10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6"/>
          <p:cNvSpPr txBox="1"/>
          <p:nvPr>
            <p:ph idx="1" type="body"/>
          </p:nvPr>
        </p:nvSpPr>
        <p:spPr>
          <a:xfrm>
            <a:off x="311700" y="42368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54" name="Google Shape;54;p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0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07"/>
          <p:cNvSpPr txBox="1"/>
          <p:nvPr>
            <p:ph hasCustomPrompt="1" type="title"/>
          </p:nvPr>
        </p:nvSpPr>
        <p:spPr>
          <a:xfrm>
            <a:off x="311700" y="991475"/>
            <a:ext cx="8520600" cy="1917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14000"/>
              <a:buNone/>
              <a:defRPr b="1" sz="14000"/>
            </a:lvl1pPr>
            <a:lvl2pPr lvl="1" algn="ctr">
              <a:lnSpc>
                <a:spcPct val="100000"/>
              </a:lnSpc>
              <a:spcBef>
                <a:spcPts val="0"/>
              </a:spcBef>
              <a:spcAft>
                <a:spcPts val="0"/>
              </a:spcAft>
              <a:buSzPts val="14000"/>
              <a:buNone/>
              <a:defRPr b="1" sz="14000"/>
            </a:lvl2pPr>
            <a:lvl3pPr lvl="2" algn="ctr">
              <a:lnSpc>
                <a:spcPct val="100000"/>
              </a:lnSpc>
              <a:spcBef>
                <a:spcPts val="0"/>
              </a:spcBef>
              <a:spcAft>
                <a:spcPts val="0"/>
              </a:spcAft>
              <a:buSzPts val="14000"/>
              <a:buNone/>
              <a:defRPr b="1" sz="14000"/>
            </a:lvl3pPr>
            <a:lvl4pPr lvl="3" algn="ctr">
              <a:lnSpc>
                <a:spcPct val="100000"/>
              </a:lnSpc>
              <a:spcBef>
                <a:spcPts val="0"/>
              </a:spcBef>
              <a:spcAft>
                <a:spcPts val="0"/>
              </a:spcAft>
              <a:buSzPts val="14000"/>
              <a:buNone/>
              <a:defRPr b="1" sz="14000"/>
            </a:lvl4pPr>
            <a:lvl5pPr lvl="4" algn="ctr">
              <a:lnSpc>
                <a:spcPct val="100000"/>
              </a:lnSpc>
              <a:spcBef>
                <a:spcPts val="0"/>
              </a:spcBef>
              <a:spcAft>
                <a:spcPts val="0"/>
              </a:spcAft>
              <a:buSzPts val="14000"/>
              <a:buNone/>
              <a:defRPr b="1" sz="14000"/>
            </a:lvl5pPr>
            <a:lvl6pPr lvl="5" algn="ctr">
              <a:lnSpc>
                <a:spcPct val="100000"/>
              </a:lnSpc>
              <a:spcBef>
                <a:spcPts val="0"/>
              </a:spcBef>
              <a:spcAft>
                <a:spcPts val="0"/>
              </a:spcAft>
              <a:buSzPts val="14000"/>
              <a:buNone/>
              <a:defRPr b="1" sz="14000"/>
            </a:lvl6pPr>
            <a:lvl7pPr lvl="6" algn="ctr">
              <a:lnSpc>
                <a:spcPct val="100000"/>
              </a:lnSpc>
              <a:spcBef>
                <a:spcPts val="0"/>
              </a:spcBef>
              <a:spcAft>
                <a:spcPts val="0"/>
              </a:spcAft>
              <a:buSzPts val="14000"/>
              <a:buNone/>
              <a:defRPr b="1" sz="14000"/>
            </a:lvl7pPr>
            <a:lvl8pPr lvl="7" algn="ctr">
              <a:lnSpc>
                <a:spcPct val="100000"/>
              </a:lnSpc>
              <a:spcBef>
                <a:spcPts val="0"/>
              </a:spcBef>
              <a:spcAft>
                <a:spcPts val="0"/>
              </a:spcAft>
              <a:buSzPts val="14000"/>
              <a:buNone/>
              <a:defRPr b="1" sz="14000"/>
            </a:lvl8pPr>
            <a:lvl9pPr lvl="8" algn="ctr">
              <a:lnSpc>
                <a:spcPct val="100000"/>
              </a:lnSpc>
              <a:spcBef>
                <a:spcPts val="0"/>
              </a:spcBef>
              <a:spcAft>
                <a:spcPts val="0"/>
              </a:spcAft>
              <a:buSzPts val="14000"/>
              <a:buNone/>
              <a:defRPr b="1" sz="14000"/>
            </a:lvl9pPr>
          </a:lstStyle>
          <a:p>
            <a:r>
              <a:t>xx%</a:t>
            </a:r>
          </a:p>
        </p:txBody>
      </p:sp>
      <p:sp>
        <p:nvSpPr>
          <p:cNvPr id="58" name="Google Shape;58;p107"/>
          <p:cNvSpPr txBox="1"/>
          <p:nvPr>
            <p:ph idx="1" type="body"/>
          </p:nvPr>
        </p:nvSpPr>
        <p:spPr>
          <a:xfrm>
            <a:off x="311700" y="3071300"/>
            <a:ext cx="8520600" cy="901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69" name="Shape 69"/>
        <p:cNvGrpSpPr/>
        <p:nvPr/>
      </p:nvGrpSpPr>
      <p:grpSpPr>
        <a:xfrm>
          <a:off x="0" y="0"/>
          <a:ext cx="0" cy="0"/>
          <a:chOff x="0" y="0"/>
          <a:chExt cx="0" cy="0"/>
        </a:xfrm>
      </p:grpSpPr>
      <p:sp>
        <p:nvSpPr>
          <p:cNvPr id="70" name="Google Shape;70;p100"/>
          <p:cNvSpPr txBox="1"/>
          <p:nvPr>
            <p:ph type="title"/>
          </p:nvPr>
        </p:nvSpPr>
        <p:spPr>
          <a:xfrm>
            <a:off x="857224" y="71420"/>
            <a:ext cx="7043758" cy="57150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0"/>
          <p:cNvSpPr txBox="1"/>
          <p:nvPr>
            <p:ph idx="1" type="body"/>
          </p:nvPr>
        </p:nvSpPr>
        <p:spPr>
          <a:xfrm>
            <a:off x="357158" y="857238"/>
            <a:ext cx="8358246" cy="385765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100"/>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0"/>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74" name="Shape 74"/>
        <p:cNvGrpSpPr/>
        <p:nvPr/>
      </p:nvGrpSpPr>
      <p:grpSpPr>
        <a:xfrm>
          <a:off x="0" y="0"/>
          <a:ext cx="0" cy="0"/>
          <a:chOff x="0" y="0"/>
          <a:chExt cx="0" cy="0"/>
        </a:xfrm>
      </p:grpSpPr>
      <p:sp>
        <p:nvSpPr>
          <p:cNvPr id="75" name="Google Shape;75;p109"/>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09"/>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77" name="Google Shape;77;p109"/>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8" name="Google Shape;78;p109"/>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9"/>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區段標題" type="secHead">
  <p:cSld name="SECTION_HEADER">
    <p:spTree>
      <p:nvGrpSpPr>
        <p:cNvPr id="80" name="Shape 80"/>
        <p:cNvGrpSpPr/>
        <p:nvPr/>
      </p:nvGrpSpPr>
      <p:grpSpPr>
        <a:xfrm>
          <a:off x="0" y="0"/>
          <a:ext cx="0" cy="0"/>
          <a:chOff x="0" y="0"/>
          <a:chExt cx="0" cy="0"/>
        </a:xfrm>
      </p:grpSpPr>
      <p:sp>
        <p:nvSpPr>
          <p:cNvPr id="81" name="Google Shape;81;p110"/>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05867"/>
              </a:buClr>
              <a:buSzPts val="4000"/>
              <a:buFont typeface="Microsoft JhengHe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0"/>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83" name="Google Shape;83;p110"/>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0"/>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85" name="Shape 85"/>
        <p:cNvGrpSpPr/>
        <p:nvPr/>
      </p:nvGrpSpPr>
      <p:grpSpPr>
        <a:xfrm>
          <a:off x="0" y="0"/>
          <a:ext cx="0" cy="0"/>
          <a:chOff x="0" y="0"/>
          <a:chExt cx="0" cy="0"/>
        </a:xfrm>
      </p:grpSpPr>
      <p:sp>
        <p:nvSpPr>
          <p:cNvPr id="86" name="Google Shape;86;p111"/>
          <p:cNvSpPr txBox="1"/>
          <p:nvPr>
            <p:ph type="title"/>
          </p:nvPr>
        </p:nvSpPr>
        <p:spPr>
          <a:xfrm>
            <a:off x="857224" y="71420"/>
            <a:ext cx="7043758" cy="57150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11"/>
          <p:cNvSpPr txBox="1"/>
          <p:nvPr>
            <p:ph idx="1" type="body"/>
          </p:nvPr>
        </p:nvSpPr>
        <p:spPr>
          <a:xfrm>
            <a:off x="457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8" name="Google Shape;88;p111"/>
          <p:cNvSpPr txBox="1"/>
          <p:nvPr>
            <p:ph idx="2" type="body"/>
          </p:nvPr>
        </p:nvSpPr>
        <p:spPr>
          <a:xfrm>
            <a:off x="4648200" y="900113"/>
            <a:ext cx="4038600" cy="2545556"/>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9" name="Google Shape;89;p111"/>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1"/>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91" name="Shape 91"/>
        <p:cNvGrpSpPr/>
        <p:nvPr/>
      </p:nvGrpSpPr>
      <p:grpSpPr>
        <a:xfrm>
          <a:off x="0" y="0"/>
          <a:ext cx="0" cy="0"/>
          <a:chOff x="0" y="0"/>
          <a:chExt cx="0" cy="0"/>
        </a:xfrm>
      </p:grpSpPr>
      <p:sp>
        <p:nvSpPr>
          <p:cNvPr id="92" name="Google Shape;92;p11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3200"/>
              <a:buFont typeface="Microsoft JhengHe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12"/>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4" name="Google Shape;94;p112"/>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5" name="Google Shape;95;p112"/>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6" name="Google Shape;96;p112"/>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7" name="Google Shape;97;p112"/>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12"/>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99" name="Shape 99"/>
        <p:cNvGrpSpPr/>
        <p:nvPr/>
      </p:nvGrpSpPr>
      <p:grpSpPr>
        <a:xfrm>
          <a:off x="0" y="0"/>
          <a:ext cx="0" cy="0"/>
          <a:chOff x="0" y="0"/>
          <a:chExt cx="0" cy="0"/>
        </a:xfrm>
      </p:grpSpPr>
      <p:sp>
        <p:nvSpPr>
          <p:cNvPr id="100" name="Google Shape;100;p113"/>
          <p:cNvSpPr txBox="1"/>
          <p:nvPr>
            <p:ph type="title"/>
          </p:nvPr>
        </p:nvSpPr>
        <p:spPr>
          <a:xfrm>
            <a:off x="857224" y="71420"/>
            <a:ext cx="7043758" cy="57150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113"/>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13"/>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03" name="Shape 103"/>
        <p:cNvGrpSpPr/>
        <p:nvPr/>
      </p:nvGrpSpPr>
      <p:grpSpPr>
        <a:xfrm>
          <a:off x="0" y="0"/>
          <a:ext cx="0" cy="0"/>
          <a:chOff x="0" y="0"/>
          <a:chExt cx="0" cy="0"/>
        </a:xfrm>
      </p:grpSpPr>
      <p:sp>
        <p:nvSpPr>
          <p:cNvPr id="104" name="Google Shape;104;p114"/>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114"/>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106" name="Shape 106"/>
        <p:cNvGrpSpPr/>
        <p:nvPr/>
      </p:nvGrpSpPr>
      <p:grpSpPr>
        <a:xfrm>
          <a:off x="0" y="0"/>
          <a:ext cx="0" cy="0"/>
          <a:chOff x="0" y="0"/>
          <a:chExt cx="0" cy="0"/>
        </a:xfrm>
      </p:grpSpPr>
      <p:sp>
        <p:nvSpPr>
          <p:cNvPr id="107" name="Google Shape;107;p115"/>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05867"/>
              </a:buClr>
              <a:buSzPts val="2000"/>
              <a:buFont typeface="Microsoft JhengHe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15"/>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9" name="Google Shape;109;p115"/>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115"/>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15"/>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112" name="Shape 112"/>
        <p:cNvGrpSpPr/>
        <p:nvPr/>
      </p:nvGrpSpPr>
      <p:grpSpPr>
        <a:xfrm>
          <a:off x="0" y="0"/>
          <a:ext cx="0" cy="0"/>
          <a:chOff x="0" y="0"/>
          <a:chExt cx="0" cy="0"/>
        </a:xfrm>
      </p:grpSpPr>
      <p:sp>
        <p:nvSpPr>
          <p:cNvPr id="113" name="Google Shape;113;p116"/>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05867"/>
              </a:buClr>
              <a:buSzPts val="2000"/>
              <a:buFont typeface="Microsoft JhengHe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16"/>
          <p:cNvSpPr/>
          <p:nvPr>
            <p:ph idx="2" type="pic"/>
          </p:nvPr>
        </p:nvSpPr>
        <p:spPr>
          <a:xfrm>
            <a:off x="1792288" y="459581"/>
            <a:ext cx="5486400" cy="3086100"/>
          </a:xfrm>
          <a:prstGeom prst="rect">
            <a:avLst/>
          </a:prstGeom>
          <a:noFill/>
          <a:ln>
            <a:noFill/>
          </a:ln>
        </p:spPr>
      </p:sp>
      <p:sp>
        <p:nvSpPr>
          <p:cNvPr id="115" name="Google Shape;115;p116"/>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6" name="Google Shape;116;p116"/>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16"/>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118" name="Shape 118"/>
        <p:cNvGrpSpPr/>
        <p:nvPr/>
      </p:nvGrpSpPr>
      <p:grpSpPr>
        <a:xfrm>
          <a:off x="0" y="0"/>
          <a:ext cx="0" cy="0"/>
          <a:chOff x="0" y="0"/>
          <a:chExt cx="0" cy="0"/>
        </a:xfrm>
      </p:grpSpPr>
      <p:sp>
        <p:nvSpPr>
          <p:cNvPr id="119" name="Google Shape;119;p117"/>
          <p:cNvSpPr txBox="1"/>
          <p:nvPr>
            <p:ph type="title"/>
          </p:nvPr>
        </p:nvSpPr>
        <p:spPr>
          <a:xfrm>
            <a:off x="857224" y="71420"/>
            <a:ext cx="7043758" cy="57150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117"/>
          <p:cNvSpPr txBox="1"/>
          <p:nvPr>
            <p:ph idx="1" type="body"/>
          </p:nvPr>
        </p:nvSpPr>
        <p:spPr>
          <a:xfrm rot="5400000">
            <a:off x="2607455" y="-1393059"/>
            <a:ext cx="3857652" cy="835824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1" name="Google Shape;121;p117"/>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17"/>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123" name="Shape 123"/>
        <p:cNvGrpSpPr/>
        <p:nvPr/>
      </p:nvGrpSpPr>
      <p:grpSpPr>
        <a:xfrm>
          <a:off x="0" y="0"/>
          <a:ext cx="0" cy="0"/>
          <a:chOff x="0" y="0"/>
          <a:chExt cx="0" cy="0"/>
        </a:xfrm>
      </p:grpSpPr>
      <p:sp>
        <p:nvSpPr>
          <p:cNvPr id="124" name="Google Shape;124;p118"/>
          <p:cNvSpPr txBox="1"/>
          <p:nvPr>
            <p:ph type="title"/>
          </p:nvPr>
        </p:nvSpPr>
        <p:spPr>
          <a:xfrm rot="5400000">
            <a:off x="6012656" y="771525"/>
            <a:ext cx="3290888"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05867"/>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18"/>
          <p:cNvSpPr txBox="1"/>
          <p:nvPr>
            <p:ph idx="1" type="body"/>
          </p:nvPr>
        </p:nvSpPr>
        <p:spPr>
          <a:xfrm rot="5400000">
            <a:off x="1821656" y="-1209675"/>
            <a:ext cx="3290888"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6" name="Google Shape;126;p118"/>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76923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18"/>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1pPr>
            <a:lvl2pPr indent="0" lvl="1"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2pPr>
            <a:lvl3pPr indent="0" lvl="2"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3pPr>
            <a:lvl4pPr indent="0" lvl="3"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4pPr>
            <a:lvl5pPr indent="0" lvl="4"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5pPr>
            <a:lvl6pPr indent="0" lvl="5"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6pPr>
            <a:lvl7pPr indent="0" lvl="6"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7pPr>
            <a:lvl8pPr indent="0" lvl="7"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8pPr>
            <a:lvl9pPr indent="0" lvl="8" marL="0" algn="r">
              <a:lnSpc>
                <a:spcPct val="100000"/>
              </a:lnSpc>
              <a:spcBef>
                <a:spcPts val="0"/>
              </a:spcBef>
              <a:spcAft>
                <a:spcPts val="0"/>
              </a:spcAft>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36.jpg"/><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3.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chemeClr val="dk1"/>
              </a:buClr>
              <a:buSzPts val="2800"/>
              <a:buFont typeface="Proxima Nova"/>
              <a:buNone/>
              <a:defRPr b="0" i="0" sz="2800" u="none" cap="none" strike="noStrike">
                <a:solidFill>
                  <a:schemeClr val="dk1"/>
                </a:solidFill>
                <a:latin typeface="Proxima Nova"/>
                <a:ea typeface="Proxima Nova"/>
                <a:cs typeface="Proxima Nova"/>
                <a:sym typeface="Proxima Nova"/>
              </a:defRPr>
            </a:lvl9pPr>
          </a:lstStyle>
          <a:p/>
        </p:txBody>
      </p:sp>
      <p:sp>
        <p:nvSpPr>
          <p:cNvPr id="7" name="Google Shape;7;p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Proxima Nova"/>
              <a:buChar char="●"/>
              <a:defRPr b="0" i="0" sz="1800" u="none" cap="none" strike="noStrike">
                <a:solidFill>
                  <a:schemeClr val="accent3"/>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accent3"/>
              </a:buClr>
              <a:buSzPts val="1400"/>
              <a:buFont typeface="Proxima Nova"/>
              <a:buChar char="■"/>
              <a:defRPr b="0" i="0" sz="1400" u="none" cap="none" strike="noStrike">
                <a:solidFill>
                  <a:schemeClr val="accent3"/>
                </a:solidFill>
                <a:latin typeface="Proxima Nova"/>
                <a:ea typeface="Proxima Nova"/>
                <a:cs typeface="Proxima Nova"/>
                <a:sym typeface="Proxima Nova"/>
              </a:defRPr>
            </a:lvl9pPr>
          </a:lstStyle>
          <a:p/>
        </p:txBody>
      </p:sp>
      <p:sp>
        <p:nvSpPr>
          <p:cNvPr id="8" name="Google Shape;8;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 name="Shape 62"/>
        <p:cNvGrpSpPr/>
        <p:nvPr/>
      </p:nvGrpSpPr>
      <p:grpSpPr>
        <a:xfrm>
          <a:off x="0" y="0"/>
          <a:ext cx="0" cy="0"/>
          <a:chOff x="0" y="0"/>
          <a:chExt cx="0" cy="0"/>
        </a:xfrm>
      </p:grpSpPr>
      <p:pic>
        <p:nvPicPr>
          <p:cNvPr descr="底板設計16_9-02.jpg" id="63" name="Google Shape;63;p99"/>
          <p:cNvPicPr preferRelativeResize="0"/>
          <p:nvPr/>
        </p:nvPicPr>
        <p:blipFill rotWithShape="1">
          <a:blip r:embed="rId1">
            <a:alphaModFix/>
          </a:blip>
          <a:srcRect b="0" l="0" r="0" t="0"/>
          <a:stretch/>
        </p:blipFill>
        <p:spPr>
          <a:xfrm>
            <a:off x="1355" y="0"/>
            <a:ext cx="9141289" cy="5143499"/>
          </a:xfrm>
          <a:prstGeom prst="rect">
            <a:avLst/>
          </a:prstGeom>
          <a:noFill/>
          <a:ln>
            <a:noFill/>
          </a:ln>
        </p:spPr>
      </p:pic>
      <p:sp>
        <p:nvSpPr>
          <p:cNvPr id="64" name="Google Shape;64;p99"/>
          <p:cNvSpPr txBox="1"/>
          <p:nvPr>
            <p:ph type="title"/>
          </p:nvPr>
        </p:nvSpPr>
        <p:spPr>
          <a:xfrm>
            <a:off x="857224" y="71420"/>
            <a:ext cx="7043758" cy="571504"/>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205867"/>
              </a:buClr>
              <a:buSzPts val="3200"/>
              <a:buFont typeface="Microsoft JhengHei"/>
              <a:buNone/>
              <a:defRPr b="1" i="0" sz="3200" u="none" cap="none" strike="noStrike">
                <a:solidFill>
                  <a:srgbClr val="205867"/>
                </a:solidFill>
                <a:latin typeface="Microsoft JhengHei"/>
                <a:ea typeface="Microsoft JhengHei"/>
                <a:cs typeface="Microsoft JhengHei"/>
                <a:sym typeface="Microsoft Jheng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99"/>
          <p:cNvSpPr txBox="1"/>
          <p:nvPr>
            <p:ph idx="1" type="body"/>
          </p:nvPr>
        </p:nvSpPr>
        <p:spPr>
          <a:xfrm>
            <a:off x="357158" y="857238"/>
            <a:ext cx="8358246" cy="385765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Microsoft JhengHei"/>
                <a:ea typeface="Microsoft JhengHei"/>
                <a:cs typeface="Microsoft JhengHei"/>
                <a:sym typeface="Microsoft JhengHe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Microsoft JhengHei"/>
                <a:ea typeface="Microsoft JhengHei"/>
                <a:cs typeface="Microsoft JhengHei"/>
                <a:sym typeface="Microsoft JhengHe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Microsoft JhengHei"/>
                <a:ea typeface="Microsoft JhengHei"/>
                <a:cs typeface="Microsoft JhengHei"/>
                <a:sym typeface="Microsoft JhengHe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Microsoft JhengHei"/>
                <a:ea typeface="Microsoft JhengHei"/>
                <a:cs typeface="Microsoft JhengHei"/>
                <a:sym typeface="Microsoft JhengHe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Microsoft JhengHei"/>
                <a:ea typeface="Microsoft JhengHei"/>
                <a:cs typeface="Microsoft JhengHei"/>
                <a:sym typeface="Microsoft JhengHe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6" name="Google Shape;66;p99"/>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cap="none" strike="noStrike">
                <a:solidFill>
                  <a:srgbClr val="76923C"/>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7" name="Google Shape;67;p99"/>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1pPr>
            <a:lvl2pPr indent="0" lvl="1"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2pPr>
            <a:lvl3pPr indent="0" lvl="2"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3pPr>
            <a:lvl4pPr indent="0" lvl="3"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4pPr>
            <a:lvl5pPr indent="0" lvl="4"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5pPr>
            <a:lvl6pPr indent="0" lvl="5"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6pPr>
            <a:lvl7pPr indent="0" lvl="6"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7pPr>
            <a:lvl8pPr indent="0" lvl="7"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8pPr>
            <a:lvl9pPr indent="0" lvl="8" marL="0" marR="0" rtl="0" algn="r">
              <a:lnSpc>
                <a:spcPct val="100000"/>
              </a:lnSpc>
              <a:spcBef>
                <a:spcPts val="0"/>
              </a:spcBef>
              <a:spcAft>
                <a:spcPts val="0"/>
              </a:spcAft>
              <a:buClr>
                <a:srgbClr val="31859B"/>
              </a:buClr>
              <a:buSzPts val="1200"/>
              <a:buFont typeface="Arial"/>
              <a:buNone/>
              <a:defRPr b="1" i="0" sz="1200" u="none" cap="none" strike="noStrike">
                <a:solidFill>
                  <a:srgbClr val="31859B"/>
                </a:solidFill>
                <a:latin typeface="Microsoft JhengHei"/>
                <a:ea typeface="Microsoft JhengHei"/>
                <a:cs typeface="Microsoft JhengHei"/>
                <a:sym typeface="Microsoft JhengHei"/>
              </a:defRPr>
            </a:lvl9pPr>
          </a:lstStyle>
          <a:p>
            <a:pPr indent="0" lvl="0" marL="0" rtl="0" algn="r">
              <a:spcBef>
                <a:spcPts val="0"/>
              </a:spcBef>
              <a:spcAft>
                <a:spcPts val="0"/>
              </a:spcAft>
              <a:buNone/>
            </a:pPr>
            <a:fld id="{00000000-1234-1234-1234-123412341234}" type="slidenum">
              <a:rPr lang="zh-TW"/>
              <a:t>‹#›</a:t>
            </a:fld>
            <a:endParaRPr/>
          </a:p>
        </p:txBody>
      </p:sp>
      <p:pic>
        <p:nvPicPr>
          <p:cNvPr descr="高醫.gif" id="68" name="Google Shape;68;p99"/>
          <p:cNvPicPr preferRelativeResize="0"/>
          <p:nvPr/>
        </p:nvPicPr>
        <p:blipFill rotWithShape="1">
          <a:blip r:embed="rId2">
            <a:alphaModFix/>
          </a:blip>
          <a:srcRect b="0" l="0" r="0" t="0"/>
          <a:stretch/>
        </p:blipFill>
        <p:spPr>
          <a:xfrm>
            <a:off x="357158" y="71420"/>
            <a:ext cx="500072" cy="50007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6.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about:blank" TargetMode="External"/><Relationship Id="rId4" Type="http://schemas.openxmlformats.org/officeDocument/2006/relationships/hyperlink" Target="about:blank"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1.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3.png"/><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8.png"/><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3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hyperlink" Target="https://cflin.com/course/python/Python_01.pdf" TargetMode="External"/><Relationship Id="rId4" Type="http://schemas.openxmlformats.org/officeDocument/2006/relationships/hyperlink" Target="https://www.hlbh.hlc.edu.tw/resource/openfid.php?id=3757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descr="底板設計16_9_工作區域 1.jpg" id="132" name="Google Shape;132;p1"/>
          <p:cNvPicPr preferRelativeResize="0"/>
          <p:nvPr/>
        </p:nvPicPr>
        <p:blipFill rotWithShape="1">
          <a:blip r:embed="rId3">
            <a:alphaModFix/>
          </a:blip>
          <a:srcRect b="0" l="0" r="0" t="0"/>
          <a:stretch/>
        </p:blipFill>
        <p:spPr>
          <a:xfrm>
            <a:off x="5898" y="-8658"/>
            <a:ext cx="9141291" cy="5143499"/>
          </a:xfrm>
          <a:prstGeom prst="rect">
            <a:avLst/>
          </a:prstGeom>
          <a:noFill/>
          <a:ln>
            <a:noFill/>
          </a:ln>
        </p:spPr>
      </p:pic>
      <p:sp>
        <p:nvSpPr>
          <p:cNvPr id="133" name="Google Shape;133;p1"/>
          <p:cNvSpPr txBox="1"/>
          <p:nvPr/>
        </p:nvSpPr>
        <p:spPr>
          <a:xfrm>
            <a:off x="2339752" y="2048008"/>
            <a:ext cx="6951989" cy="1741199"/>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zh-TW" sz="3600" u="none" cap="none" strike="noStrike">
                <a:solidFill>
                  <a:srgbClr val="A80000"/>
                </a:solidFill>
                <a:latin typeface="Microsoft JhengHei"/>
                <a:ea typeface="Microsoft JhengHei"/>
                <a:cs typeface="Microsoft JhengHei"/>
                <a:sym typeface="Microsoft JhengHei"/>
              </a:rPr>
              <a:t>113學年度AI人才培育</a:t>
            </a:r>
            <a:endParaRPr b="1" i="0" sz="3600" u="none" cap="none" strike="noStrike">
              <a:solidFill>
                <a:srgbClr val="A80000"/>
              </a:solidFill>
              <a:latin typeface="Microsoft JhengHei"/>
              <a:ea typeface="Microsoft JhengHei"/>
              <a:cs typeface="Microsoft JhengHei"/>
              <a:sym typeface="Microsoft JhengHei"/>
            </a:endParaRPr>
          </a:p>
          <a:p>
            <a:pPr indent="0" lvl="0" marL="0" marR="0" rtl="0" algn="ctr">
              <a:lnSpc>
                <a:spcPct val="100000"/>
              </a:lnSpc>
              <a:spcBef>
                <a:spcPts val="0"/>
              </a:spcBef>
              <a:spcAft>
                <a:spcPts val="0"/>
              </a:spcAft>
              <a:buNone/>
            </a:pPr>
            <a:r>
              <a:rPr b="1" i="0" lang="zh-TW" sz="3600" u="none" cap="none" strike="noStrike">
                <a:solidFill>
                  <a:srgbClr val="A80000"/>
                </a:solidFill>
                <a:latin typeface="Microsoft JhengHei"/>
                <a:ea typeface="Microsoft JhengHei"/>
                <a:cs typeface="Microsoft JhengHei"/>
                <a:sym typeface="Microsoft JhengHei"/>
              </a:rPr>
              <a:t>PYTHON精緻旅遊-基礎入門</a:t>
            </a:r>
            <a:endParaRPr b="1" i="0" sz="4000" u="none" cap="none" strike="noStrike">
              <a:solidFill>
                <a:srgbClr val="FC0000"/>
              </a:solidFill>
              <a:latin typeface="Microsoft JhengHei"/>
              <a:ea typeface="Microsoft JhengHei"/>
              <a:cs typeface="Microsoft JhengHei"/>
              <a:sym typeface="Microsoft JhengHei"/>
            </a:endParaRPr>
          </a:p>
        </p:txBody>
      </p:sp>
      <p:grpSp>
        <p:nvGrpSpPr>
          <p:cNvPr id="134" name="Google Shape;134;p1"/>
          <p:cNvGrpSpPr/>
          <p:nvPr/>
        </p:nvGrpSpPr>
        <p:grpSpPr>
          <a:xfrm>
            <a:off x="4163360" y="388650"/>
            <a:ext cx="3586373" cy="1313857"/>
            <a:chOff x="4163360" y="388650"/>
            <a:chExt cx="3586373" cy="1313857"/>
          </a:xfrm>
        </p:grpSpPr>
        <p:sp>
          <p:nvSpPr>
            <p:cNvPr id="135" name="Google Shape;135;p1"/>
            <p:cNvSpPr txBox="1"/>
            <p:nvPr/>
          </p:nvSpPr>
          <p:spPr>
            <a:xfrm>
              <a:off x="4163360" y="1194676"/>
              <a:ext cx="3586373"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zh-TW" sz="1700" u="none" cap="none" strike="noStrike">
                  <a:solidFill>
                    <a:srgbClr val="212121"/>
                  </a:solidFill>
                  <a:latin typeface="Arial"/>
                  <a:ea typeface="Arial"/>
                  <a:cs typeface="Arial"/>
                  <a:sym typeface="Arial"/>
                </a:rPr>
                <a:t>高雄醫學大學附設中和紀念醫院</a:t>
              </a:r>
              <a:endParaRPr/>
            </a:p>
            <a:p>
              <a:pPr indent="0" lvl="0" marL="0" marR="0" rtl="0" algn="ctr">
                <a:lnSpc>
                  <a:spcPct val="100000"/>
                </a:lnSpc>
                <a:spcBef>
                  <a:spcPts val="0"/>
                </a:spcBef>
                <a:spcAft>
                  <a:spcPts val="0"/>
                </a:spcAft>
                <a:buNone/>
              </a:pPr>
              <a:r>
                <a:rPr b="0" i="0" lang="zh-TW" sz="1000" u="none" cap="none" strike="noStrike">
                  <a:solidFill>
                    <a:srgbClr val="212121"/>
                  </a:solidFill>
                  <a:latin typeface="Calibri"/>
                  <a:ea typeface="Calibri"/>
                  <a:cs typeface="Calibri"/>
                  <a:sym typeface="Calibri"/>
                </a:rPr>
                <a:t>Kaohsiung Medical University Chung-Ho Memorial Hospital</a:t>
              </a:r>
              <a:endParaRPr b="0" i="0" sz="920" u="none" cap="none" strike="noStrike">
                <a:solidFill>
                  <a:srgbClr val="212121"/>
                </a:solidFill>
                <a:latin typeface="Arial"/>
                <a:ea typeface="Arial"/>
                <a:cs typeface="Arial"/>
                <a:sym typeface="Arial"/>
              </a:endParaRPr>
            </a:p>
          </p:txBody>
        </p:sp>
        <p:grpSp>
          <p:nvGrpSpPr>
            <p:cNvPr id="136" name="Google Shape;136;p1"/>
            <p:cNvGrpSpPr/>
            <p:nvPr/>
          </p:nvGrpSpPr>
          <p:grpSpPr>
            <a:xfrm>
              <a:off x="5549651" y="388650"/>
              <a:ext cx="813791" cy="813791"/>
              <a:chOff x="5549651" y="388650"/>
              <a:chExt cx="813791" cy="813791"/>
            </a:xfrm>
          </p:grpSpPr>
          <p:sp>
            <p:nvSpPr>
              <p:cNvPr id="137" name="Google Shape;137;p1"/>
              <p:cNvSpPr/>
              <p:nvPr/>
            </p:nvSpPr>
            <p:spPr>
              <a:xfrm>
                <a:off x="5549651" y="388650"/>
                <a:ext cx="813791" cy="81379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高醫.gif" id="138" name="Google Shape;138;p1"/>
              <p:cNvPicPr preferRelativeResize="0"/>
              <p:nvPr/>
            </p:nvPicPr>
            <p:blipFill rotWithShape="1">
              <a:blip r:embed="rId4">
                <a:alphaModFix/>
              </a:blip>
              <a:srcRect b="0" l="0" r="0" t="0"/>
              <a:stretch/>
            </p:blipFill>
            <p:spPr>
              <a:xfrm>
                <a:off x="5612706" y="451705"/>
                <a:ext cx="687680" cy="687680"/>
              </a:xfrm>
              <a:prstGeom prst="rect">
                <a:avLst/>
              </a:prstGeom>
              <a:noFill/>
              <a:ln>
                <a:noFill/>
              </a:ln>
            </p:spPr>
          </p:pic>
        </p:grpSp>
      </p:grpSp>
      <p:sp>
        <p:nvSpPr>
          <p:cNvPr id="139" name="Google Shape;139;p1"/>
          <p:cNvSpPr/>
          <p:nvPr/>
        </p:nvSpPr>
        <p:spPr>
          <a:xfrm>
            <a:off x="6138825" y="4700821"/>
            <a:ext cx="23391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體系智能醫療推動辦公室製</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
          <p:cNvSpPr/>
          <p:nvPr/>
        </p:nvSpPr>
        <p:spPr>
          <a:xfrm>
            <a:off x="402609" y="468312"/>
            <a:ext cx="8741391" cy="387798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zh-TW" sz="1800" u="none" cap="none" strike="noStrike">
                <a:solidFill>
                  <a:srgbClr val="000099"/>
                </a:solidFill>
                <a:latin typeface="Microsoft JhengHei"/>
                <a:ea typeface="Microsoft JhengHei"/>
                <a:cs typeface="Microsoft JhengHei"/>
                <a:sym typeface="Microsoft JhengHei"/>
              </a:rPr>
              <a:t>課程注意事項</a:t>
            </a:r>
            <a:endParaRPr/>
          </a:p>
          <a:p>
            <a:pPr indent="-342900" lvl="0" marL="342900" marR="0" rtl="0" algn="l">
              <a:lnSpc>
                <a:spcPct val="150000"/>
              </a:lnSpc>
              <a:spcBef>
                <a:spcPts val="0"/>
              </a:spcBef>
              <a:spcAft>
                <a:spcPts val="0"/>
              </a:spcAft>
              <a:buClr>
                <a:srgbClr val="000099"/>
              </a:buClr>
              <a:buSzPts val="2400"/>
              <a:buFont typeface="Arial"/>
              <a:buChar char="•"/>
            </a:pPr>
            <a:r>
              <a:rPr b="0" i="0" lang="zh-TW" sz="1800" u="none" cap="none" strike="noStrike">
                <a:solidFill>
                  <a:srgbClr val="000099"/>
                </a:solidFill>
                <a:latin typeface="Microsoft JhengHei"/>
                <a:ea typeface="Microsoft JhengHei"/>
                <a:cs typeface="Microsoft JhengHei"/>
                <a:sym typeface="Microsoft JhengHei"/>
              </a:rPr>
              <a:t>本課程分為上午場、下午場皆須簽到退</a:t>
            </a:r>
            <a:endParaRPr/>
          </a:p>
          <a:p>
            <a:pPr indent="-342900" lvl="0" marL="342900" marR="0" rtl="0" algn="l">
              <a:lnSpc>
                <a:spcPct val="150000"/>
              </a:lnSpc>
              <a:spcBef>
                <a:spcPts val="0"/>
              </a:spcBef>
              <a:spcAft>
                <a:spcPts val="0"/>
              </a:spcAft>
              <a:buClr>
                <a:srgbClr val="000099"/>
              </a:buClr>
              <a:buSzPts val="2400"/>
              <a:buFont typeface="Arial"/>
              <a:buChar char="•"/>
            </a:pPr>
            <a:r>
              <a:rPr b="0" i="0" lang="zh-TW" sz="1800" u="none" cap="none" strike="noStrike">
                <a:solidFill>
                  <a:srgbClr val="000099"/>
                </a:solidFill>
                <a:latin typeface="Microsoft JhengHei"/>
                <a:ea typeface="Microsoft JhengHei"/>
                <a:cs typeface="Microsoft JhengHei"/>
                <a:sym typeface="Microsoft JhengHei"/>
              </a:rPr>
              <a:t>課程完成後，需繳交課堂作業</a:t>
            </a:r>
            <a:endParaRPr/>
          </a:p>
          <a:p>
            <a:pPr indent="-342900" lvl="0" marL="342900" marR="0" rtl="0" algn="l">
              <a:lnSpc>
                <a:spcPct val="150000"/>
              </a:lnSpc>
              <a:spcBef>
                <a:spcPts val="0"/>
              </a:spcBef>
              <a:spcAft>
                <a:spcPts val="0"/>
              </a:spcAft>
              <a:buClr>
                <a:srgbClr val="000000"/>
              </a:buClr>
              <a:buSzPts val="2400"/>
              <a:buFont typeface="Arial"/>
              <a:buChar char="•"/>
            </a:pPr>
            <a:r>
              <a:rPr b="0" i="0" lang="zh-TW" sz="1800" u="none" cap="none" strike="noStrike">
                <a:solidFill>
                  <a:srgbClr val="000000"/>
                </a:solidFill>
                <a:latin typeface="Microsoft JhengHei"/>
                <a:ea typeface="Microsoft JhengHei"/>
                <a:cs typeface="Microsoft JhengHei"/>
                <a:sym typeface="Microsoft JhengHei"/>
              </a:rPr>
              <a:t>兩個承諾</a:t>
            </a:r>
            <a:endParaRPr b="0" i="0" sz="1100" u="none" cap="none" strike="noStrike">
              <a:solidFill>
                <a:srgbClr val="000000"/>
              </a:solidFill>
              <a:latin typeface="Arial"/>
              <a:ea typeface="Arial"/>
              <a:cs typeface="Arial"/>
              <a:sym typeface="Arial"/>
            </a:endParaRPr>
          </a:p>
          <a:p>
            <a:pPr indent="-342900" lvl="1" marL="800100" marR="0" rtl="0" algn="l">
              <a:lnSpc>
                <a:spcPct val="150000"/>
              </a:lnSpc>
              <a:spcBef>
                <a:spcPts val="0"/>
              </a:spcBef>
              <a:spcAft>
                <a:spcPts val="0"/>
              </a:spcAft>
              <a:buClr>
                <a:srgbClr val="000000"/>
              </a:buClr>
              <a:buSzPts val="2400"/>
              <a:buFont typeface="Noto Sans Symbols"/>
              <a:buChar char="✔"/>
            </a:pPr>
            <a:r>
              <a:rPr b="0" i="0" lang="zh-TW" sz="1800" u="none" cap="none" strike="noStrike">
                <a:solidFill>
                  <a:srgbClr val="000000"/>
                </a:solidFill>
                <a:latin typeface="Microsoft JhengHei"/>
                <a:ea typeface="Microsoft JhengHei"/>
                <a:cs typeface="Microsoft JhengHei"/>
                <a:sym typeface="Microsoft JhengHei"/>
              </a:rPr>
              <a:t>每</a:t>
            </a:r>
            <a:r>
              <a:rPr b="0" i="0" lang="zh-TW" sz="1800" u="none" cap="none" strike="noStrike">
                <a:solidFill>
                  <a:srgbClr val="000000"/>
                </a:solidFill>
                <a:latin typeface="Arial"/>
                <a:ea typeface="Arial"/>
                <a:cs typeface="Arial"/>
                <a:sym typeface="Arial"/>
              </a:rPr>
              <a:t>50</a:t>
            </a:r>
            <a:r>
              <a:rPr b="0" i="0" lang="zh-TW" sz="1800" u="none" cap="none" strike="noStrike">
                <a:solidFill>
                  <a:srgbClr val="000000"/>
                </a:solidFill>
                <a:latin typeface="Microsoft JhengHei"/>
                <a:ea typeface="Microsoft JhengHei"/>
                <a:cs typeface="Microsoft JhengHei"/>
                <a:sym typeface="Microsoft JhengHei"/>
              </a:rPr>
              <a:t>分鐘休息</a:t>
            </a:r>
            <a:r>
              <a:rPr b="0" i="0" lang="zh-TW" sz="1800" u="none" cap="none" strike="noStrike">
                <a:solidFill>
                  <a:srgbClr val="000000"/>
                </a:solidFill>
                <a:latin typeface="Arial"/>
                <a:ea typeface="Arial"/>
                <a:cs typeface="Arial"/>
                <a:sym typeface="Arial"/>
              </a:rPr>
              <a:t>10</a:t>
            </a:r>
            <a:r>
              <a:rPr b="0" i="0" lang="zh-TW" sz="1800" u="none" cap="none" strike="noStrike">
                <a:solidFill>
                  <a:srgbClr val="000000"/>
                </a:solidFill>
                <a:latin typeface="Microsoft JhengHei"/>
                <a:ea typeface="Microsoft JhengHei"/>
                <a:cs typeface="Microsoft JhengHei"/>
                <a:sym typeface="Microsoft JhengHei"/>
              </a:rPr>
              <a:t>分鐘，</a:t>
            </a:r>
            <a:r>
              <a:rPr b="0" i="0" lang="zh-TW" sz="1800" u="none" cap="none" strike="noStrike">
                <a:solidFill>
                  <a:srgbClr val="C00000"/>
                </a:solidFill>
                <a:latin typeface="Microsoft JhengHei"/>
                <a:ea typeface="Microsoft JhengHei"/>
                <a:cs typeface="Microsoft JhengHei"/>
                <a:sym typeface="Microsoft JhengHei"/>
              </a:rPr>
              <a:t>讓各位</a:t>
            </a:r>
            <a:r>
              <a:rPr b="0" i="0" lang="zh-TW" sz="1800" u="none" cap="none" strike="noStrike">
                <a:solidFill>
                  <a:srgbClr val="C00000"/>
                </a:solidFill>
                <a:latin typeface="Arial"/>
                <a:ea typeface="Arial"/>
                <a:cs typeface="Arial"/>
                <a:sym typeface="Arial"/>
              </a:rPr>
              <a:t>intake / output</a:t>
            </a:r>
            <a:endParaRPr b="0" i="0" sz="1100" u="none" cap="none" strike="noStrike">
              <a:solidFill>
                <a:srgbClr val="000000"/>
              </a:solidFill>
              <a:latin typeface="Arial"/>
              <a:ea typeface="Arial"/>
              <a:cs typeface="Arial"/>
              <a:sym typeface="Arial"/>
            </a:endParaRPr>
          </a:p>
          <a:p>
            <a:pPr indent="-342900" lvl="1" marL="800100" marR="0" rtl="0" algn="l">
              <a:lnSpc>
                <a:spcPct val="150000"/>
              </a:lnSpc>
              <a:spcBef>
                <a:spcPts val="0"/>
              </a:spcBef>
              <a:spcAft>
                <a:spcPts val="0"/>
              </a:spcAft>
              <a:buClr>
                <a:srgbClr val="000000"/>
              </a:buClr>
              <a:buSzPts val="2400"/>
              <a:buFont typeface="Noto Sans Symbols"/>
              <a:buChar char="✔"/>
            </a:pPr>
            <a:r>
              <a:rPr b="0" i="0" lang="zh-TW" sz="1800" u="none" cap="none" strike="noStrike">
                <a:solidFill>
                  <a:srgbClr val="000000"/>
                </a:solidFill>
                <a:latin typeface="Microsoft JhengHei"/>
                <a:ea typeface="Microsoft JhengHei"/>
                <a:cs typeface="Microsoft JhengHei"/>
                <a:sym typeface="Microsoft JhengHei"/>
              </a:rPr>
              <a:t>過程當中</a:t>
            </a:r>
            <a:r>
              <a:rPr b="0" i="0" lang="zh-TW" sz="1800" u="none" cap="none" strike="noStrike">
                <a:solidFill>
                  <a:srgbClr val="C00000"/>
                </a:solidFill>
                <a:latin typeface="Microsoft JhengHei"/>
                <a:ea typeface="Microsoft JhengHei"/>
                <a:cs typeface="Microsoft JhengHei"/>
                <a:sym typeface="Microsoft JhengHei"/>
              </a:rPr>
              <a:t>隨時可以打斷我</a:t>
            </a:r>
            <a:r>
              <a:rPr b="0" i="0" lang="zh-TW" sz="1800" u="none" cap="none" strike="noStrike">
                <a:solidFill>
                  <a:srgbClr val="000000"/>
                </a:solidFill>
                <a:latin typeface="Microsoft JhengHei"/>
                <a:ea typeface="Microsoft JhengHei"/>
                <a:cs typeface="Microsoft JhengHei"/>
                <a:sym typeface="Microsoft JhengHei"/>
              </a:rPr>
              <a:t>，問題留給我，收穫你帶走</a:t>
            </a:r>
            <a:endParaRPr b="0" i="0" sz="11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rgbClr val="000000"/>
              </a:buClr>
              <a:buSzPts val="2400"/>
              <a:buFont typeface="Arial"/>
              <a:buChar char="•"/>
            </a:pPr>
            <a:r>
              <a:rPr b="0" i="0" lang="zh-TW" sz="1800" u="none" cap="none" strike="noStrike">
                <a:solidFill>
                  <a:srgbClr val="000000"/>
                </a:solidFill>
                <a:latin typeface="Microsoft JhengHei"/>
                <a:ea typeface="Microsoft JhengHei"/>
                <a:cs typeface="Microsoft JhengHei"/>
                <a:sym typeface="Microsoft JhengHei"/>
              </a:rPr>
              <a:t>兩個不可以</a:t>
            </a:r>
            <a:endParaRPr b="0" i="0" sz="1100" u="none" cap="none" strike="noStrike">
              <a:solidFill>
                <a:srgbClr val="000000"/>
              </a:solidFill>
              <a:latin typeface="Arial"/>
              <a:ea typeface="Arial"/>
              <a:cs typeface="Arial"/>
              <a:sym typeface="Arial"/>
            </a:endParaRPr>
          </a:p>
          <a:p>
            <a:pPr indent="-342900" lvl="1" marL="800100" marR="0" rtl="0" algn="l">
              <a:lnSpc>
                <a:spcPct val="150000"/>
              </a:lnSpc>
              <a:spcBef>
                <a:spcPts val="0"/>
              </a:spcBef>
              <a:spcAft>
                <a:spcPts val="0"/>
              </a:spcAft>
              <a:buClr>
                <a:srgbClr val="000000"/>
              </a:buClr>
              <a:buSzPts val="2400"/>
              <a:buFont typeface="Noto Sans Symbols"/>
              <a:buChar char="✔"/>
            </a:pPr>
            <a:r>
              <a:rPr b="0" i="0" lang="zh-TW" sz="1800" u="none" cap="none" strike="noStrike">
                <a:solidFill>
                  <a:srgbClr val="000000"/>
                </a:solidFill>
                <a:latin typeface="Microsoft JhengHei"/>
                <a:ea typeface="Microsoft JhengHei"/>
                <a:cs typeface="Microsoft JhengHei"/>
                <a:sym typeface="Microsoft JhengHei"/>
              </a:rPr>
              <a:t>課程練習資料為模擬資料檔，</a:t>
            </a:r>
            <a:r>
              <a:rPr b="0" i="0" lang="zh-TW" sz="1800" u="none" cap="none" strike="noStrike">
                <a:solidFill>
                  <a:srgbClr val="C00000"/>
                </a:solidFill>
                <a:latin typeface="Microsoft JhengHei"/>
                <a:ea typeface="Microsoft JhengHei"/>
                <a:cs typeface="Microsoft JhengHei"/>
                <a:sym typeface="Microsoft JhengHei"/>
              </a:rPr>
              <a:t>不可以直接用於實際研究用途</a:t>
            </a:r>
            <a:endParaRPr b="0" i="0" sz="1100" u="none" cap="none" strike="noStrike">
              <a:solidFill>
                <a:srgbClr val="000000"/>
              </a:solidFill>
              <a:latin typeface="Arial"/>
              <a:ea typeface="Arial"/>
              <a:cs typeface="Arial"/>
              <a:sym typeface="Arial"/>
            </a:endParaRPr>
          </a:p>
          <a:p>
            <a:pPr indent="-342900" lvl="1" marL="800100" marR="0" rtl="0" algn="l">
              <a:lnSpc>
                <a:spcPct val="150000"/>
              </a:lnSpc>
              <a:spcBef>
                <a:spcPts val="0"/>
              </a:spcBef>
              <a:spcAft>
                <a:spcPts val="0"/>
              </a:spcAft>
              <a:buClr>
                <a:srgbClr val="000000"/>
              </a:buClr>
              <a:buSzPts val="2400"/>
              <a:buFont typeface="Noto Sans Symbols"/>
              <a:buChar char="✔"/>
            </a:pPr>
            <a:r>
              <a:rPr b="0" i="0" lang="zh-TW" sz="1800" u="none" cap="none" strike="noStrike">
                <a:solidFill>
                  <a:srgbClr val="000000"/>
                </a:solidFill>
                <a:latin typeface="Microsoft JhengHei"/>
                <a:ea typeface="Microsoft JhengHei"/>
                <a:cs typeface="Microsoft JhengHei"/>
                <a:sym typeface="Microsoft JhengHei"/>
              </a:rPr>
              <a:t>操作定義僅供教學演練使用，</a:t>
            </a:r>
            <a:r>
              <a:rPr b="0" i="0" lang="zh-TW" sz="1800" u="none" cap="none" strike="noStrike">
                <a:solidFill>
                  <a:srgbClr val="C00000"/>
                </a:solidFill>
                <a:latin typeface="Microsoft JhengHei"/>
                <a:ea typeface="Microsoft JhengHei"/>
                <a:cs typeface="Microsoft JhengHei"/>
                <a:sym typeface="Microsoft JhengHei"/>
              </a:rPr>
              <a:t>不可以直接用於實際研究用途</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type="title"/>
          </p:nvPr>
        </p:nvSpPr>
        <p:spPr>
          <a:xfrm>
            <a:off x="373115" y="334371"/>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latin typeface="Times New Roman"/>
                <a:ea typeface="Times New Roman"/>
                <a:cs typeface="Times New Roman"/>
                <a:sym typeface="Times New Roman"/>
              </a:rPr>
              <a:t>課程大綱</a:t>
            </a:r>
            <a:endParaRPr>
              <a:latin typeface="Times New Roman"/>
              <a:ea typeface="Times New Roman"/>
              <a:cs typeface="Times New Roman"/>
              <a:sym typeface="Times New Roman"/>
            </a:endParaRPr>
          </a:p>
        </p:txBody>
      </p:sp>
      <p:sp>
        <p:nvSpPr>
          <p:cNvPr id="150" name="Google Shape;150;p3"/>
          <p:cNvSpPr/>
          <p:nvPr/>
        </p:nvSpPr>
        <p:spPr>
          <a:xfrm>
            <a:off x="461825" y="907071"/>
            <a:ext cx="7683690" cy="3893374"/>
          </a:xfrm>
          <a:prstGeom prst="rect">
            <a:avLst/>
          </a:prstGeom>
          <a:noFill/>
          <a:ln>
            <a:noFill/>
          </a:ln>
        </p:spPr>
        <p:txBody>
          <a:bodyPr anchorCtr="0" anchor="t" bIns="45700" lIns="91425" spcFirstLastPara="1" rIns="91425" wrap="square" tIns="45700">
            <a:spAutoFit/>
          </a:bodyPr>
          <a:lstStyle/>
          <a:p>
            <a:pPr indent="-285750" lvl="0" marL="298450" marR="5080" rtl="0" algn="l">
              <a:lnSpc>
                <a:spcPct val="100000"/>
              </a:lnSpc>
              <a:spcBef>
                <a:spcPts val="0"/>
              </a:spcBef>
              <a:spcAft>
                <a:spcPts val="0"/>
              </a:spcAft>
              <a:buClr>
                <a:srgbClr val="404040"/>
              </a:buClr>
              <a:buSzPts val="2400"/>
              <a:buFont typeface="Arial"/>
              <a:buChar char="•"/>
            </a:pPr>
            <a:r>
              <a:rPr b="0" i="0" lang="zh-TW" sz="1600" u="none" cap="none" strike="noStrike">
                <a:solidFill>
                  <a:srgbClr val="404040"/>
                </a:solidFill>
                <a:latin typeface="Trebuchet MS"/>
                <a:ea typeface="Trebuchet MS"/>
                <a:cs typeface="Trebuchet MS"/>
                <a:sym typeface="Trebuchet MS"/>
              </a:rPr>
              <a:t>Python</a:t>
            </a:r>
            <a:r>
              <a:rPr b="0" i="0" lang="zh-TW" sz="1600" u="none" cap="none" strike="noStrike">
                <a:solidFill>
                  <a:srgbClr val="404040"/>
                </a:solidFill>
                <a:latin typeface="Arial"/>
                <a:ea typeface="Arial"/>
                <a:cs typeface="Arial"/>
                <a:sym typeface="Arial"/>
              </a:rPr>
              <a:t>介紹</a:t>
            </a:r>
            <a:endParaRPr b="0" i="0" sz="1600" u="none" cap="none" strike="noStrike">
              <a:solidFill>
                <a:srgbClr val="404040"/>
              </a:solidFill>
              <a:latin typeface="Arial"/>
              <a:ea typeface="Arial"/>
              <a:cs typeface="Arial"/>
              <a:sym typeface="Arial"/>
            </a:endParaRPr>
          </a:p>
          <a:p>
            <a:pPr indent="-285750" lvl="0" marL="298450" marR="5080" rtl="0" algn="l">
              <a:lnSpc>
                <a:spcPct val="100000"/>
              </a:lnSpc>
              <a:spcBef>
                <a:spcPts val="600"/>
              </a:spcBef>
              <a:spcAft>
                <a:spcPts val="0"/>
              </a:spcAft>
              <a:buClr>
                <a:srgbClr val="404040"/>
              </a:buClr>
              <a:buSzPts val="2400"/>
              <a:buFont typeface="Arial"/>
              <a:buChar char="•"/>
            </a:pPr>
            <a:r>
              <a:rPr b="0" i="0" lang="zh-TW" sz="1600" u="none" cap="none" strike="noStrike">
                <a:solidFill>
                  <a:srgbClr val="404040"/>
                </a:solidFill>
                <a:latin typeface="Arial"/>
                <a:ea typeface="Arial"/>
                <a:cs typeface="Arial"/>
                <a:sym typeface="Arial"/>
              </a:rPr>
              <a:t>使用環境說明</a:t>
            </a:r>
            <a:endParaRPr/>
          </a:p>
          <a:p>
            <a:pPr indent="-285750" lvl="0" marL="298450" marR="5080" rtl="0" algn="l">
              <a:lnSpc>
                <a:spcPct val="100000"/>
              </a:lnSpc>
              <a:spcBef>
                <a:spcPts val="600"/>
              </a:spcBef>
              <a:spcAft>
                <a:spcPts val="0"/>
              </a:spcAft>
              <a:buClr>
                <a:srgbClr val="000000"/>
              </a:buClr>
              <a:buSzPts val="2400"/>
              <a:buFont typeface="Arial"/>
              <a:buChar char="•"/>
            </a:pPr>
            <a:r>
              <a:rPr b="0" i="0" lang="zh-TW" sz="1600" u="none" cap="none" strike="noStrike">
                <a:solidFill>
                  <a:srgbClr val="000000"/>
                </a:solidFill>
                <a:latin typeface="Arial"/>
                <a:ea typeface="Arial"/>
                <a:cs typeface="Arial"/>
                <a:sym typeface="Arial"/>
              </a:rPr>
              <a:t>Python基礎運算—Python運算元與運算子及進階語法學習</a:t>
            </a:r>
            <a:endParaRPr/>
          </a:p>
          <a:p>
            <a:pPr indent="-285750" lvl="0" marL="755650" marR="5080" rtl="0" algn="l">
              <a:lnSpc>
                <a:spcPct val="100000"/>
              </a:lnSpc>
              <a:spcBef>
                <a:spcPts val="600"/>
              </a:spcBef>
              <a:spcAft>
                <a:spcPts val="0"/>
              </a:spcAft>
              <a:buClr>
                <a:srgbClr val="000000"/>
              </a:buClr>
              <a:buSzPts val="2400"/>
              <a:buFont typeface="Noto Sans Symbols"/>
              <a:buChar char="✔"/>
            </a:pPr>
            <a:r>
              <a:rPr b="0" i="0" lang="zh-TW" sz="1600" u="none" cap="none" strike="noStrike">
                <a:solidFill>
                  <a:srgbClr val="000000"/>
                </a:solidFill>
                <a:latin typeface="Arial"/>
                <a:ea typeface="Arial"/>
                <a:cs typeface="Arial"/>
                <a:sym typeface="Arial"/>
              </a:rPr>
              <a:t>Python 基礎介紹與資料結構</a:t>
            </a:r>
            <a:endParaRPr/>
          </a:p>
          <a:p>
            <a:pPr indent="-285750" lvl="1" marL="755650" marR="5080" rtl="0" algn="l">
              <a:lnSpc>
                <a:spcPct val="100000"/>
              </a:lnSpc>
              <a:spcBef>
                <a:spcPts val="600"/>
              </a:spcBef>
              <a:spcAft>
                <a:spcPts val="0"/>
              </a:spcAft>
              <a:buClr>
                <a:srgbClr val="000000"/>
              </a:buClr>
              <a:buSzPts val="2400"/>
              <a:buFont typeface="Noto Sans Symbols"/>
              <a:buChar char="✔"/>
            </a:pPr>
            <a:r>
              <a:rPr b="0" i="0" lang="zh-TW" sz="1600" u="none" cap="none" strike="noStrike">
                <a:solidFill>
                  <a:srgbClr val="000000"/>
                </a:solidFill>
                <a:latin typeface="Arial"/>
                <a:ea typeface="Arial"/>
                <a:cs typeface="Arial"/>
                <a:sym typeface="Arial"/>
              </a:rPr>
              <a:t>Pandas基礎與進階語法</a:t>
            </a:r>
            <a:endParaRPr/>
          </a:p>
          <a:p>
            <a:pPr indent="-285750" lvl="1" marL="755650" marR="5080" rtl="0" algn="l">
              <a:lnSpc>
                <a:spcPct val="100000"/>
              </a:lnSpc>
              <a:spcBef>
                <a:spcPts val="600"/>
              </a:spcBef>
              <a:spcAft>
                <a:spcPts val="0"/>
              </a:spcAft>
              <a:buClr>
                <a:srgbClr val="000000"/>
              </a:buClr>
              <a:buSzPts val="2400"/>
              <a:buFont typeface="Noto Sans Symbols"/>
              <a:buChar char="✔"/>
            </a:pPr>
            <a:r>
              <a:rPr b="0" i="0" lang="zh-TW" sz="1600" u="none" cap="none" strike="noStrike">
                <a:solidFill>
                  <a:srgbClr val="000000"/>
                </a:solidFill>
                <a:latin typeface="Arial"/>
                <a:ea typeface="Arial"/>
                <a:cs typeface="Arial"/>
                <a:sym typeface="Arial"/>
              </a:rPr>
              <a:t>Numpy 基礎語法</a:t>
            </a:r>
            <a:endParaRPr/>
          </a:p>
          <a:p>
            <a:pPr indent="-285750" lvl="0" marL="298450" marR="5080" rtl="0" algn="l">
              <a:lnSpc>
                <a:spcPct val="100000"/>
              </a:lnSpc>
              <a:spcBef>
                <a:spcPts val="600"/>
              </a:spcBef>
              <a:spcAft>
                <a:spcPts val="0"/>
              </a:spcAft>
              <a:buClr>
                <a:srgbClr val="000000"/>
              </a:buClr>
              <a:buSzPts val="2400"/>
              <a:buFont typeface="Arial"/>
              <a:buChar char="•"/>
            </a:pPr>
            <a:r>
              <a:rPr b="0" i="0" lang="zh-TW" sz="1600" u="none" cap="none" strike="noStrike">
                <a:solidFill>
                  <a:srgbClr val="000000"/>
                </a:solidFill>
                <a:latin typeface="Arial"/>
                <a:ea typeface="Arial"/>
                <a:cs typeface="Arial"/>
                <a:sym typeface="Arial"/>
              </a:rPr>
              <a:t>Python 控制邏輯</a:t>
            </a:r>
            <a:endParaRPr/>
          </a:p>
          <a:p>
            <a:pPr indent="-285750" lvl="1" marL="755650" marR="5080" rtl="0" algn="l">
              <a:lnSpc>
                <a:spcPct val="100000"/>
              </a:lnSpc>
              <a:spcBef>
                <a:spcPts val="600"/>
              </a:spcBef>
              <a:spcAft>
                <a:spcPts val="0"/>
              </a:spcAft>
              <a:buClr>
                <a:srgbClr val="000000"/>
              </a:buClr>
              <a:buSzPts val="2400"/>
              <a:buFont typeface="Noto Sans Symbols"/>
              <a:buChar char="✔"/>
            </a:pPr>
            <a:r>
              <a:rPr b="0" i="0" lang="zh-TW" sz="1600" u="none" cap="none" strike="noStrike">
                <a:solidFill>
                  <a:srgbClr val="000000"/>
                </a:solidFill>
                <a:latin typeface="Arial"/>
                <a:ea typeface="Arial"/>
                <a:cs typeface="Arial"/>
                <a:sym typeface="Arial"/>
              </a:rPr>
              <a:t>使用if/else與迴圈控制</a:t>
            </a:r>
            <a:endParaRPr/>
          </a:p>
          <a:p>
            <a:pPr indent="-285750" lvl="0" marL="298450" marR="5080" rtl="0" algn="l">
              <a:lnSpc>
                <a:spcPct val="100000"/>
              </a:lnSpc>
              <a:spcBef>
                <a:spcPts val="600"/>
              </a:spcBef>
              <a:spcAft>
                <a:spcPts val="0"/>
              </a:spcAft>
              <a:buClr>
                <a:srgbClr val="000000"/>
              </a:buClr>
              <a:buSzPts val="2400"/>
              <a:buFont typeface="Arial"/>
              <a:buChar char="•"/>
            </a:pPr>
            <a:r>
              <a:rPr b="0" i="0" lang="zh-TW" sz="1600" u="none" cap="none" strike="noStrike">
                <a:solidFill>
                  <a:srgbClr val="000000"/>
                </a:solidFill>
                <a:latin typeface="Arial"/>
                <a:ea typeface="Arial"/>
                <a:cs typeface="Arial"/>
                <a:sym typeface="Arial"/>
              </a:rPr>
              <a:t>Python 邏輯封裝</a:t>
            </a:r>
            <a:endParaRPr/>
          </a:p>
          <a:p>
            <a:pPr indent="-285750" lvl="1" marL="755650" marR="5080" rtl="0" algn="l">
              <a:lnSpc>
                <a:spcPct val="100000"/>
              </a:lnSpc>
              <a:spcBef>
                <a:spcPts val="600"/>
              </a:spcBef>
              <a:spcAft>
                <a:spcPts val="0"/>
              </a:spcAft>
              <a:buClr>
                <a:srgbClr val="000000"/>
              </a:buClr>
              <a:buSzPts val="2400"/>
              <a:buFont typeface="Noto Sans Symbols"/>
              <a:buChar char="✔"/>
            </a:pPr>
            <a:r>
              <a:rPr b="0" i="0" lang="zh-TW" sz="1600" u="none" cap="none" strike="noStrike">
                <a:solidFill>
                  <a:srgbClr val="000000"/>
                </a:solidFill>
                <a:latin typeface="Arial"/>
                <a:ea typeface="Arial"/>
                <a:cs typeface="Arial"/>
                <a:sym typeface="Arial"/>
              </a:rPr>
              <a:t>使用Function及物件導向客製特定邏輯封裝</a:t>
            </a:r>
            <a:endParaRPr/>
          </a:p>
          <a:p>
            <a:pPr indent="-285750" lvl="0" marL="298450" marR="5080" rtl="0" algn="l">
              <a:lnSpc>
                <a:spcPct val="100000"/>
              </a:lnSpc>
              <a:spcBef>
                <a:spcPts val="600"/>
              </a:spcBef>
              <a:spcAft>
                <a:spcPts val="0"/>
              </a:spcAft>
              <a:buClr>
                <a:srgbClr val="000000"/>
              </a:buClr>
              <a:buSzPts val="2400"/>
              <a:buFont typeface="Arial"/>
              <a:buChar char="•"/>
            </a:pPr>
            <a:r>
              <a:rPr b="0" i="0" lang="zh-TW" sz="1600" u="none" cap="none" strike="noStrike">
                <a:solidFill>
                  <a:srgbClr val="000000"/>
                </a:solidFill>
                <a:latin typeface="Arial"/>
                <a:ea typeface="Arial"/>
                <a:cs typeface="Arial"/>
                <a:sym typeface="Arial"/>
              </a:rPr>
              <a:t>資料前處理 </a:t>
            </a:r>
            <a:endParaRPr/>
          </a:p>
          <a:p>
            <a:pPr indent="-285750" lvl="0" marL="298450" marR="5080" rtl="0" algn="l">
              <a:lnSpc>
                <a:spcPct val="100000"/>
              </a:lnSpc>
              <a:spcBef>
                <a:spcPts val="600"/>
              </a:spcBef>
              <a:spcAft>
                <a:spcPts val="0"/>
              </a:spcAft>
              <a:buClr>
                <a:srgbClr val="000000"/>
              </a:buClr>
              <a:buSzPts val="2400"/>
              <a:buFont typeface="Arial"/>
              <a:buChar char="•"/>
            </a:pPr>
            <a:r>
              <a:rPr b="0" i="0" lang="zh-TW" sz="1600" u="none" cap="none" strike="noStrike">
                <a:solidFill>
                  <a:srgbClr val="000000"/>
                </a:solidFill>
                <a:latin typeface="Arial"/>
                <a:ea typeface="Arial"/>
                <a:cs typeface="Arial"/>
                <a:sym typeface="Arial"/>
              </a:rPr>
              <a:t>資料視覺化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4"/>
          <p:cNvSpPr txBox="1"/>
          <p:nvPr>
            <p:ph type="title"/>
          </p:nvPr>
        </p:nvSpPr>
        <p:spPr>
          <a:xfrm>
            <a:off x="311700" y="2107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如何使用python</a:t>
            </a:r>
            <a:endParaRPr/>
          </a:p>
        </p:txBody>
      </p:sp>
      <p:sp>
        <p:nvSpPr>
          <p:cNvPr id="156" name="Google Shape;156;p4"/>
          <p:cNvSpPr txBox="1"/>
          <p:nvPr>
            <p:ph idx="1" type="body"/>
          </p:nvPr>
        </p:nvSpPr>
        <p:spPr>
          <a:xfrm>
            <a:off x="311700" y="959925"/>
            <a:ext cx="1205100" cy="7068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1200"/>
              </a:spcAft>
              <a:buSzPct val="63063"/>
              <a:buNone/>
            </a:pPr>
            <a:r>
              <a:rPr lang="zh-TW" sz="2400"/>
              <a:t>雲端</a:t>
            </a:r>
            <a:endParaRPr/>
          </a:p>
        </p:txBody>
      </p:sp>
      <p:sp>
        <p:nvSpPr>
          <p:cNvPr id="157" name="Google Shape;157;p4"/>
          <p:cNvSpPr txBox="1"/>
          <p:nvPr>
            <p:ph idx="2" type="body"/>
          </p:nvPr>
        </p:nvSpPr>
        <p:spPr>
          <a:xfrm>
            <a:off x="4832400" y="863550"/>
            <a:ext cx="1043700" cy="5727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1200"/>
              </a:spcAft>
              <a:buSzPct val="90322"/>
              <a:buNone/>
            </a:pPr>
            <a:r>
              <a:rPr lang="zh-TW" sz="2000"/>
              <a:t>本機端</a:t>
            </a:r>
            <a:endParaRPr sz="2000"/>
          </a:p>
        </p:txBody>
      </p:sp>
      <p:pic>
        <p:nvPicPr>
          <p:cNvPr id="158" name="Google Shape;158;p4"/>
          <p:cNvPicPr preferRelativeResize="0"/>
          <p:nvPr/>
        </p:nvPicPr>
        <p:blipFill rotWithShape="1">
          <a:blip r:embed="rId3">
            <a:alphaModFix/>
          </a:blip>
          <a:srcRect b="0" l="0" r="0" t="0"/>
          <a:stretch/>
        </p:blipFill>
        <p:spPr>
          <a:xfrm>
            <a:off x="419950" y="1666725"/>
            <a:ext cx="1096850" cy="1096850"/>
          </a:xfrm>
          <a:prstGeom prst="rect">
            <a:avLst/>
          </a:prstGeom>
          <a:noFill/>
          <a:ln>
            <a:noFill/>
          </a:ln>
        </p:spPr>
      </p:pic>
      <p:sp>
        <p:nvSpPr>
          <p:cNvPr id="159" name="Google Shape;159;p4"/>
          <p:cNvSpPr txBox="1"/>
          <p:nvPr/>
        </p:nvSpPr>
        <p:spPr>
          <a:xfrm>
            <a:off x="1634100" y="1829200"/>
            <a:ext cx="1043700" cy="77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chemeClr val="accent3"/>
                </a:solidFill>
                <a:latin typeface="Proxima Nova"/>
                <a:ea typeface="Proxima Nova"/>
                <a:cs typeface="Proxima Nova"/>
                <a:sym typeface="Proxima Nova"/>
              </a:rPr>
              <a:t>google cloab</a:t>
            </a:r>
            <a:endParaRPr b="0" i="0" sz="2100" u="none" cap="none" strike="noStrike">
              <a:solidFill>
                <a:schemeClr val="accent3"/>
              </a:solidFill>
              <a:latin typeface="Proxima Nova"/>
              <a:ea typeface="Proxima Nova"/>
              <a:cs typeface="Proxima Nova"/>
              <a:sym typeface="Proxima Nova"/>
            </a:endParaRPr>
          </a:p>
        </p:txBody>
      </p:sp>
      <p:pic>
        <p:nvPicPr>
          <p:cNvPr id="160" name="Google Shape;160;p4"/>
          <p:cNvPicPr preferRelativeResize="0"/>
          <p:nvPr/>
        </p:nvPicPr>
        <p:blipFill rotWithShape="1">
          <a:blip r:embed="rId4">
            <a:alphaModFix/>
          </a:blip>
          <a:srcRect b="0" l="0" r="0" t="0"/>
          <a:stretch/>
        </p:blipFill>
        <p:spPr>
          <a:xfrm>
            <a:off x="5320723" y="1345020"/>
            <a:ext cx="775350" cy="771900"/>
          </a:xfrm>
          <a:prstGeom prst="rect">
            <a:avLst/>
          </a:prstGeom>
          <a:noFill/>
          <a:ln>
            <a:noFill/>
          </a:ln>
        </p:spPr>
      </p:pic>
      <p:pic>
        <p:nvPicPr>
          <p:cNvPr id="161" name="Google Shape;161;p4"/>
          <p:cNvPicPr preferRelativeResize="0"/>
          <p:nvPr/>
        </p:nvPicPr>
        <p:blipFill rotWithShape="1">
          <a:blip r:embed="rId5">
            <a:alphaModFix/>
          </a:blip>
          <a:srcRect b="0" l="0" r="0" t="0"/>
          <a:stretch/>
        </p:blipFill>
        <p:spPr>
          <a:xfrm>
            <a:off x="5355001" y="2412950"/>
            <a:ext cx="706800" cy="706800"/>
          </a:xfrm>
          <a:prstGeom prst="rect">
            <a:avLst/>
          </a:prstGeom>
          <a:noFill/>
          <a:ln>
            <a:noFill/>
          </a:ln>
        </p:spPr>
      </p:pic>
      <p:sp>
        <p:nvSpPr>
          <p:cNvPr id="162" name="Google Shape;162;p4"/>
          <p:cNvSpPr txBox="1"/>
          <p:nvPr/>
        </p:nvSpPr>
        <p:spPr>
          <a:xfrm>
            <a:off x="6096075" y="1448275"/>
            <a:ext cx="1096800" cy="49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chemeClr val="accent3"/>
                </a:solidFill>
                <a:latin typeface="Proxima Nova"/>
                <a:ea typeface="Proxima Nova"/>
                <a:cs typeface="Proxima Nova"/>
                <a:sym typeface="Proxima Nova"/>
              </a:rPr>
              <a:t>spyder</a:t>
            </a:r>
            <a:endParaRPr b="0" i="0" sz="2100" u="none" cap="none" strike="noStrike">
              <a:solidFill>
                <a:schemeClr val="accent3"/>
              </a:solidFill>
              <a:latin typeface="Proxima Nova"/>
              <a:ea typeface="Proxima Nova"/>
              <a:cs typeface="Proxima Nova"/>
              <a:sym typeface="Proxima Nova"/>
            </a:endParaRPr>
          </a:p>
        </p:txBody>
      </p:sp>
      <p:sp>
        <p:nvSpPr>
          <p:cNvPr id="163" name="Google Shape;163;p4"/>
          <p:cNvSpPr txBox="1"/>
          <p:nvPr/>
        </p:nvSpPr>
        <p:spPr>
          <a:xfrm>
            <a:off x="6188125" y="2520350"/>
            <a:ext cx="1388100" cy="49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chemeClr val="accent3"/>
                </a:solidFill>
                <a:latin typeface="Proxima Nova"/>
                <a:ea typeface="Proxima Nova"/>
                <a:cs typeface="Proxima Nova"/>
                <a:sym typeface="Proxima Nova"/>
              </a:rPr>
              <a:t>pycharm</a:t>
            </a:r>
            <a:endParaRPr b="0" i="0" sz="2100" u="none" cap="none" strike="noStrike">
              <a:solidFill>
                <a:schemeClr val="accent3"/>
              </a:solidFill>
              <a:latin typeface="Proxima Nova"/>
              <a:ea typeface="Proxima Nova"/>
              <a:cs typeface="Proxima Nova"/>
              <a:sym typeface="Proxima Nova"/>
            </a:endParaRPr>
          </a:p>
        </p:txBody>
      </p:sp>
      <p:pic>
        <p:nvPicPr>
          <p:cNvPr id="164" name="Google Shape;164;p4"/>
          <p:cNvPicPr preferRelativeResize="0"/>
          <p:nvPr/>
        </p:nvPicPr>
        <p:blipFill rotWithShape="1">
          <a:blip r:embed="rId6">
            <a:alphaModFix/>
          </a:blip>
          <a:srcRect b="0" l="0" r="0" t="0"/>
          <a:stretch/>
        </p:blipFill>
        <p:spPr>
          <a:xfrm>
            <a:off x="4935325" y="3227625"/>
            <a:ext cx="1558525" cy="1148700"/>
          </a:xfrm>
          <a:prstGeom prst="rect">
            <a:avLst/>
          </a:prstGeom>
          <a:noFill/>
          <a:ln>
            <a:noFill/>
          </a:ln>
        </p:spPr>
      </p:pic>
      <p:sp>
        <p:nvSpPr>
          <p:cNvPr id="165" name="Google Shape;165;p4"/>
          <p:cNvSpPr txBox="1"/>
          <p:nvPr/>
        </p:nvSpPr>
        <p:spPr>
          <a:xfrm>
            <a:off x="6234050" y="3503375"/>
            <a:ext cx="2332500" cy="492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chemeClr val="accent3"/>
                </a:solidFill>
                <a:latin typeface="Proxima Nova"/>
                <a:ea typeface="Proxima Nova"/>
                <a:cs typeface="Proxima Nova"/>
                <a:sym typeface="Proxima Nova"/>
              </a:rPr>
              <a:t>visual studio code</a:t>
            </a:r>
            <a:endParaRPr b="0" i="0" sz="2100" u="none" cap="none" strike="noStrike">
              <a:solidFill>
                <a:schemeClr val="accent3"/>
              </a:solidFill>
              <a:latin typeface="Proxima Nova"/>
              <a:ea typeface="Proxima Nova"/>
              <a:cs typeface="Proxima Nova"/>
              <a:sym typeface="Proxima Nova"/>
            </a:endParaRPr>
          </a:p>
        </p:txBody>
      </p:sp>
      <p:pic>
        <p:nvPicPr>
          <p:cNvPr id="166" name="Google Shape;166;p4"/>
          <p:cNvPicPr preferRelativeResize="0"/>
          <p:nvPr/>
        </p:nvPicPr>
        <p:blipFill rotWithShape="1">
          <a:blip r:embed="rId7">
            <a:alphaModFix/>
          </a:blip>
          <a:srcRect b="36527" l="0" r="0" t="31828"/>
          <a:stretch/>
        </p:blipFill>
        <p:spPr>
          <a:xfrm>
            <a:off x="503400" y="3119750"/>
            <a:ext cx="2533650" cy="572700"/>
          </a:xfrm>
          <a:prstGeom prst="rect">
            <a:avLst/>
          </a:prstGeom>
          <a:noFill/>
          <a:ln>
            <a:noFill/>
          </a:ln>
        </p:spPr>
      </p:pic>
      <p:sp>
        <p:nvSpPr>
          <p:cNvPr id="167" name="Google Shape;167;p4"/>
          <p:cNvSpPr/>
          <p:nvPr/>
        </p:nvSpPr>
        <p:spPr>
          <a:xfrm>
            <a:off x="388150" y="1628375"/>
            <a:ext cx="2533800" cy="1214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311700" y="114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開啟colab</a:t>
            </a:r>
            <a:endParaRPr/>
          </a:p>
        </p:txBody>
      </p:sp>
      <p:sp>
        <p:nvSpPr>
          <p:cNvPr id="173" name="Google Shape;173;p5"/>
          <p:cNvSpPr txBox="1"/>
          <p:nvPr/>
        </p:nvSpPr>
        <p:spPr>
          <a:xfrm>
            <a:off x="401075" y="687463"/>
            <a:ext cx="613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accent3"/>
                </a:solidFill>
                <a:latin typeface="Proxima Nova"/>
                <a:ea typeface="Proxima Nova"/>
                <a:cs typeface="Proxima Nova"/>
                <a:sym typeface="Proxima Nova"/>
              </a:rPr>
              <a:t>方法1 直接搜尋colab</a:t>
            </a:r>
            <a:endParaRPr b="1" i="0" sz="1800" u="none" cap="none" strike="noStrike">
              <a:solidFill>
                <a:schemeClr val="accent3"/>
              </a:solidFill>
              <a:latin typeface="Proxima Nova"/>
              <a:ea typeface="Proxima Nova"/>
              <a:cs typeface="Proxima Nova"/>
              <a:sym typeface="Proxima Nova"/>
            </a:endParaRPr>
          </a:p>
        </p:txBody>
      </p:sp>
      <p:sp>
        <p:nvSpPr>
          <p:cNvPr id="174" name="Google Shape;174;p5"/>
          <p:cNvSpPr txBox="1"/>
          <p:nvPr/>
        </p:nvSpPr>
        <p:spPr>
          <a:xfrm>
            <a:off x="401063" y="2970063"/>
            <a:ext cx="613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accent3"/>
                </a:solidFill>
                <a:latin typeface="Proxima Nova"/>
                <a:ea typeface="Proxima Nova"/>
                <a:cs typeface="Proxima Nova"/>
                <a:sym typeface="Proxima Nova"/>
              </a:rPr>
              <a:t>方法2從google雲端硬碟進入</a:t>
            </a:r>
            <a:endParaRPr b="1" i="0" sz="1800" u="none" cap="none" strike="noStrike">
              <a:solidFill>
                <a:schemeClr val="accent3"/>
              </a:solidFill>
              <a:latin typeface="Proxima Nova"/>
              <a:ea typeface="Proxima Nova"/>
              <a:cs typeface="Proxima Nova"/>
              <a:sym typeface="Proxima Nova"/>
            </a:endParaRPr>
          </a:p>
        </p:txBody>
      </p:sp>
      <p:pic>
        <p:nvPicPr>
          <p:cNvPr id="175" name="Google Shape;175;p5"/>
          <p:cNvPicPr preferRelativeResize="0"/>
          <p:nvPr/>
        </p:nvPicPr>
        <p:blipFill rotWithShape="1">
          <a:blip r:embed="rId3">
            <a:alphaModFix/>
          </a:blip>
          <a:srcRect b="0" l="0" r="0" t="0"/>
          <a:stretch/>
        </p:blipFill>
        <p:spPr>
          <a:xfrm>
            <a:off x="556250" y="1093325"/>
            <a:ext cx="6337676" cy="1470900"/>
          </a:xfrm>
          <a:prstGeom prst="rect">
            <a:avLst/>
          </a:prstGeom>
          <a:noFill/>
          <a:ln>
            <a:noFill/>
          </a:ln>
        </p:spPr>
      </p:pic>
      <p:sp>
        <p:nvSpPr>
          <p:cNvPr id="176" name="Google Shape;176;p5"/>
          <p:cNvSpPr txBox="1"/>
          <p:nvPr/>
        </p:nvSpPr>
        <p:spPr>
          <a:xfrm>
            <a:off x="658181" y="2509950"/>
            <a:ext cx="623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colab連結:    https://colab.research.google.com/?hl=zh-tw</a:t>
            </a:r>
            <a:endParaRPr b="0" i="0" sz="1400" u="none" cap="none" strike="noStrike">
              <a:solidFill>
                <a:srgbClr val="000000"/>
              </a:solidFill>
              <a:latin typeface="Arial"/>
              <a:ea typeface="Arial"/>
              <a:cs typeface="Arial"/>
              <a:sym typeface="Arial"/>
            </a:endParaRPr>
          </a:p>
        </p:txBody>
      </p:sp>
      <p:sp>
        <p:nvSpPr>
          <p:cNvPr id="177" name="Google Shape;177;p5"/>
          <p:cNvSpPr txBox="1"/>
          <p:nvPr/>
        </p:nvSpPr>
        <p:spPr>
          <a:xfrm>
            <a:off x="430200" y="3577125"/>
            <a:ext cx="4760100" cy="70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accent3"/>
                </a:solidFill>
                <a:latin typeface="Proxima Nova"/>
                <a:ea typeface="Proxima Nova"/>
                <a:cs typeface="Proxima Nova"/>
                <a:sym typeface="Proxima Nova"/>
              </a:rPr>
              <a:t>左上角新增→ 更多 → 連結更多應用程式→ 搜尋colab安裝</a:t>
            </a:r>
            <a:endParaRPr b="0" i="0" sz="1800" u="none" cap="none" strike="noStrike">
              <a:solidFill>
                <a:schemeClr val="accent3"/>
              </a:solidFill>
              <a:latin typeface="Proxima Nova"/>
              <a:ea typeface="Proxima Nova"/>
              <a:cs typeface="Proxima Nova"/>
              <a:sym typeface="Proxima Nova"/>
            </a:endParaRPr>
          </a:p>
        </p:txBody>
      </p:sp>
      <p:pic>
        <p:nvPicPr>
          <p:cNvPr id="178" name="Google Shape;178;p5"/>
          <p:cNvPicPr preferRelativeResize="0"/>
          <p:nvPr/>
        </p:nvPicPr>
        <p:blipFill rotWithShape="1">
          <a:blip r:embed="rId4">
            <a:alphaModFix/>
          </a:blip>
          <a:srcRect b="0" l="0" r="28678" t="0"/>
          <a:stretch/>
        </p:blipFill>
        <p:spPr>
          <a:xfrm>
            <a:off x="5190300" y="2840200"/>
            <a:ext cx="3642000" cy="22311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6"/>
          <p:cNvPicPr preferRelativeResize="0"/>
          <p:nvPr/>
        </p:nvPicPr>
        <p:blipFill rotWithShape="1">
          <a:blip r:embed="rId3">
            <a:alphaModFix/>
          </a:blip>
          <a:srcRect b="0" l="0" r="0" t="0"/>
          <a:stretch/>
        </p:blipFill>
        <p:spPr>
          <a:xfrm>
            <a:off x="698533" y="432486"/>
            <a:ext cx="8352791" cy="45351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pSp>
        <p:nvGrpSpPr>
          <p:cNvPr id="188" name="Google Shape;188;p7"/>
          <p:cNvGrpSpPr/>
          <p:nvPr/>
        </p:nvGrpSpPr>
        <p:grpSpPr>
          <a:xfrm>
            <a:off x="744177" y="617838"/>
            <a:ext cx="8245364" cy="4201298"/>
            <a:chOff x="992235" y="823784"/>
            <a:chExt cx="11529278" cy="5563162"/>
          </a:xfrm>
        </p:grpSpPr>
        <p:pic>
          <p:nvPicPr>
            <p:cNvPr id="189" name="Google Shape;189;p7"/>
            <p:cNvPicPr preferRelativeResize="0"/>
            <p:nvPr/>
          </p:nvPicPr>
          <p:blipFill rotWithShape="1">
            <a:blip r:embed="rId3">
              <a:alphaModFix/>
            </a:blip>
            <a:srcRect b="0" l="0" r="0" t="0"/>
            <a:stretch/>
          </p:blipFill>
          <p:spPr>
            <a:xfrm>
              <a:off x="992235" y="823784"/>
              <a:ext cx="11529278" cy="5563162"/>
            </a:xfrm>
            <a:prstGeom prst="rect">
              <a:avLst/>
            </a:prstGeom>
            <a:noFill/>
            <a:ln>
              <a:noFill/>
            </a:ln>
          </p:spPr>
        </p:pic>
        <p:sp>
          <p:nvSpPr>
            <p:cNvPr id="190" name="Google Shape;190;p7"/>
            <p:cNvSpPr/>
            <p:nvPr/>
          </p:nvSpPr>
          <p:spPr>
            <a:xfrm>
              <a:off x="1367481" y="1243914"/>
              <a:ext cx="1754660" cy="255372"/>
            </a:xfrm>
            <a:prstGeom prst="rect">
              <a:avLst/>
            </a:prstGeom>
            <a:noFill/>
            <a:ln cap="flat" cmpd="sng" w="34925">
              <a:solidFill>
                <a:srgbClr val="D13A55"/>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Libre Franklin"/>
                <a:ea typeface="Libre Franklin"/>
                <a:cs typeface="Libre Franklin"/>
                <a:sym typeface="Libre Franklin"/>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pSp>
        <p:nvGrpSpPr>
          <p:cNvPr id="195" name="Google Shape;195;p8"/>
          <p:cNvGrpSpPr/>
          <p:nvPr/>
        </p:nvGrpSpPr>
        <p:grpSpPr>
          <a:xfrm>
            <a:off x="698157" y="809368"/>
            <a:ext cx="8254313" cy="3953314"/>
            <a:chOff x="930875" y="1079157"/>
            <a:chExt cx="11005751" cy="5271085"/>
          </a:xfrm>
        </p:grpSpPr>
        <p:pic>
          <p:nvPicPr>
            <p:cNvPr id="196" name="Google Shape;196;p8"/>
            <p:cNvPicPr preferRelativeResize="0"/>
            <p:nvPr/>
          </p:nvPicPr>
          <p:blipFill rotWithShape="1">
            <a:blip r:embed="rId3">
              <a:alphaModFix/>
            </a:blip>
            <a:srcRect b="0" l="0" r="0" t="0"/>
            <a:stretch/>
          </p:blipFill>
          <p:spPr>
            <a:xfrm>
              <a:off x="930875" y="1079157"/>
              <a:ext cx="11005751" cy="5271085"/>
            </a:xfrm>
            <a:prstGeom prst="rect">
              <a:avLst/>
            </a:prstGeom>
            <a:noFill/>
            <a:ln>
              <a:noFill/>
            </a:ln>
          </p:spPr>
        </p:pic>
        <p:sp>
          <p:nvSpPr>
            <p:cNvPr id="197" name="Google Shape;197;p8"/>
            <p:cNvSpPr/>
            <p:nvPr/>
          </p:nvSpPr>
          <p:spPr>
            <a:xfrm>
              <a:off x="1219200" y="1079157"/>
              <a:ext cx="1425146" cy="271848"/>
            </a:xfrm>
            <a:prstGeom prst="rect">
              <a:avLst/>
            </a:prstGeom>
            <a:noFill/>
            <a:ln cap="flat" cmpd="sng" w="34925">
              <a:solidFill>
                <a:srgbClr val="D13A55"/>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None/>
              </a:pPr>
              <a:r>
                <a:t/>
              </a:r>
              <a:endParaRPr b="0" i="0" sz="1350" u="none" cap="none" strike="noStrike">
                <a:solidFill>
                  <a:schemeClr val="lt1"/>
                </a:solidFill>
                <a:latin typeface="Libre Franklin"/>
                <a:ea typeface="Libre Franklin"/>
                <a:cs typeface="Libre Franklin"/>
                <a:sym typeface="Libre Franklin"/>
              </a:endParaRPr>
            </a:p>
          </p:txBody>
        </p:sp>
        <p:cxnSp>
          <p:nvCxnSpPr>
            <p:cNvPr id="198" name="Google Shape;198;p8"/>
            <p:cNvCxnSpPr/>
            <p:nvPr/>
          </p:nvCxnSpPr>
          <p:spPr>
            <a:xfrm rot="10800000">
              <a:off x="2644346" y="1379837"/>
              <a:ext cx="1095632" cy="502507"/>
            </a:xfrm>
            <a:prstGeom prst="straightConnector1">
              <a:avLst/>
            </a:prstGeom>
            <a:noFill/>
            <a:ln cap="flat" cmpd="sng" w="19050">
              <a:solidFill>
                <a:srgbClr val="D13A55"/>
              </a:solidFill>
              <a:prstDash val="solid"/>
              <a:round/>
              <a:headEnd len="sm" w="sm" type="none"/>
              <a:tailEnd len="med" w="med" type="triangle"/>
            </a:ln>
          </p:spPr>
        </p:cxnSp>
        <p:sp>
          <p:nvSpPr>
            <p:cNvPr id="199" name="Google Shape;199;p8"/>
            <p:cNvSpPr/>
            <p:nvPr/>
          </p:nvSpPr>
          <p:spPr>
            <a:xfrm>
              <a:off x="3822357" y="1968843"/>
              <a:ext cx="1989438" cy="387179"/>
            </a:xfrm>
            <a:prstGeom prst="rect">
              <a:avLst/>
            </a:prstGeom>
            <a:solidFill>
              <a:schemeClr val="lt1"/>
            </a:solidFill>
            <a:ln cap="flat" cmpd="sng" w="34925">
              <a:solidFill>
                <a:srgbClr val="D13A55"/>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None/>
              </a:pPr>
              <a:r>
                <a:rPr b="0" i="0" lang="zh-TW" sz="1350" u="none" cap="none" strike="noStrike">
                  <a:solidFill>
                    <a:schemeClr val="dk1"/>
                  </a:solidFill>
                  <a:latin typeface="Libre Franklin"/>
                  <a:ea typeface="Libre Franklin"/>
                  <a:cs typeface="Libre Franklin"/>
                  <a:sym typeface="Libre Franklin"/>
                </a:rPr>
                <a:t>可重新檔案命名</a:t>
              </a:r>
              <a:endParaRPr b="0" i="0" sz="1350" u="none" cap="none" strike="noStrike">
                <a:solidFill>
                  <a:schemeClr val="dk1"/>
                </a:solidFill>
                <a:latin typeface="Libre Franklin"/>
                <a:ea typeface="Libre Franklin"/>
                <a:cs typeface="Libre Franklin"/>
                <a:sym typeface="Libre Franklin"/>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latin typeface="Times New Roman"/>
                <a:ea typeface="Times New Roman"/>
                <a:cs typeface="Times New Roman"/>
                <a:sym typeface="Times New Roman"/>
              </a:rPr>
              <a:t>繳交作業區</a:t>
            </a:r>
            <a:endParaRPr/>
          </a:p>
        </p:txBody>
      </p:sp>
      <p:sp>
        <p:nvSpPr>
          <p:cNvPr id="205" name="Google Shape;205;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zh-TW" u="sng">
                <a:solidFill>
                  <a:schemeClr val="dk1"/>
                </a:solidFill>
                <a:latin typeface="Microsoft JhengHei"/>
                <a:ea typeface="Microsoft JhengHei"/>
                <a:cs typeface="Microsoft JhengHei"/>
                <a:sym typeface="Microsoft JhengHei"/>
                <a:hlinkClick r:id="rId3">
                  <a:extLst>
                    <a:ext uri="{A12FA001-AC4F-418D-AE19-62706E023703}">
                      <ahyp:hlinkClr val="tx"/>
                    </a:ext>
                  </a:extLst>
                </a:hlinkClick>
              </a:rPr>
              <a:t>請繳交至  </a:t>
            </a:r>
            <a:r>
              <a:rPr lang="zh-TW" u="sng">
                <a:solidFill>
                  <a:schemeClr val="dk1"/>
                </a:solidFill>
                <a:hlinkClick r:id="rId4">
                  <a:extLst>
                    <a:ext uri="{A12FA001-AC4F-418D-AE19-62706E023703}">
                      <ahyp:hlinkClr val="tx"/>
                    </a:ext>
                  </a:extLst>
                </a:hlinkClick>
              </a:rPr>
              <a:t>kmuhaioffice@gmail.com</a:t>
            </a:r>
            <a:r>
              <a:rPr lang="zh-TW">
                <a:solidFill>
                  <a:schemeClr val="dk1"/>
                </a:solidFill>
              </a:rPr>
              <a:t>，檔名命名規則：職編+姓名</a:t>
            </a:r>
            <a:endParaRPr>
              <a:solidFill>
                <a:schemeClr val="dk1"/>
              </a:solidFill>
            </a:endParaRPr>
          </a:p>
          <a:p>
            <a:pPr indent="-228600" lvl="0" marL="457200" rtl="0" algn="l">
              <a:lnSpc>
                <a:spcPct val="115000"/>
              </a:lnSpc>
              <a:spcBef>
                <a:spcPts val="0"/>
              </a:spcBef>
              <a:spcAft>
                <a:spcPts val="0"/>
              </a:spcAft>
              <a:buSzPts val="1800"/>
              <a:buNone/>
            </a:pPr>
            <a:r>
              <a:t/>
            </a:r>
            <a:endParaRPr>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latin typeface="Times New Roman"/>
                <a:ea typeface="Times New Roman"/>
                <a:cs typeface="Times New Roman"/>
                <a:sym typeface="Times New Roman"/>
              </a:rPr>
              <a:t>上課檔案</a:t>
            </a:r>
            <a:endParaRPr/>
          </a:p>
        </p:txBody>
      </p:sp>
      <p:sp>
        <p:nvSpPr>
          <p:cNvPr id="211" name="Google Shape;211;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SzPts val="1800"/>
              <a:buChar char="●"/>
            </a:pPr>
            <a:r>
              <a:rPr lang="zh-TW"/>
              <a:t>https://reurl.cc/YqzxL0</a:t>
            </a:r>
            <a:endParaRPr/>
          </a:p>
        </p:txBody>
      </p:sp>
      <p:pic>
        <p:nvPicPr>
          <p:cNvPr id="212" name="Google Shape;212;p10"/>
          <p:cNvPicPr preferRelativeResize="0"/>
          <p:nvPr/>
        </p:nvPicPr>
        <p:blipFill rotWithShape="1">
          <a:blip r:embed="rId3">
            <a:alphaModFix/>
          </a:blip>
          <a:srcRect b="0" l="0" r="0" t="0"/>
          <a:stretch/>
        </p:blipFill>
        <p:spPr>
          <a:xfrm>
            <a:off x="3946906" y="204294"/>
            <a:ext cx="4364581" cy="43645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0ee217a99c_0_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作業繳交</a:t>
            </a:r>
            <a:endParaRPr/>
          </a:p>
        </p:txBody>
      </p:sp>
      <p:sp>
        <p:nvSpPr>
          <p:cNvPr id="218" name="Google Shape;218;g30ee217a99c_0_0"/>
          <p:cNvSpPr txBox="1"/>
          <p:nvPr>
            <p:ph idx="1" type="body"/>
          </p:nvPr>
        </p:nvSpPr>
        <p:spPr>
          <a:xfrm>
            <a:off x="311700" y="1152475"/>
            <a:ext cx="1855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上課colab檔案下載，上傳至elearning</a:t>
            </a:r>
            <a:endParaRPr/>
          </a:p>
          <a:p>
            <a:pPr indent="0" lvl="0" marL="0" rtl="0" algn="l">
              <a:spcBef>
                <a:spcPts val="0"/>
              </a:spcBef>
              <a:spcAft>
                <a:spcPts val="0"/>
              </a:spcAft>
              <a:buNone/>
            </a:pPr>
            <a:r>
              <a:t/>
            </a:r>
            <a:endParaRPr/>
          </a:p>
          <a:p>
            <a:pPr indent="0" lvl="0" marL="0" rtl="0" algn="l">
              <a:spcBef>
                <a:spcPts val="0"/>
              </a:spcBef>
              <a:spcAft>
                <a:spcPts val="0"/>
              </a:spcAft>
              <a:buNone/>
            </a:pPr>
            <a:r>
              <a:rPr b="1" lang="zh-TW">
                <a:solidFill>
                  <a:srgbClr val="FC0000"/>
                </a:solidFill>
              </a:rPr>
              <a:t>檔名:</a:t>
            </a:r>
            <a:endParaRPr b="1">
              <a:solidFill>
                <a:srgbClr val="FC0000"/>
              </a:solidFill>
            </a:endParaRPr>
          </a:p>
          <a:p>
            <a:pPr indent="0" lvl="0" marL="0" rtl="0" algn="l">
              <a:spcBef>
                <a:spcPts val="0"/>
              </a:spcBef>
              <a:spcAft>
                <a:spcPts val="0"/>
              </a:spcAft>
              <a:buNone/>
            </a:pPr>
            <a:r>
              <a:rPr b="1" lang="zh-TW">
                <a:solidFill>
                  <a:srgbClr val="FC0000"/>
                </a:solidFill>
              </a:rPr>
              <a:t>職編_姓名_日期</a:t>
            </a:r>
            <a:endParaRPr b="1">
              <a:solidFill>
                <a:srgbClr val="FC0000"/>
              </a:solidFill>
            </a:endParaRPr>
          </a:p>
        </p:txBody>
      </p:sp>
      <p:pic>
        <p:nvPicPr>
          <p:cNvPr id="219" name="Google Shape;219;g30ee217a99c_0_0"/>
          <p:cNvPicPr preferRelativeResize="0"/>
          <p:nvPr/>
        </p:nvPicPr>
        <p:blipFill>
          <a:blip r:embed="rId3">
            <a:alphaModFix/>
          </a:blip>
          <a:stretch>
            <a:fillRect/>
          </a:stretch>
        </p:blipFill>
        <p:spPr>
          <a:xfrm>
            <a:off x="2389500" y="505775"/>
            <a:ext cx="6671052" cy="44908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idx="1" type="body"/>
          </p:nvPr>
        </p:nvSpPr>
        <p:spPr>
          <a:xfrm>
            <a:off x="1835696" y="843558"/>
            <a:ext cx="5477926" cy="385765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2"/>
              </a:buClr>
              <a:buSzPts val="23900"/>
              <a:buNone/>
            </a:pPr>
            <a:r>
              <a:rPr lang="zh-TW" sz="23900">
                <a:solidFill>
                  <a:schemeClr val="accent2"/>
                </a:solidFill>
                <a:latin typeface="Impact"/>
                <a:ea typeface="Impact"/>
                <a:cs typeface="Impact"/>
                <a:sym typeface="Impact"/>
              </a:rPr>
              <a:t>Q&amp;A</a:t>
            </a:r>
            <a:endParaRPr sz="23900">
              <a:solidFill>
                <a:schemeClr val="accent2"/>
              </a:solidFill>
              <a:latin typeface="Impact"/>
              <a:ea typeface="Impact"/>
              <a:cs typeface="Impact"/>
              <a:sym typeface="Impact"/>
            </a:endParaRPr>
          </a:p>
        </p:txBody>
      </p:sp>
      <p:sp>
        <p:nvSpPr>
          <p:cNvPr id="225" name="Google Shape;225;p11"/>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zh-TW">
                <a:solidFill>
                  <a:srgbClr val="76923C"/>
                </a:solidFill>
              </a:rPr>
              <a:t>Kaohsiung Medical University Chung-Ho Memorial Hospital</a:t>
            </a:r>
            <a:endParaRPr>
              <a:solidFill>
                <a:srgbClr val="76923C"/>
              </a:solidFill>
            </a:endParaRPr>
          </a:p>
        </p:txBody>
      </p:sp>
      <p:sp>
        <p:nvSpPr>
          <p:cNvPr id="226" name="Google Shape;226;p11"/>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zh-TW">
                <a:solidFill>
                  <a:srgbClr val="31859B"/>
                </a:solidFill>
              </a:rPr>
              <a:t>‹#›</a:t>
            </a:fld>
            <a:endParaRPr>
              <a:solidFill>
                <a:srgbClr val="31859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descr="data:image/png;base64,iVBORw0KGgoAAAANSUhEUgAAAZAAAAGQCAYAAACAvzbMAAAAAXNSR0IArs4c6QAAIABJREFUeF7tfXm8lVMb9qIkQ4ZMhSgSSVHRSIPmDA2SQkIiUl69hlCSQhqENA+IFJnnDKWIt9KcqVIRbwNRNCH1fdf5+M559r7vddZa59n77PO67t/v/HPW+NzPWuva61nXuu699uzZs8fQ6AF6gB6gB+gBTw/sRQDx9Biz0wP0AD1AD2R5gADCgUAP0AP0AD0Q5AECSJDbWIgeoAfoAXqAAMIxQA/QA/QAPRDkAQJIkNtYiB6gB+gBekAFkF9++cUsWLBA9NBee+1lNPJWSFpImawDHEs/KleubA4++GCx/zNnzhT7f9BBB5kqVarEOirmzJljduzYkVRnkSJFTK1atbzbWr16tfnmm2+830u9evW82wotMHfuXLN9+/ak4vvss4+pXbt2aLViuSVLlpiffvrJyx8HHHCAOeuss8Qy69atM1999ZWYdsopp5gSJUqIafPmzTPbtm1LSrON0eLFi5tKlSqJ9eEd411LhjIo62N4H3gvkuGZ8GySLV++3Pz3v//18m+hQoXMOeecI5bZvHmzWbRokVd9yFyxYkVz2GGHieU+/vhj8/vvv/u4Izhv1apVTbFixbzKb9myxSxcuND7mUPWxZAyuT0M1kSsjZKpAPKf//zH1KxZM7e6Mzb9o48+UherwoULmz///DOp72eeeabBQhCnnXDCCeJCcMQRR5iNGzd6N3XnnXeaBx54wLtcOtnaJ598ssHCk2iHHnqouth7P9BfBRo3bmzeffddr+KnnXaaWbp0qVhm3LhxpnPnzmpap06dxDTU+dlnn3n1A32fNm2aWObee+81ffr0EdPefPNN06xZM6+2vvzyS1O+fHmxTMeOHc0TTzwhpl1//fVm1KhRXm3tt99+4g8IVDJjxgxz7rnnetWHzK+++qq54IILxHJHHnmk+eGHH7zrDCnw6aefGoCIj2Et0gDVp578ygssqF69utg8ASSHWwgg8QxRAoibHwkgbn4igLj7KRU5CSAJXuUOJBXDLLtOAoibfwkgbn4igLj7KRU5CSAEEPXMKhUDjgDi5lUCiJufCCDufkpFTgIIAYQAkmMM8AwkOiF4BuK+7PIMJOornoHwDMR99jjm5A7EzVHcgbj5iTsQdz+lImfsOxCwszD447JQ6tl7771nZs+eLXbjww8/NGeffbaYBobL7t27k9Js/QALQWO+vPjiiwZ0UskeeeQRA+piou2///7m1ltvFcuE+mPixIkq9RNU4qJFiya1t379epVlA6rreeed5/2aH3vsMfPjjz96l9MKgLVTp04dMfmpp54yX3/9tZjWt29f8f8VKlQwy5YtE9NAXQfjR7LQ9xKbI/6qyNaPnj17iu8Z7wPvRbIzzjjDtGzZUkx7/fXXDX51SzZ69GiD8ZNoNhYWqMlPPvlkrC4ZNGiQyvrSGgItuHXr1mIyWG4aGxP/B9nGx2wsLFD5GzVq5FOdNW/oGH377bcNrhxI9sknn5gaNWrIc0ITU0Qh7Z7Cv/71LzN06NDYHjq0IizAgwcPFovbAERrD4OjWrVqYvKNN95ohg0bJqZdfvnlZtKkSaGP4VUOFF4sEpLVr1/ffPDBB2KaBiDg5OPOjGRdunQxI0eO9OqfLfPPP//sfX8B9fXr18/06tXLux/g62/dujWpnA1AbI2AwjthwgQxCwAJ9frYO++8Y5o0aSIW6d27t8EPHcnwQwYTXjLciQFdOh12+umniz+c8ENFuvuUlz61aNFCBfaQejFn8eNDMsz14cOHi2khAIK1SPsBhDVs4MCBIY8Qaxms6fixKxkBxNHVBJCoowggUX8QQKL+IIC4LSwEkAQ/cQcSdQh3IG4TiTuQqJ+4A3EbN8jFHYi7r0JycgeS4DV+woo6hJ+wsv3BT1ghS0xyGe5A3PzIHQh3IIZnIG6TxZaLOxDuQEJHEXcgoZ5zK8cdCHcghofo0UHAQ3S3xSM0F3cgbp77R+5AbGKKPXr0MEOGDBG9B+okBNMk0yhme++9t0irRR1169Y1Gh3z9ttvVxkMtk9YDRo0EMUUjz32WHPNNdeIfccB+xtvvCGmffHFF6ow4uTJk0UFVxvdDqwHiCZKduKJJxr0U7KrrrrKHH/88WJa//79za5du5LSwFKaP3++WAbtoD3J0D9fKrdtBwKaoCYSCWaZxi7DONTE7aDGDFXpRAOFWlPjBW1Zo1djbIwfP170x+effy6KFUIFt3nz5mIZ+EOjf5cuXVp9lx06dFDfSzpVl0H/Xbx4sehfSZnYbbmVc4HlplHDW7VqJVLlbe1BgFETl1yxYoWqQBzCwrLReG+77Tbz4IMPil29++67zaxZs2JbS0GHR52SZcwO5JJLLjHPPfdcXsZKpOxFF11knn/+ebG+UBpviBYWKLzdu3f3fi7cUYAir4/hHgK27L4G4NYWEHDzd+7c6Vulmh9c/iuuuMKrPlBMNUluUFPBv5cMlFYAoGQ4iNZ49JCg/vXXX736CJAYO3asWCaEhYX2NSlsr47lyPzWW2+Zpk2bhhaPrVw6dyC5gUEmq/GG7kCw9uGOWVyGtXnKlCkEkL89QACJjgUCSNQfBJC4lh65HgKIm38JIAl+stF4uQOJOos7kGx/cAfituDklos7kKiHMj0eCAGEAJJ1C52fsLIHAj9hRSeFdhOdn7Byg8O8pxNA3HzIT1gJfuInLH7C4hmI2+KRilz8hOXmVe5AuAPhDiRhDHAHwh0IAYQAosq5h4opFoQzELfXHs0FJdNu3bp5F121apUpU6ZMUjmwRrD1zmRDPOwRI0bE1sXQi4SxdeCvimzxQEDT1ajctn4gHvqpp57q1dVQKRNbI8WLFzfwM83ugYIgpkgWVgyjOBU03pBuEUBCvBYtQwCJ+oMAkvcxFVoDASTqOd4DSRhJIVpYtsFIAAmdqtnlCCAEkLyPonhqIIAQQLJuDMcZD4QAEvUAP2G5L1b8hOXuq0zISQAhgBBAUjwTCSDuDiaAuPsqE3ISQAggBJAUz0QCiLuDCSDuvsqEnAQQAggBJMUzkQDi7mACiLuvMiEnASRDAaRt27Zm6tSpsY0RBL5/4YUXxPpCz0BCxBRDD9E1R4DCu2HDhtj8VBAqypRD9ILgK6imairUtv6H0HivvPJK8/jjj3u7RVPj9a4oRQWgJL1y5Urv2jMlJvo/ksZLAHEbrwQQNz/9U3MRQPL+5gkgUR8WCCkTAojbwCeAuPnpn5qLAJL3N08AIYAYfsLK+0TKlBr4Ccv9TRBA3H2l5SSAEEAIIHmfRxlTAwHE/VUQQNx9RQBx8xU/YSX4iYfobgMnU3IRQNzfBAHE3VcEEDdfpRVAUhET3e0xo7nSGRMdMZJHjhwpdrOgs7AQW3n37t1er8AWt92WVr16dYMQuokWCiAICVyqVCmx73vvvbf6XDNnzhTL2GKi2xxkawuxshH/3MfAmKpYsaJYpGPHjgYx7iVbunSp2bRpk5g2cOBAsR/oG/ooWZMmTUzPnj3FtHLlypmjjz5aTLOxsDBvJduyZYtZtGiRmHb88ccbxIKXDDRpLSa65vNjjjnGPP300z6vJCsvQivPnTtXLDd69Ghz8skne9XJmOgJ7rJFJPTybB4zh+5AQpot6AASd0x0mw+/+uorg4UnLgDp16+f6dWrl/drK1asmNm6dWtSuQoVKhgEgIrToPCLRc7HGjdubKZNm+ZTJCsv4se//fbbYjlEfTz00EOT0vBOTjnlFO+2Ro0aZa677jqxXIic+/Tp002DBg3E+u644w5z//33i2ktWrQwr776qnf/Qwpgrnft2jWkqFgmNB5IbB1wqChjxBQd+hpbFgKIuysJINm+IoC4jxsCiLuvtJwEkATPcAeS90GVbhovAYQAwh2I27zlDiTqJ8SGqlGjhui82ANKub2ieHJxB+LuRwIIAYQA4jZfCCAEEJMp8UC0IcsdiNtkRi6egUR9xTMQ97ETkpMAQgAhgCTMHO5AuAPhDsQNTgggMQCIjcZbs2ZNAwZJXBZKF33vvffM7NmzxW7YdiD33nuvSP0E7a9z585ifTYWFkTPwMKR7JFHHjGbN29OSjriiCPMxo0bxTJgzEyePFlMa9iwoTn77LPFtCeffNKsXr3a67WsX7/egJoo2VlnnWWaN28upr3yyisqHVNjYYEhdNhhh4n1lS1b1lx22WVimm18XHHFFQY0X8kOOugg8+uvvyYl2Q7RFyxYoLJ9wASqXLmy2JaNhdWnTx+vd4LMoMHWr19fLId38tZbb4lpoEofcsghSWlffvmlAU1dMrCpWrZs6d1H7b3Y3pd3Iw4FBg0aJFKXQZPu1q2bWMOSJUvMSy+9JKYNGzbMQFBRsjFjxpj//ve/SUmFChUyvXv3FsvYaLy1atUyjRo1cnhKtyyhaylYfXPmzBEbCToDsQGI26Pkby68tNq1a4udCFHjxaDq3r27WB+45trih8VNWtRtAILFWZvQoDmC7igZFpwPPvhATNuxY4cpWrRoUho4+dqi2KVLF/VeDO4pTJw4UWwLi5XElbcBCD7LgH8vGSZm//79xTTEFdcmYAiNd9y4ceqPCKR16tRJ7AdA6fPPP09KQx9++eUXte+4g6E9M37oSBbyCcsGIHiXTzzxhNgWxoD2AwNjB+CTaBhruGujjVFQeSXD2L7rrrvENMyJCy+8UEzDXJLuiGDuff311+qc7dChg5hmA5AzzzzTzJ8/P6kc1pQ//vhDrM8GIPm7Srq1DizA3S7J1EN0AkjUXQSQqD8IIFF/EECy/UEAiY4NAogbUGVULu5Aoq+DO5Bsf9g+YXEHEh033IFE/cEdSNQf3IHk8AcGhyb3wB0IdyD8hBUdA/yEle0PfsJK2D/wExY/YfEMJDoGCCAEEO5AuAMxPETPHgQ8RE8GCY2JRwAhgBBAHAEEzBFQGsWT9732Mnv27IktLZR6ZisHZtHBBx+s9lFKQH4ojEqGq/xNmzYV00AHXLx4sZgG2ReJVlmkSBEDCp9kUFqF4qpkYJYcd9xxYhpE6jSGS8gZyLHHHmsQlEcyBPqqVKmSmBaixgtq6htvvCHWt2bNGoM/ycACksQDkRfvU2JA2c5A1q1bZ0BDlgz3KEqUKCGmaTReUImhQCsZKLfauIEqraZMa1PjrVevnthWKAtr+fLlIm0VjYDmfcABByS1t3PnTlGNGRnxrrRxs3btWrNq1SrVvxoF/PbbbxfbA33+4YcfFuvbsGGDgU8kA6UclH7JwMCSBDqRV1sT8f4XLlwo1hf32hdan9i5v/5ZpUoVg3EsmXoGYquwoKfByb4GPvmjjz4qFgOF95lnnhHTQCPU7in49iG3/CE0XixgGmja2sOdE9zB8LFQGq9PGznzhtB4Q9sKYWGFthVSLhRAQtqyAUhIfbmV+eGHH8zhhx+elA1gpP0Ayq3OkHQNQELqKihlCCCOb4oAEnUUASTqDwJItj8III6Lyv9ANgKI40skgBBAbEOFAEIA4Q7EcTEt6Nn4CSv7DfITVjyjmQBCACGAxDOXMr4WAggBJO6IhAQQAggBJOOX/ng6SAAhgBBAsseATQsrZMbxDCTEawWzTMafgbz44osGare+ZpMy0er69NNPs6iJvjZp0iRz6aWXehWDEu9RRx0lloFoHMTjJLvzzjvNAw884NUWMmu/jkLvgXh3wBgD2ioUUv9JZqPx2vwAIUVNxReikxBUlAw0WUn9GeKWGm0VQopXXXWVWN/IkSMNLpTGZaEx0UPaBwMSlFxfi1tMMTSkLajymmLw999/b44++uikR/vmm29U+nfbtm3Ns88+K7oj9pjovk5PVX4CSNSzBJBUjbTU1EsAifqVABL1B6KqDhw4UBx8BJAY5iQBhAASwzDKtyoIIAQQ7kDybfoZQwAhgOTj8Mtz0wQQAggBJM/TKLwCAggBJHz05H9JAggBhACSj/OQAEIAycfhl+emCSAEkH8kgNjEFEuVKqVqzCCspxbrWxN6wxDTQrGCOTJlyhRxIu+9995ibHNkBpOiYsWKYrmZM2eKrCQIx1133XViGTyzpmmFkKsQMvQx6PcceeSRYhHE3n755ZfFNIT8ROhPX5s2bZqBgGOirVy5Ug3hirC6N910k9hUiGgbROguuOACsT4I5Wlx5W3PahsDWtq2bdsMGHe+hpji2jvT2kIY4Z49e4pNgZGmCQv269fP3H333WI5xEPXhD3B4JMEJCHAqYUgRjzsAQMGiG2df/75Bgq0kmliirb5DFHBHj16iPVdfvnlasjgkPG2fv160759e7EtvEctRjyEPatVqyaWw/qAdUKyGTNmiP8HZVyLzY7+XXvttWK55557TgyTjMy33HKLOfDAA5PKYV0B20qySy65RF1LH3vsMfP888+L5UaMGGFOPfVUeR3Yo/A7EUhdU4sF5Wvo0KFihej81KlTxTRQzCQlWVDSoPwqGZgIL7zwgu9ct+aP+x5ISOfSTeMN6WM6y9jUeOPux2effRYEVuPHjzdXX321V3ewmGuq0IjljpjukoXSeL0655A5JCJhuu+BODxGUhaA1VNPPSUWxWKPBTW/DV9fWrVqJXYDasH//e9/vbpoAxCvinJkVu+BEECiLrVpYYU4nwAS9RoBJOoPAkjIrHIvQwBx95UtJwHE0Y8EEEdHBWYjgBBAAodOUDECSJDbkgoRQBz9SABxdFRgNgIIASRw6AQVI4AEuY0AAg/wDCSewRNnLQQQAkic4ym3uggguXnILZ07EDc/ZbEotIiEjlVEsvEMJOo1AggBJGQehZYhgIR6LlpOBZD//Oc/pmbNmmIriA/epEkTMQ0MLFB5JdNYWGATaDGIIaSo0cveffddM3v2bLEtsGW02OE4oNy9e3fydswS6x1xvjUBO7AllixZIvYDNFgpZjeopIMGDRLLIPZ2u3btxLT333/fgFeeDkP859dff927KYBtnKKJNgonwupq9GqITv72229J/Qd4QyTQ10JYWGjjnnvu8W3KgGquUdttNN4HH3zQ7NixI6k9hHy98cYbxX5AUFOjjds6fv3116uCoCHPjHENrSzJMB8gCCmZNj4gKvnII4+IZRCG+umnnxbT4Kfhw4eLaZ07dxZFDG1jFLHeJ0yYINYHpivYeJKBNaVRjYcMGWJ+/fXXpGJg/WkMWdDkNWFa0MKxrvtaEID4NvJ3/m+//dbgPkWihdJ4IUQ2ePBgsTsYjGeffXZoV73KZUpMdK9OO2QeNWqUwSLha1999ZUpV66cVzEsitiF+Bp+RDRs2FAshkt80iTzbePv/KEAorWHvjdu3Ni7OzYAyXQ1XtvD4n4T7jlJBnVq3HHxMZsabyiAzJs3T70Xo/Ut9CKhz7PmXGOPP/5476IPP/yweufLVhkBxNvVyQUIIFGfEEDcBhUBJOonAojbuLHlwo90AkgOD9kuEnIHkvcBZ6uBO5Cod7gDSe14I4Dk3b8EkAQfEkDyPqhCayCAEEDiDijFT1hRD9jigYTMWwIIASRk3KSkDAGEAEIAiY4BnoFE/cEzkBiWXp6B8AwkZBjxDIRnINyBeMwcjYW1bt06kRqHqm2qmaASa1Rj0ObQnmQaPdL2KIhNrFEC27Rpo4rz4e7ITz/9lFS1jfYH9lj//v09PJt7VrB9fv/999wz5sgBNVMciEuG0Loa/RAUSKiCJprtmcHa0uLKI2b3k08+KfbDxsKCiKGkTFu6dGnz+OOPe/kCmUGvLlGihFgOMcVXr17tVSdoposXL/Yqg8ynn366OeSQQ8Ryd9xxh9l3332T0n788UdVIPCMM84wUF6WDO9Fir2NvNdcc42BmnOiQYEYCr++Bto1xpVkUNbWqOGaEjIUnjUV3KOOOkqlyK5YscKAGSpZ1apVTbFixcQ0TW0cTMAFCxaIZXDVoEyZMmKabb5AYBbPl2igDGvXF2zvA9RfiOT6WkbsQGz3QGwPhHsUkDWWDIuwdkfkjz/+MIULF/byFeThu3fvLpYBnxy7EMlOPPFEs2rVKq+2bHLuXhXlyLzffvsZqKTGZVjQcQdDMiy0GvBo7dsuEkIuXwNUqNlqQIaJDgn5RKtQoYKBxHacBo49VH7z237++WcRXBAWQbtT0LFjRwOQ9jUAmXT/CQAi3UXJrX4bgORWVpt7EsCF1OVSJkThwqVeKQ/WzJIlSyYl/SPPQAgg0XFAAIn6gwDivswQQLJ9hR9vBBC3sVOg74EQQAgg3IG4TfTcchFACCD/uHsgBBACCAEkN2hwSyeAEEAIIG5zJUtLimcgbs7iGUi2n3gGEh0zPANxm0O55eIZSA4P2cQUc3Oklq6xsLgD4Q6EO5DQWRUtxx0IdyAFegcCFc66deuKs0GjuSGzRq21Udnee+8989FHH4ltLVy4UKRwIrMSBt46gxEjWaMEPvPMM6Z9+/ZieY2FBdE7qPhKtnz5coM6JdMoi8hrS+vVq5c38+y1114zDz30kNiPiRMnmg4dOohpc+fONdu3b09Ks71LUBJB1ZSsT58+BgrKkoXQeEN3INjxvvHGG2I/oOAKxdtEgx/OO+88b3TAruDKK68Uy4Gqix94kp1zzjlZ40DqBy7BSRa6A/n0009Fltuff/5p+vXrJ7ZlGwN16tQx5557rnc5qFUAOBMt3YfoIWuYzR8Y97NmzRL9obGwkFnrBxSeNZXkjKHxPvfcc+biiy/2njAhBW677TZVEt1WXwiAhNJ4ITUu3Q844ogjDGTFJXv11VcNmFhxWsgz4xbyDTfcIHYDtE8sPOmwTGFhderUSZXlBi0YwJRouAMAVWBfu/vuu03fvn3FYtitQZE3LgNQhdyL0doHXRyfTH0Nd0Duu+8+32IGcwn3XBINcw+KvAXVAIy4fyYZ7qlo93O053322WfVMBEEEI9RErKYEkCiDiaARP1BAMn2BwHEYzGyZCWAxONHtRbuQNwdHAKa3IFE/csdiNt4I4C4+Sm3XASQ3DyUx3QCiLsDCSDZvgo9AyGAuI03Aoibn3LLRQDJzUN5TCeAuDuQAEIA0UYLz0Dc51E6cxJAUuxtAoi7gwkgBBACiPt8yYScBRpAPvnkE4OA75JBtVEL3I5A8GBixWUIAv/88897V5cpYoohLCzvh/2rQP369VUKH8TtIHKXaFCDhRqrr9nEFH3rykt+qAyDyutjED5cunSpT5GsvFCfRVTCdFhBZmHZ/DNjxgyVqhu3X1NB4z3rrLMM6Ms+Bmq1Rsf1qccl7zfffGOgNi1Z27ZtDZhY2pquqY0DC2rUqCGWU9V4CSBRf6WTheUyUKQ8BBA3zxFAon6K+xMWASTqAQJIwojgDiTqEJucO3cgbot6aC7uQEI9l12OAOLuQ+5Aor7iDsRx7HAHEnUUP2E5DpzAbPyEFei4HMX4CSvqQ37C8hhTPAOJOotnINn+4CcsfsLyWEoiWbkD4Q7EpDMiIT9hhU5Vt3L8hOXmJ1sufsJy9yEBxBFAbGq8PXr0MEOGDBG9HsLCAjuoevXqYn0QZtQ0gRAqVot7HhITHbpF8+fPF/sBITpNSA9aTQ0aNBDLhYgp2gTWAEhazGO8Fy32siamiLjno0aNEvtui4keIqa4zz77mNq1a4ttIW68FB4VmREzWlMYbdKkiUFYWx+zXSRct26dGo538ODB6hjAwrL//vsndWP37t3mww8/9OleVt5QMUWtIWhTVatWTUxu2rSp6dmzp5gGYU8I90mGZz7ggAPENE3Qb9GiRebmm28Wy+AdawwihAuW9K5sjrV9wtqwYYP54osvxOInnXSSOeaYY8S06667ThwfNiFTPJMmjIm5jDntayA5/fbbb0nFfvnlF1UAFUKV+DQqGcRiNbbriBEjzKmnniqWy4gzELys7777zteH5tZbbzWY1JJh0uIzlo8BJLRJBrVVnIP4WkhMdFsbiButTXZbOYC0NOAQ1xqTWrJQKZOTTz7ZYOFJNCgQAygke/PNN1XVWijxAqQlQzx0qDL7mA1AQNMFXdfXsMBJkyxUTNG3/dzyI069tmDaynbp0sWMHj1azIJxg/GTaKm4iQ5xUYiM+pgNQEB80dSkMc8x3+MyrEVQGpYMa9jAgQO9m4KQIn7sJBoACVTedBkBJIenCSDRYUcAcZ+GBJBsXxFAouOGAJIwj+Km8XIH4r5QcQcS9RV3IG5jhzuQqJ+4A3EbN7nl4g6EOxB+wsoxBvgJK7pk8BNWbkto7uncgXAHkvVNlGcg2QPBFg+EZyDZfuIZSO4L7N85bAGleAYS9SPPQHL4g5+w3CcZP2HxE5b7aMnOyU9Y/IQVMm5yK6N+wrLReEHD02JlT5061eBA0cdstNXQtKuvvlqlu4LVA3plooW2ZSsHgbLNmzf7uMNgsoMOLVnDhg292WWop3///mbXrl1e/YBonEZdtt1ER/+/+uqrpLZsLKwVK1aYSZMmif2z+RffsrWwpYgdXqRIEa9nBg0aseB9rWvXrmJMdDDfBgwY4FudNf/ll19uwDCSTPMV4rWHMItsn7Cuv/56c+SRR3rNo1BHTJ48WWT2oT6ockshdG3jJrQfWjlbW2vXrlVDIUOwFud4cVnoGgYqtyaYaOtb7GcgIY4Az1zjXdvqGzRokLnlllu8myxcuLD5888/k8qdeeaZBkwsycCT7tatm3dbIQWwXX/55ZdDinqXARWzcuXK3uXi/oRl6wC46/369fPuIz4fHXjggUnl8AMHt9ELqiEeOiZ8Ogwgod0T0trHYr59+3bv7t1///3mrrvu8i63cePGrLjoiYYfFmXLlhXru+yyywx+fEiGeY75nsmGNbNkyZJJXcS9OO3OlO15Hn74YXPTTTd5PzIBJIfLCCDu44cA4u6ruHMSQKIeJYBk+4MA4jHbuAPxcJaSlTuQvPsw3TUQQAgg3IHkGAP8hBWdEPyEFfUHP2FF/UEAIYAQQAgg6g9XAggBxLarIYAQQAggBBACiOO3H+5AuAOxDRWegWTgGQhUHTU1LeVRAAAgAElEQVRl1zlz5hj8CpLsnnvuMfXq1RPTQE2FCmaigV46e/Zsx+UkOxtULEuVKuVdbubMmWIZCCni2ST7/vvvDaimkoVQ57Zs2WJatmwp1he6A7Gp8WpOKlGihAFV09fKly9vjjrqKLHY3LlzRRYONJI0SisohFpanz59DKjXkkEVukqVKmKaNg6XLVtmKlasKJZp3rx5lkhnXO85ZGygbVu5SpUqmeLFi4t9vPDCCw3mbqJBZA8Kyr5mo/FC8RpKyYlWqFAhgzCuki1cuFBV44XgIBRjJQM76+OPPxbTfvjhB5FCvXr1alXpFvRjjGHJMM81BWIw0nBRNtFC3zNilGssNzAPNUFYXKOQ3jOo8hqbytZHsNWOPfZY3+FhVBaWraahQ4caLFaSwSGIfCUZ6GWa/Lp3z1NQAPLUWPzSYfjVpC3AWAReeeUV725g8s2YMcOr3BlnnGEwqdNhUOI97LDDxKaaNWtmoMgrGZR4cY9FMki5+/LobQDSqVMnM27cuHS4IyVtYAGR7h1h0fvyyy+92wyRMrE1Mn36dDX0Ae7tgMorGeaEdj9H24Eg3IN2X8bbEX8VwN2oqlWrhhZPKgcl3ttvv12s74UXXjCtW7cW0zL+JjoBJLYxIlZEAIm6hQASz3gjgGT7kQASz5iy1cIdSA7vcAeS2gHHHUhq/YvaCSAEkIyIB8IdSGonO3cg3IGkYoQRQAggBJBUzCyHOrkDcXBSHrJwB5IH5zkWJYAQQAggjpMl7mwEkLg9Gq2PAJJa//ITVtS/PANJ/XiLXQsLVN3nnnsutp5fdNFFarD30EZCxBRtbUEdVVOSDe2jVs4m516/fn3zwQcfiEV37NhhEBfdx0JD2mpqvLa2QZ/VlH9t5WwRCUFzLFasmM8jW/MiVjoCTsVljRs3NtOmTROrA20Z9GXJwFYD6UCykB0IdM2uuuoqsT6MAY3mDQbf4sWL43JHWuvBnH3qqae824Re3vz585PKYU35448/vOsLZWFBfFajGmudwNo8ZcoUMRlRZqEcLtknn3yiKvUSQHJ4zCamSACJesAmpkgAcVtHCCBufkpFLgJI1KsEEI9Rxh2Im7O4A4n6iTuQqD+4A8n2B3cgCWsKti0IdiIZ0AqXCSXjJyy3xTk0Fz9hRT3HT1hRf/ATltvM4g6EOxC3kSLk4g7EzXXcgXAHwjOQ6BjgGUjUHzwD4RmIiiYEEAIIAYQAEnSI/vnnn5sbbrhBXFygdaWl2T5h1axZU4xRbRNTrFu3roFAo2ShMY/BVpIsVEzxpZdeUtkoWh9DBSSvvfZa0759e7H///73v1UBzBAWFkTeENJUMugW4RBYsiuuuMIgDrRkeJ+SlStXzlx66aXe7xlhSVeuXCmWgwDfPvvs47bdcsg1ePDgIKaY9swQsMOnFMlmzZploBslGZg7GKuShYgphrKwcCak+V5zZ6jooK3c3nvvbXbv3p3U5O+//26w+ElmC2kLMUWIp0o2ZswYkf2Ecfbuu+86jKJoFgTFQ0x3ycDE00QpL774YvPjjz8mFUM4YW1sQCsPytaSxX6I7u2JvwoAXKZOnSoWxwUXqIImWmhAqdA+auVs90CGDRtmunfvLhbFIoYB6WNQEIUiaLpsz5493k3ZdiDelf0ls4G7IJJB3RlUXl/DpG3YsKFY7KCDDjKIi56fhj5AeVkyCEE2adJETIOApKZAHPfzhAJI3P2Iu77QmOg33nijGT58uNidefPmGXzGistsABLSBgRr16xZ412UAOLtsuQCBJCoTwggeR9UBJC8+zC0BgKIu+cIIO6+UnMSQAggMQyjSBUEkLg96l4fAcTdVwQQd18RQBx9xR2Io6Ms2QggefdhaA0EEHfPEUDcfUUAcfQVAcTRUQSQvDsqBTUQQNydSgBx9xUBxNFXBBBHRxFA8u6oFNRAAHF3aloB5D//+Y95++23xd6BgQUKsGQaCwtMGcS2lgxhOBEmVzLQSEENlgzxmjUqqeZW2xnIY489Zrp16yYWhZCiRkHV2tq2bZsBA0Oy5cuXm8mTJ4tpYBzVrl1bTLNRHTUqtG2IIXzn66+/LmZ5+eWXvYX0cEtaY2FBIPC8884T2wL9UKMzgjJ8wgkniOVwa/+3335LSkMsFoCjZJUrVzagwkqGkKoLFixwn5V/5dREEbHAgcEnGeKDa3RzUH9BAY7LFi1aZPA+JTv//PNV1hFo3uvXr08qZhuHiKHesWNHsa0PP/zQvP/++2IaqOtSLHKbD37++WdVIBBx5bVwsRiLWmhr0OgRTlYybY6BGaWJVdrEFEPe7yGHHKLGRLfVh/V8zpw5YpageyC2xh5++GFz8803ez8f4qGXKlXKqxziArdp00YsA+ffeuutYhoWnI8++sirrXQeots6hnjoLVu2FLMgZjTuYOS3XXnllebJJ5/06kbx4sXNpk2bxDI2AAGdFbTWuCw0JnrcWlihzwPKc9OmTUOLx1YuRAsLPwY0kMDYxt0dyTAnNGCP7YHyUBGUeIsUKSLWcPbZZxuAo2Rx03jz8AhqUWwYqlevLqYHhbQlgER9GXIPhAAS9QABxH3qE0DcfZWunAQQD08TQAgg3IF4TJiYsxJAYnZoDNURQDycSAAhgBBAPCZMzFkJIDE7NIbqCCAeTiSAEEAIIB4TJuasBJCYHRpDdQQQDycSQAggBBCPCRNzVgJIzA6NoToCSIITbWq8CDSlKbGCMTNjxgzxlWhqvEcccYQqwAilW41uByojYgNLtnDhQoOY2JK99957plChQklJ69atM6NHjxbLIA30WskqVKhgDj/8cDENdNySJUsmpW3evFllWpUvX95A1VgyKLRCqVUyADuYMZLhfUGd1MfABAM/XLIQAEE9mjItKJdLliwR2wJNV2Pvgf5dtWpVsRxowaBLJxpELDU1adB0X331VbE+qLRqcajBSJOEQqGCrIlEgvUHJqFkNiosKKhgtPkYGJCgPMdp8KEkCGrrO6jcp59+utgN9HHVqlViGmJ5g9IvGRhaBx98cGyPhtjgWHckw/qg0Ynx3JLhmfHOJANDSxMDtflRU+MtUaKEegXggw8+MH379hX70bVrV5XtWqVKFQNFBXGc7lFkWtMZkRAg8N1334kdfPHFF81FF10U2+BARZoyLe49YFLHaZgQ4L4nGu4iHHXUUWJToCtiUkgGCu+AAQPENICLdncAMs87d+70ejRIuY8YMUIsEwogXh1wyGxT4y1WrJjZunVrUi0AfFB5JRs/frwBXdfXPvvsM3PqqacmFcOPGG1xQzRFKPKmw7766iuDWPVx2uLFi9WFMc52UBfmBO7hSIa5hB+hcVmoGq8GILZ+Qcr9wQcf9O467qLgR22i4UcM7ttJhvt07dq1E9MQYVb7sWjrXEYElCKARF8RAcR9PhFA3HxFAHHzE3IRQNx9RQDJ4SvuQKIDhzsQ94nEHYi7r0JycgcS9Rp3IDn8wR0IdyAhiwrKcAfi5jnuQNz8xB2Iu5+QkzsQ7kDUEcMdiPtk4g7E3VchObkD4Q5EHTfcgXAHErKocAfi7jXuQNx9xTMQd1+pOxAIaGlKtz169FDVc0E/fe6559x7YEwWFVdjYSFwvMaYsdHcoJyrldNYWFAFnj9/vth3qJWC3udrECErWrRoUrFdu3aZ2bNni9WBUSIxepAZzB1NjRcUXqhxSqYxRE488UQzbtw4sQzey0knnSSmgVIpKbEiM9RWQclMNFABNXYZ1E9vv/12X/dm0ZY1lhOE+fbZZ5+kOg844ACVbQdfdO7cWewH+qeJGELdd8OGDUnldu/erQrp2eidtrEN6m+1atXEPuKXukRf3759u0E87zgNfQC7L9Ew3jW1btDrNSFW2zNjh4e1QDJQYSVa/t57723gf18D7Vrz75gxY0QqN/oOmqyvgTUlsTRRT79+/VQVarBkJaVpvPuHHnpI7EbFihVVRiuuRBx77LG+3c/8T1jeT/RXAQwqbYHGpZ/ChQt7VW2Tc/eqKI+ZIVHes2dP71owqaUBB04+5LzjNPDkpTszNjl3XI7T7kuE9g0/CA488ECv4jYAQVqnTp3E+k477TSDRS4dZrtIiPshuFOTnwZQAWBJhjtiUOTNZMNcx70IyUDzB9kmHYYrDK1atfJqChTe0qVLi2Xatm2rhsbwaiRH5ow/Awl9MAJI1HMEELeRRABx85MtFwEk7z5EDQQQRz/aPmE5VpGUjQBCAOEOJHT25K0cASRv/vu7NAHE0Y8EEEdHGWP4CcvdVwQQd1/FmZMAEo83CSCOfiSAODqKAOLuKGMMAcTLXbFlJoDE40oCiKMfCSCOjiKAuDuKAOLlqzgzE0Di8eY/EkBCXAeFU01VN6S+VJQBLfjRRx+NreoffvhBVDKNrYEYKor7ImG6Y6Jngpii7TXgFr2mah36+sDA0qjcIXViDIwaNcqrqA1AvCpyzAxFYMwnH7v88svNU089JRYJvQeitY946HXq1BGTb731VlWRGSKyAJF0GJS8b7rpJu+mYmdheffAmCxeNQEkxHOpLUMAcfevdhOdAOLuw9CcBJBQz2WXI4Dk3YfWGrgDibonRM6dO5CoD7kDiWfSEkDy7kcCSN59SABJ8AB3IO6DijuQbF/xE1Z03PATVsI8QuARBCCJy/gJKy5PxlsPAcTdnwQQAog2WgggBBDDT1j8hGWDEwIIAYQAksMDNjFFaKrg16lkCBfqG15y06ZNqsiXTRDNlmaLia69aIjyaTHFa9SooQrpQfhQig2NdubMmWMQFzvRtmzZosZEd//dG81ZuXJlNXbxzJkzxWohLHjmmWeKaRCU0/SpEIZTE8yDr/bdd9+kOvfff3+DEJ6S2cQUISrXq1cvb7dkQkx0aK5BFUGydJ6BQJsKPvY1CPNpoWRDxBQ3b96saq8df/zxqrAghFE1McXWrVuL+l8Yb1qIasQoRznJIJoK8VTJIEipzRfNtx999JEqimgLaWtjYdWqVUsUCoXO38cffyx2BSG0tbDGYJ61adPGd3joYoo2ALG1AiVeBHzPbzvnnHMMXpyPYbBpk2zYsGGme/fuYnVPP/20ueyyy8Q0qN0iLno6DEJ19erVE5sK0cICfVP7oWB7HkiHlytXLikLKKY4SPe1UADR2sFiBGVSySCWqKkTI1Y6Yqb7GBSI8WMhvwEkU+Tcp0+fbho0aCD644477jD333+/mNaiRQvz6quv+rjeYO6tXLlSLDNp0iQDKq+vQUixatWqXsVCP2EB4F566SWxre+//94gKmGiZYyYIgEk+moIIO5zhgCS7SsCSHTcEECi/rDdAyGAuK85sefkDiTqUu5Asv3BHUg8023x4sUGn4J8jABCALGOF37CirqHn7Cy/cFPWNGxkc4zEH7Civqen7B8YF/PGxSR0NY0AYQAwk9Y/ISlrRHcgXAHwh1Iggd4iB51CAGEAEIAyfbAP/IQHTHKNTYKqKkahRNUMFB5JUMsZCl+NWS3hwwZIpaxxUm2pU2YMMGsXbvWa58GPS4wbSSztQW6ncbqASVQCjG6bds2M3jwYLEtUO0QW14y/ILDgJTMxsLSYqLbQtqCcfL66697+wN3Zg477LCkcqAzg/7razbfX3HFFeaEE07wqjIVZyAIgXr44Yd79cOWGbRrLcY22EP4NCoZwh3jvCvRQIFFqNY4DQw9UEN9LHQHMnnyZIMfJpJhHmE+JZqNhYUffR06dPDpelbeuGm8cR+if/vttwZ0aMkQdhlrla9hTdTipaufsGyNQDcFYOBreLhSpUolFfsn3kTfuHGjOvkuvPBC88orr4juBdVxwIABYhomZ/369cW0kEN03/ebqvy9e/c2/fv3F6t/5513TKNGjbyaDgUQUHzxw0Qy1Cn9cPrll1/EH02oA/1G/yW79957TZ8+fcS0N9980zRr1szrmTMlcyiA2PqPe2fSHRH8sPj666/Fov+rZyA2AAkdA2DkVq9eXSxOAHH0atw30Qkgjo43xhBAor4igET9QQDJ9gcBxH1dSWtOAkha3R1pjABCAOEOJOoB7SIhAST/1ilrywSQ/HsxBBACCAGEAGJ4BpI9CPgJyx2QCCAEEAIIAYQAkmMMEEAIIDxEj44BmxYWAYQAYmrWrGmKFCmSNBZ27dplZs+eLY6RunXrmnvuuUdmAOy1l9mzZ4/7SpRLzuXLl5vrrrtOzAUhRVByJbvvvvsMbhVLplFQbc+MQ0Eo/EqGRad27dpiGpSEtXjYGo3XpsZrc9edd94ZazxvUMNvv/12sUmI70GaRjLQkA899FCvMQDKJ+iYkpUsWdKcfPLJYppNTBEsFYk+i/+BWisZRDYnTpwopmG3vnr1avWZtfesKVQfd9xxalug5GvMvh49ehiwAn1NE/WEsOSiRYvE6jCmMJd8DVRi/CBLtFA1Xlv7Y8aMyQrBnWg2ZfDSpUsbRPCUDMq5GhOvXbt2qnqu5l9cXcC7luzcc8/NIqT4WpUqVVSV77SysHw7jvzgLT///PMhRb3LYFGBRLVkkDuGoKJk4OWDFpgOe+CBB9QFydY+osTt3Lkzti4++eSTBncw4jIwiyC/LhkorSEDP66+/V1PQVDj1Z4Zd4u++OILMfmJJ54wV111lZg2cuRI06VLFy9XYpxhvPlaKIDEHdLW1m8oduN+lI/hx8+sWbPEIgMHDlR/OL3wwguq5LzWfsao8docFHoPxMfpf+clgES9RgAJGUXxlCGAuPmRABL1EwEkYdwQQKIO4Q7EbWGx5eIOJO8+tNXAHUjynH3qqae8nc4dSNRl/ISVwx/8hOU+n/gJy81X6Y4Hwk9Ybu8FP/oIIG6+suUigBBAgkYRAcTNbQQQNz8hF89Aor7iGYj72FFz8gyEZyA8RM/7ROInLH7Catu2rXn22WfzPphy1JDWeCBQiQQ9sSBa6E10CLpJdExQdSXqYSb5Ju6Y6Kl4tsaNG6sU6lS0F2ed6Pu0adPEKuMWUwwNKIUxoFHbNV9AdRkUWskg9glBRclAEMEuxNd++OEHUQkZQoply5YVq7vssssMFHklw1yPW7nY95lC82ONXbNmjVgcsZo0lW9be0FiiqmIiU4AyX5NBJDQKRItRwBx8yMBJOonAojbuEEuAoi7r9Sc3IG4O1ELKOVeg3tOAoibrwggBBDuQNzmSkpyEUDc3UoAcfMVP2FF/cRPWG7jxpaLn7Dy7sOU1EAAcXcrAcTNVwQQAojbSHHPRQBx91VacxJA3N1NAHHzFQGEAOI2UtxzZQyAfP755+aGG24Qew4xsRUrVohpCMOpCX3hBvvmzZuTytmEBaFzU758ebEtm4CZzeWINy0Z4rVDkFAy0IkBIr6GuMwQzUs0CAC++OKLYnWhceBtYoq+/Ub+UBYWRClPOukksUktzrftmcuUKaPGeW7SpIkqRqc9s01kz+Yn23ibP3++2bp1q5ebbQDSr18/c/fdd4v1QT8JN6Il0/wYGhP9/PPPN2eeeabYFvoAMc5Es0mZQJhvyJAhYn3PPPOMGTt2rJhWsWJFU7x4cTENIpyS9tb69etN+/btxTINGzY0d911l5gGVYS5c+eKabb3DOFXyWzjxjbusQaDYeZjJUqUMIgfLxnqwzmIr40YMUIVdw26SDh06FADlU5fg9CXpBSJ6Fpa0PbWrVsbXKiJ0woXLmz+/PPPpCoxUTSV1tD2NQAJrc9WbsaMGSp4h7QXCiDaDuTnn39WFwFb/7CY9urVS8wScoh+2mmnmaVLl4a4RC2DOj/77DOvOkMBxKuRvzLb7oHY6oOQ4ujRo8UsUNWFGnKihWph2frx6quvmgsuuEDMEiKmaGsLFN6uXbuKWbBGAEQSDWvKH3/8EfJq1DL40ar9yAxpCBTeKVOmhBRVyxBAcriGABIdJwQQ97lGAMn2FQHEfdzYchJAErzDHUg8A0urhTsQN/9yB+LmJ+TiDiTqK+5Aov7gDoQ7EHU14Q7EfaHlDoQ7EH7CcpwvPANxdJQxhmcg2b7iGUh03PAMxH0e8QzE3VdaTp6B5N2HWTXwEN3NkdyBuPkJubgD4Q6EO5Ac8+W7774z48aNE2eQjXo2depUA7qYZNoZCGjBxxxzjFjGpsaLOORaLPWrr75ajQ2sxQcHLVGj79mWEjAllixZImZBHHWJugwq6a233iqWAQ1Wo+LZ+tGxY0eD+MtxGdgmr7/+ulhdq1atTKVKlbzHR0jfEMu5Tp06YtEQFlaFChXMsmXLxPoWLFhg8GtXshYtWpjKlSuLaTYAAbVdMuxOO3ToIKbZxBRDfHjYYYcZhGWO066//nqDeOSJZjtEx/jEOJXsww8/VIUWER9ci1WvrUeYd5h/vtasWTM1tDVioq9bt06scs+ePeL/ISA7YcIEMa127dqmUaNGYhoYqC+99JKYBhZssWLFktJCrwDYfIRInBpLVj0D+eSTT0ytWrXEev/1r38ZfMaSDJLBABHJ4j5ExwI8ePBgdTCeffbZYlrcO5CQiISgHm7YsEHsHxYwLFaZbLZ4IJjoAMFEw92Xn376KdbHCgEQ2yE6fjR17txZ7CPSOnXqJKYBlKQfTpjkv/zyi/cz2+6BeFeWhwIFWY0X968A0ukyDUAAjNoPIKxhuNcjmQ1AcPXh6KOP9nq0tGphEUDc3w0BJOorAki2Pwgg0bGRTjl3AkjU9wSQhDWdOxB3kIs7J3cgUY9yB5Ltj0yJB0IAIYAY2010AkjcsOBeHwGEAKKNFgJI1DP8hJUwUngGEnUIP2HxExZ3INyB8AwkxzrAMxD3X+MEEAIIAYQAQgDJsQ7YQtrefPPN5qGHHhJXWDCwfEXlfv31V7W+TKHxgt4LlU7JbNS5dNJ4bZAH5VGwz3wsbhovFFOhnOprkGjRFJRtvu/bt6/YVKbQeH398Hf+VFA1tb7Y1Hi1Mqmg8dp8pcVEt52BQN0Xn8d9LdNpvIcccojBFyLJsC5rDNm3337bzJkzRyyHzUSNGjXktW+PApuhOxDbC4ES79q1a73eWaao8Q4bNsx0795d7PvTTz9tEGNZsnTeRLc5Vvt1ZCsT90VCrxefI3Pv3r1N//79xeLvvPOOyqMHA0qSWLcBSGgfQy4S2tqClLsGgKF9TFe5VIgphgDI119/bcqWLSsWtcVEt7WV6VpYtnggtucC6Gh3ZgggCZ4LuQdCAHFffuIOKEUAcfd9JuQkgMTzFkLUeAkgCb7nDiSewcgdSLYfuQOJZ0xptRBA4vEvASTBj/yEFc/ACqmFAEIACRk3IWUIICFeSy5DACGApFWN1zZsCSAEkHiWtdxrIYDk7iOXHAQQAggBxGWm5JKHZyAxODGNVRBA4nF2gQYQG40XyowhImVQkDzooIOSvLtp0ybTpk0b0esQHSxfvryYZgtWb3uFGiW0WrVqKpUN4mUrVqwQqz311FMN+imZxsKCsKAW79hG0xw/frwB60uyhx9+WIxRjbxgMe3atctrZMMfzZs3F8vY+jh8+HADamWi4d1rSregEGoU3zVr1hgIcUoGReaGDRuKaQcffLAoZAglZCgv+5ptvIHyLDG+fNv4O7+NhdWzZ0+D+SkZ1JMPPPDA0GZjK/fBBx+IdSGOOq4BSIb7VJpYZa9evVTlbYimFipUKKlKKBB369ZNbAvq2dr8u+mmmwzUpiXTWFjIW7duXW//2eYRxDmleYRGXnjhBVO8ePGk9ooWLapSbm2dSysLy9tLfxUIkXMPbSukXKicu62tE044waxevTopyxFHHGE2btzo3c077rjDDBgwQCw3ffp0A7E6yXAHA78MfQxy3SNGjPApkpU3REwRd2zOO+8877ZsNF4AFu4YFUSzAQjkxsHblwxqx/hxkqmGMdqgQQOxexjb999/v5gGdWrtx4f2rPjxtnLlSjEZP8I0KX0wLjXpe6wRn376ab67FyEwSpYsGVs/CCAxuJIAEnUiASSGQRVYBQEk6jgCSNQfBJAc/rAFlAqcf0HFCCAEkKCBk4JCBBACiG1YEUAIIPyElWMM8BNWdLkggBBACCAJHuAZSLZDeAYSHRwEEAIIz0Dct7LcgXAHwh0IdyDqisEdCHcgBXoH4o6F0ZyXXHKJQehEHzvmmGPMd99951Mk17znnHOO+eijj3LNlzOD7QzkscceUymBtkagCFqmTBmvfqQz8+LFi80ZZ5yRzibFtkAXfuONN8S0gnAPRHMg4qGDTixZo0aNDFhkvgZfvfXWW17FTjnlFPPFF194lUHmLl26mNGjR4vlQMk9/fTTk9JC74Hceeed5r777vPuI3bzP/74Y1I5MCAhqCiZjYVl68C8efMMqLyJ9scff5giRYqIRUEzRlApXwu5B+Lbhkt+UMarV68uZt1LU+N1qVjKQwCJeoUA4jaSCCBufkIuAkjUVwQQ97ETkpMA4ug17kAcHZWCbAQQd6cSQAgg7qMl7zkJII4+JIA4OioF2Qgg7k4lgBBA3EdL3nMSQBx9SABxdFQKshFA3J1KACGAuI+WvOckgDj6kADi6KgUZCOAuDuVAEIAcR8tec+ZMQBSs2ZNkamAQzAtVq/t8XFA/e2334pZJkyYoKZpdUIk8pprrhGTX375ZTXko62PkydPNiVKlEjKYhNRs9UXGg+7Xr16YrVg0lSuXFlMO/roo81JJ53kPQKhFbRt2zavcjYAefzxx82TTz4p1texY0eV5QbNMEn/C8KXN9xwg1gf9IWg5SUZIi2uW7dOTNPey++//67qOyHcKgQEfe2ZZ54xy5cvF4tpgo+IxTNx4kSxzPr1682XX34ppj300EPmtddeE9MgSIjY4pJp423Lli0GY04yGwtr2bJlItMK9QwePFgUsgS7c9KkSWJbEOEMYXxde+21BvMi0Xbv3q1qfNWpU8doAq62dw8q96xZs7zGm03wE6K18KNk0A3D+icZ9PAgGCtZ7Cystm3bqmCgXST0nUB/57/11luzBo9koM2BPsa6814AACAASURBVOdjWPhCVFp92sivvFo8EBuAgMI5cuRI7y6DMorF1sdsAGKrB1TY9957T8wCCi3ioicaJpG28EENdty4cWJ9+HEBNWQfg6AjFk3JQOFt0qSJT3VZeXHpEoKKcRnA+corr/SuDhTwSpUqeZULFVO88MILVSCDKCl+hKbDQsQUcaVAA4J09PnvNp599lnTrl07scmhQ4caCCr6GgEkh8cIINHhQwCJ+oMAEvUHAcRtuSWAuPkpKxd3IB7OSmNW7kCync0dSHTgcQfiPhG5A4n6ijsQ7kDUMxDuQLgDsS2t3IG4AQ93IG5+4g7Ew0/pzsodCHcg2pjjDsR9NnIHwh2IOlp4BsIzEB6iuy+m3IG4+Yo7kAQ/gReshdQEHRexfCXTWFgIOzpkyBCxDOhjOFeRDFS82bNnu73FHLnuuecesQwkkseMGSOmhdJnH3nkEbN58+akOhGXGywyycBgmjJlivdzgUlz/PHHi+W0Z7axsEIjEkJ4UhK327Fjhxk4cKDYP1BaL7vsMjHt3HPPNaBCSvbUU0+pgnmhVGnN8aCzLliwwPu99OnTx7sMaJ9aXHFQf0G7lAzx0hEXO9HwPvBeJMMYeOWVV7z7GDeAgDWphbsFHV6jLiNu+OGHH57U/59//jmIeg9GYLVq1UR/2GKia+8Zc/Kqq64S68P6hXUsLjvkkENUNtVnn30WdF0C5BGN4ht0BvLwww+bm2++2fuZcWejVKlSSeW+//57tYOtW7fOCiDvaxiMGrhAObNw4cK+VQblD4mJjsncsmVL7/ZsMdG1ylJB49XawoQuXry493P169fP9OrVy7scKLxbt25NKlehQgWVDw+arnYXyLsDuRRo3LixmTZtmpgLz4x7AL4GH2MRSTT8KAG9Ok4LAZAZM2YY/CCI0zQAwT0xDWht7QNou3bt6gUgWE+wrvjaoEGDzG233eZbTM0PsFqzZo13fbHHRLf1gADi/n4IINm+IoBExw0BxH0e2XISQLK9QwBJGCncgbhPMu5Aor7iDiTbH9yBuM8j7kCivvrkk09MjRo1RAfyE5b7uArKyR0IdyDawOEOJGhKJRXiDoQ7EJ6B5JgWPAOJrhE8A3FfaHkGku0rnoG4jxuegST4iofoboOHh+hRP/EQ3W3cIBcP0bN9xUN093GTFb985cqV8jexvfYy2qU1HL5LlFbEjNZYXRBJA2tGMsRqBr1PsquvvtpAgVSye++910A9M9HKly8fJB5oc92cOXMM6KuJhvjJtWrVEouCLgrxOMk6d+5sLr30UjENaqv41eVjUArGjXPJ5s+frwrYQTkVn2B8TaOm2ii3KKOVA/27atWqYjcwriComGg2FhaEFOFjX8NlPGm84d2DFioZGGmaqCMYi6tXrxbLgQqtiX5qKrhQ28X49jXMS20sYv5J6sSgEWs0f8x/TY3XNgbAwtNYlfixWKhQoaRHgxIyvt/72rBhw8yNN96ozglcO0g0rHl9+/YVyyBuPOj8kq1duzaIhn7xxReLVHnbITrmkEbnb9q0qXrOUaVKFQNRUMmCzkB8X8jf+THB4LBEgzwyqLy+FqrGi18Lf/75Z1Jz4HjPmzfPtxux57d9wrr//vvNHXfcIbYJeiRokj52xhlnmIULF4pFoMSryZ4/8cQTBlLq6bDevXub/v37i01B0RaKvJKl8xAdHHtJ8hqLjTb5Qn331ltvGUx4HwsFEIwB7QcGFkZIuicaAET60eTT38S8LVq0MK+++mpeqnAuaztE1yoBhRc/CiUDwEEdPE7DmimBN9ZY3LeTrECo8dqcRABxG0IEkKifCCBRfxBA3OZRaC4CiLvnuAPJ4SvuQKIDhzsQ94nEHUi2r7gDiY4b7kDc55E1J3cgbo7kDoQ7ENtI4Q7EbR6F5uIOxN1z3IFwB8IzkBxjIJSFxR0IdyA8A3EHnqCc3IG4uY07EO5AuAOJeoCH6FF/ZPwhOhR3a9as6bbiOeZKp5iiY5diyQZ11EmTJsVSV26VPPDAAwaKq5LVr19fpbuCFSOptILLDyaWr4G2esUVV/gWC8ofeoiuNRYakTCo82kuBGowLhNmqoEp+P7774vdA8PwrrvuEtPwo0qjEx955JEGt9F9DHMWSs6+pqnx2u6BfPTRRwaS7r724osvmlatWonFjjnmGAP1cB+75JJLVJXv2C8SEkDcXw0BxN1XITkJIO5eI4C4+YoAEvUTAcRt3KQkFwEkJW79/5USQNz9SwBx8xUBhADiNlLSkIsAklonE0Dc/UsAcfMVAYQA4jZS0pCLAJJaJxNA3P1LAHHzFQGEAOI2UtKQiwCSWicTQNz9SwBx8xUBJMUAgrjmmg7S3nvvLYoRoks2QbQePXqIukAIOzp48GDxzUP4DsJhvla5cmUDMT0fg24RBAQlQ0xgxO2W7L777lPjGkNMcefOnWK5unXriv8Hi0bSGELma6+91rRv314s9+9//1uN2Y3QqRJPff369WbUqFFifUhDICLJINzYoUMHMW3u3Llm+/btSWn77LOPqV27tljmp59+Up/ZJqYIPa4yZcqIdWpjESKFENuUDMKHWqx621hCDG3EufcxvGew4CSzzaNKlSqpoYHBVJIEJPE+QnTeTjrpJAPKqK8hprtkEOaDAKZkzzzzjBk7dqyYBoaWxgpF0DmJeYb3oYlOQj9NY3ytWLFC1eYbM2aMyH7C2NZimy9dutR069bN+z0jjIHG3tJYWPvtt58azx3CnRdddJHYD1ye1EKHxx5Qyncw/Z0/5B4IHqpNmzbeTUK8DBICPoYJhoVAMqhzQqXT10ICSkE0Drz3dFgqxBRPPvlks3z58qTuH3rooQZAIdmbb75pzjvvPDEN6snYhUgGRWBt4qbDf3+3oV0ktPUB/Q5RNA65iR4akRA/Lq677jovV+IHExay/DbEQ9dUw219w1wfPny4mAVrBKi8+W0h90Cee+45Ayqvr4GRW716dRkA92ja676tOOQngGQ7CTL1GzduFL1GAIm6hQAS9QcBxGGxMcYQQKJ+IoC4jZusXNyBuDmLOxA3P+WWizuQbA9xB5LbaMl7OncgOXxoiwfCT1h5H2y2Gggg8fiXAEIAiWckudVCACGA8BNWjjHAMxC3hQO5+AnLzVf8hMVPWFnMAB6iu02YkFzcgYR4LbkMdyDcgcQzktxqyfgdCKiACxYsEJ+mVKlSWQdUvoZ4vRBUTDRQ0hBnXTKcZWgMHFv7tpjoWjkwhzTGSffu3dW4xrZ+IH65JHoGRtJLL70kFv34448NYo5LZqNQgy6osZy0PuI9Ig64ZLaY6KBOgk4qGai10nvGHYVNmzaJZfCrWosdDjojYmJLBsqtRk/VqKS+49YlP2jvWsxxLZ47/HvLLbe4VB/JE7IDwfvQxC9tdG1bTHSNaozwriHsMm9H5FIA68rTTz8t5jrqqKPU94X45drcBI1eojVjXtapU0dsa8uWLWrIBBCLwNT0NY3Ga4uJPnXqVNO2bVvfprLiyteoUUMsp8YDQaFatWqJhSC8NXToUO+OhLCwvBv5qwD401DBjMvA43700Ufjqi4l9YTERLd15PrrrzcjRowQs1x55ZUGirw+ZgOQ0E9YtvYRixx3e9JhmR4PxOYDvEe8z3+SpfMiIX4Ea+CCH0ADBw70dn3G70AIINF3SgCJ+oMAEvUHAcR7DczXAgQQd/cH3QMhgBBAuANxn2QEEHdfZUJOAoj7WyCAuPtKzckdCHcgtmFEAIlhkqWxCgKIu7MJIO6+IoDk8AB3IO4DhwDi7qtMyEkAcX8LBBB3XxFACCBBo4UAEuS2fCtEAHF3fRCA2ELagtr30EMPiT0AVQyTycdsyqO2NJ82XPKuW7fOQG1TMoiJNW3aVEwL6eMBBxwQpPqKeNJgdUgW0g+bX6Bkqgkchhyi28QUoYCqxZUHu0xjsdj6nwksLNDhfVWhcxurNhrvgw8+aHbs2JFbFbGkjx492oACXBANyrSgoksGOrkmqqrFREc9ffr0Eetbu3atmTBhgpgGpiuUgeOyQw45xIAlK5lNC6tJkyYqVfeaa64xUCMX1xxNTDH0EB08Y4CIZN98840BlTfRcE8CvOY4DRReTTpca+fTTz9V5Z/j7BvqOvLII82GDRu8q73jjjvMgAEDxHLTp0839evX964zpEAIgNhovCF9yK3M/yqAgPLcrFkz8fFD4oHgXT7++OO5uTMpHZdQNTl678oyqACkzbt27Sr2CD+qsE7kt2HNLFmypFc3nn32WdOuXTuxDK5laMBjayT2eyAEELd3SgBx81NechFA3LxHAIn6iQDiNm6QiwCSw1fcgbgPHO5Aor7SzkBS8QmLOxD3cRqSkwDi7jUCCAHEfbTkyEkAIYDwE1bQ1ImlED9h5XAjz0DcxxTPQNx9xU9Ybr7iJyx+wuIZSMJc4SG62+IRmos7EO5AuAMJnT15L5fxOxAbjRdMqjJlyohewCH6qaeeKqbVq1dP9ZymWAog0NR4u3Tposb4BW1OUoRFB7S20nkGgn7UrVvXeySB8qexyyZOnGhWrVrlVWfZsmVVNV6E1tXo2iFqvLZntlGQO3XqZDp06OD1XMgM+izOIBKtdOnSQawjWx9B+9x///2T2oKYI3ZCkoESOmjQIO/neuaZZ8SY86gIO9R99903qU7MBagkSwZl2lNOOUVM69Gjh7nwwgvFtHQCyP33329q1qwp9gNj8eeff05Ks6nxIh496pQMc0JjhWpqvLaxsWzZMgMlC1+DCvXZZ58tFsO8lMa2Ta0b1OWLLrpIfWaNqmvrt3oGYgMQW4XgGl988cW+vlLz2+KBQMUSapaSwfGzZ88W0yA3Xbhw4aS0dANIiJMeeOAB07NnT7FoiBpvKuKBYDH66quvQh5PLGOTc7c1UqxYMbN169akLBUqVDCY1Okw2yE6fgy888473t0Ahfftt98Wy0HOH/dtEg3vQwMJWwdGjRqlhjhIJ4Dgx8wFF1wgdvWII44wP/74Y1IaZNK//vprsQzuHOEyoa9hjahatapXMfwIhjq4r7344oumVatWYjFNzt3WxiWXXGKmTJni2w1rfgJIDvcQQKJjZeTIkeaGG24QB9ATTzyh/qIlgGS7jAASz3pFAIn6kQDiOK64A4k6ijsQx4FjjOEOJNtX3IFExw13IO7zyJaTOxDuQNRoadyB5H2ScQeSdx+iBu5AuAMJGkncgXAHwjOQ6BjgGUjUHzwDcVtaeQaS4CceokcdwkP0qD/4CYufsHiInj0G0gogNkzDpRPQ+ySDYJdv4PZUXCR0w+RoLgilzZ0717voZZddZkCtlAwDGGyQgmhg4CAmSFyWipjojRs3NqBk+thpp51mli5dKhYZP368gfpoOgx9nzZtWjqaMl9++aUpX7682BbovSBFSAaqPFR3JVu0aJE5/fTT09L/Fi1aZH3G8rETTzzRrFy50qdIcF4wO4sUKSKWByNUU9AGjfu2227zble7BwLBWtDUJcO6jPU5TlPPQGyNEECi3iGAuA1JAkjUTwQQt3GDXASQqK8IIDn8wR2I+0RKZ07uQFLrbQKIu38JIAQQdbQQQNwnUjpzEkBS620CiLt/CSAEEAKI+3zJiJwEkNS+BgKIu38JIAQQAoj7fMmInASQ1L4GAoi7fwkgBQxAcAFqwYIF4hueM2eOQVxmye655x5jE02UymzatEkV+YK2j8aYsYme2YbmzJkzxWQI4uHZJPv+++8N4nZL9tJLL6mhPREmEnGKEw2MDcRD1vyhPTMYXVJYYNSD8KKSqJzNFwceeKCBqJ9kNjHF5cuXG8SQ9zHbITr8fvvtt4vVNWjQQNUSAoNl3rx5Pt0wNi2sN954QxU4tAnVaR34888/DbSQJAPrD1R0yWzifJUqVTLwpWTQfwMjKNGgFYVASZJB06ply5ZiGkT7XnvtNTFtyZIlBgJ9kmmCpbbnsqVBwwlMMsm0+ZwKFtb8+fMNBDITbc+ePaZv375i/8BUe+SRR8Q0PBd+qPmOgVtuucVg7ibaDz/8oLJg00rjDY2J7jWTHTKHXiS0VQ0hRUzsRMNCqi1Gw4YNM927dxerffrppw2YWJJhwV+9enVSEi4/bdy4USzzyiuvqBMaCqJQXJUs7nsgNh+mU8797rvvNrhMGJfZaLxxtfF3PTY13tC28OOtadOmYnEIKW7evDkp7eSTT1YXYFB4r7rqKu/uaDTenTt3mv3228+7PluBuG+ih3YOawRAJNGwpkjAHdpObuUyXguLABJ9hQSQqD8IILlN8f+XTgBx81NuuQggUQ8RQHIbMX+lcwcSdRR3II4Dx5KNO5Coc7gDcR9T3IFEfRV7THT3V+GWkwBCAOEnrOgY4CesqD9CtLDcVp/kXAQQAkhWMCmegfy/gWALKGWbZPyE5bYE8ROWm59yy8VPWPyEldsYEdO5A+EOhDsQ7kAIIAUMQL777js1VjZiEzdp0kRc8KdOnWo+++wzMe3mm2/OilOdaPiVNmTIELFMKO3PhlYa3c4mpgiRxTfffNO7j6DvSawYGwsLwX8mT54sttWwYUM1TvKTTz4pMr5QkfbMiIcNwTzJ4I/zzjtPTAvZgYAhBFq2r8UNIPC9FmnR1jfcRahcubJv9w2o7ZJBaBMMPsnq1Klj6tev7z3etPly+OGHmxtvvFGsL/QMBEKbRx55ZFKdtjlrcx4EB6dPny5mATNRi80OQcJt27YllQPVWWNOgoKMkLGSNW/e3IDSL5n2CQt5QeWVDPHoJ0yY4D1ubAWwXkrhmnFl4KabbhKL4uyvTZs2YhpCJCOMuWQQF9XipQeJKdoeDIqPABHJoBQp3WHAHQutg61btzbYhUiGeOiDBw+O7cXYaLy2RhBbGRHOfAwTb8OGDT5F8pQXtErQK30MC8SIESPEIiEAYrsHYutX3ADi44OceaHUe/XVV4cWTyqHeOjaD7HevXube++9V2wrJB6IrdP44YH3GZdhrG3fvt27OhBE7rrrLrGcDUC8GzImC7g7dOggFgXjUgPbkDOQ0JjoIc91/PHHmzVr1ngXxX017a4KGLk1atQQ6ySA5HALASQ6RgggUX8QQNzWJQJI1E8EELdxk5WLOxA3Z3EH4uYn5OIOJOor7kDcx46WkzuQqGe4A8n7mMqS9PCVxUCz/ITl5nx+wor6iZ+wov7gJyy3eWTLxU9YCd7hGUjeBxVq4BlI3v3IT1huPuQnLH7CchspQi5+wnJzHT9hufmJn7CS/cRPWO5jh5+w3HwV+yeszz//XKU62lRJUQ6KkJKBzlaqVKmkJKi6Hn300WKZiy66yDz//PNi2qpVqwzqlKxbt25m2bJlbt77KxcoxrhYJxn6gTol++KLL1RGFUQWETBLsrp164r/t/nXlvbwww+r/Z81a5bZvXu3lz8gGqcpscatxmvrGFglGrPERhk9//zzRXqnrS1QOMHuk+yUU04xJUqUENMgRiiJZtr6B3o3FJQlw7mPRr0GtVqjlEONWVJ/xjy54oorxLZsarw2X2nPVqhQIVU92VbfAw88YO68804xi+0eSKtWrUQVauhFaexI2xmITeX72muvFdcqmxovriloyuY2f0BAFPHUJdN8DxV1KChLBrFVjCvJEDseVzckq1KlijnooIPkfuxRyMvgBOO+R5ymAUgojdfWt3POOUeV0Q55JoDHo48+6l0UktIAunTYjBkzvKX0bf1KZzyQVPgHg16S3ra1Bc772LFjvbsDjr12/8m7sr+IAxqAhOxAIIVevnx5sSsdO3Y0uAuS3xZ6BhIiZQJgwdmlr3366aematWq6qLuW58tP+6pABx9DFclSpcuLRbB16Fnn33Wp7pc86o0XgJI1HcEkFzHUq4ZQg/Rc61YyUAAyXYMASQ6SAggobMqWo4A4uhHAoijoyzZCCDuPrR9wuIOJOpH7kCy/cEdSMIcs7GwbNORn7DcFystJz9hufuQn7DcfaXl5CesqGf4CSthpPAMJO+TzFYDz0Ci3uEnLH7Cgt6YZPyEFc9axE9Yjn7kJyxHR/ETVt4dxUP0JB/atLD4CSsDP2HZZgHoolDW9TVtB2KrB9s4UGh9DfoztWvXFouBApffZrsHks6Y6KF+gACfRgtF/G3QfBMtU9R4bREJx40bZzp37iy6BWmdOnUKdVnGlrOp8Y4cOVJVaw55IOySQSeN03BtAGrDiYbdByi5vmYTU4RCNZhYmWq2m+hgYLVr107s+tChQw3ugvhakJgiAcTXzcn5CSDuPoxbC4sAEvU9ASTqDwKI+9wkgLj7KtacBBB3dxJA3H0VkpMAQgDhDiRh5vATVshS4l6Gn7DcfZXpOQkgBBACCAEk69syvjGnwwgg6fByetoggBBACCAEEAKI43rLMxCegdiGCs9AHCfS/w2VHXQGAnHDxx57TGzFJh7Xo0cPUZTLVgafohDeUzKb6BlCj0rhc1EPQoVKwoI2oUIIPkrMItRXoUIFkQWCNMRS37FjR1L3bWcgEDDU4j9DcK5nz56iPxo0aKDGlHYfEm45J06cqIYEhegg4ronGu5lgGEmmW0MfPDBBwZ/koUIT5YpU8Y8/vjjYn02FhbiWkM0UTLEkZHichcuXFgVxIPwoSamaHsLlSpVMrjVL9ns2bPNH3/8kZS0//77q3G+EQ97wIABYn0QpEScHJ93ZnuXixYtCmJwVqxYUX1mjCkIoSYa5mz79u3FviOcNORdJLMByHXXXSeObds4DBVTtI2BWrVqmX322ScpC8Q+p0yZIhZFqHHoYUmW1h2I2xKTnAsUM009N6TOQYMGmVtuuUUsChVLTCbJMMEwsX0Mg6p79+5iESh7QnVXshNOOEFUaQV3fePGjWKZgk7j1QDEx98580KVtFevXqHFvcqF0njxIwJK1IlWrFgxA4VUyWwBpWydhhIv5EwkA1UaKr+JBmq1tmDa2kJYYygS5LfZ1HhD+hYakTCkrVSEtIXCd8mSJb26kzE0Xq9e58hMAMl2BgHEfRQRQKK+IoC4jx0tJwEk6hnuQBJGCncgeZ9kthpsh+jcgWR7jjuQeMYhdyBRP3IHEsO44iesqBMzhYVFACGAxDC9I1UQQAgghp+w+AkrZGHhJyx+wiKAEEAIIDnGAM9A3KGEAEIAIYAUMAABc0SL44u45gjVKhmYKBq7CBpaEkPERoH76aefzNKlS8W2wBDRaGmgXGqML40SCrod4oBLBprmG2+8Iaa1adPG4G6BZFpMdBuN9+OPP1ZjQyMm86WXXiq2BZq09s5mzpwpljnggANUmub69etFyiIqQuzqRo0aiXUOHz7cQOAu0Wz0TlBalyxZItYHAUMt/Kitznr16on1gW6L9ykZ3vHgwYPFNBuNV4uJDv9q4+bdd981jRs3FtvCbl0LTdqhQwd1/g0cONBs3749qU5Q2kG9lgzvWWNovf7666p4IMaaFjK4bt26Ylu292VLw5gvV66cWKf2nnfu3GkQWVUy+B7xRySz0XixPkjPbOv72rVrzfjx4739gbVUmkeo6IUXXhBpzbnR4bUwybEfon/yyScGXGPJoNqIBiXDgg6+sWSIlqXdzRALGGNSocartYVFpVq1amLyjTfeaDCwJMPihvgCPmYDEJ96XPMWLVrU/Pbbb0nZTz/9dANuvmShAaVwB0Sb7Fp/33rrLdO8eXPXx3HKh4l+4IEHJuVF7HIN8G0VYxHA/aK4zEbjxd0n3FeSLCQioa3PoTfRMXYk0MdYk+4+5cVvuBeF+1GS4QcrdvSJtmrVKhVobX3BHbeuXbuKWULUeBHcbtasWd6PDxVyrH/pMPy4v+mmm7ybUi8SEkCiviSAuI8tAoibrwggbn5CLgKIu69CchJAErxmE1PUHMwdSNQz3IFE/cEdSNQf3IG4LdXcgST4iZ+wog7hJ6yoP7gDcVtYuANx8xN3IO5+Cs3JHQh3INaxwzOQbPfwDCQ6VHgGEvUHz0DcYYhnIDl8xU9Y/IRlmzr8hMVPWDxEj44BFUBAf6tZs6Y4n/B/jX4IBpYkKoeK8OlLUs0MpfbZytnUeLVFAvIAY8aMEZNtbb300ksqBVVrC+qot956q5iMm9xa7GLbAgd5kdWrV7v/fDDGQL2zS5cuYhnEfgaNUzKbP7p162YOO+wwr36sWLFCZbLZ2oKmEWJfSwaqsaRYCtYOYn1LVrlyZVUJ2dYPsHYkJpDNCej3U0895eUnZLb1A0rN2G36GFh4L7/8sljEpsaLMzJQgBPN1j8oIXfs2FFs68MPPzTvv/++mDZ58mRVDVuLiQ5q+COPPOLjiqy8YANqbEysD1gnfJ7Z5g9b5yB+GCKA6f3AxmSxamONiW4DkJAOhpYBlQ3y8flt2NZiYUyHtWjRQp3Qtvbr16+vyp6DVum7sKTjWfPaBn7IgNMfl11zzTVm7NixYnW4j4K7IJItW7YsS9Y/LgOFt0+fPmJ1NjHFuNrPSz0Ya/iBJBnG6PTp08U0hCoA6PuaBiC+9aQqfyrUeOPua+xnIASQ6CsigMQ9ZOOpjwASjx/jrIUAEvUmASTO0eVZF3cg7g7jDsTdV1pO7kDy7kMCCAEkSwJAOwPJ+xBzr4EA4u4rAoi7rwggefeVVgMBhABCAEmYHfyElboFJy818xNWXryXmrIEEAIIAYQAkprVJeZaCSAxOzSG6gggBJCsOM6asmvctFtbfaBGauyW0aNHG9D7JIPwYcWKFcW0Bg0amD///NNrqqxbt06lEXpV9FdmxK7WhNKWL19unnnmGbFam3IxFGGh4iqZpli6cuVKg+/+krVs2VKl9g0YMMC8/fbbYjlQa4899tgQt3iXadKkicGN7rgMtGbED5cMVGOJwom81atXF1luNjVeW58hPKpRsitVqiQqsaI+aEZpMdi19po2bWpA/5XsoYceMpBSlwyMtBNOOCEpCSq4++23n1gGQc80qi7UsyGAKJltjYB68tatW5OK772RyAAAEK9JREFUHXPMMd4ip6gE1F9Q833MNi8h6qmtpT5tuOTF+NXWRJsPy5YtGzRn1XsgLp3N7zy4R6FJb4NTjrC22mDM777b1HgxYUHl9bUZM2YYDSi0unAHAHcfJMP9EO2+BLj8mjw4uOvaIuz7TLnlj3sHklt7vukHHXSQ2bJli2+x4PzFixc3uP/gY1deeaV5/PHH1TGAH2qSYexADyvRQncgPn3OmRc/Mn/88cek4gA37Y6QrS3Q9fHJuiAafkCuWbMmbV0ngKTN1dGGCCDxOJ4AEvUjASTbHwSQeOaYrRYCSOp9LLZAAInH8QQQAgh3INljgDsQj3WFn7CizuInLI/Bk6as/IQVdbTtJnroKyGAEECCxg4BhADCHQh3IAQQAggBJIcHeIjuPhwIIAQQAggBxH3FiCFn4cKFRRrvmWeeaSDpLlmmXCSE2BxE5wqi4YB306ZN3l2/++67Tb9+/bzLaQUQD33p0qWx1YeKUCfijMRleOa+ffuK1UEtFjHkfQwKz1988YVPkeC8NhpvcKWWgpqYIhhYoKdKdtlllxnQzSVD+Orhw4d7dRVryh9//OFVJrfMccdEv+SSS8yUKVPEZqHEqykXI7x5jRo1xHIF+hA9txegpRNAQj2Xt3IEEHf/EUDcfUUAcfMVAcTNT7nmIoDk6qKUZCCAuLuVAOLuKwKIm68IIG5+yjUXASRXF6UkAwHE3a0EEHdfEUDcfEUAcfNTrrkIILm6KCUZCCDubiWAuPuKAOLmKwKIm59yzUUAydVFKclAAHF3KwHE3VcEEDdfpRVAMkVMMVS4EfpOUvx1uFoTU4QAoCYsiJjRGksBYo+HH364+Ba1/u/atcvMnj1bLGMLaTtu3DiVPQJm0U8//eQ2mv7KBbE/sM8kswnEQfARApOSgbGx7777JiUhzOltt90mlkEMdU38EjpNiPcuGULJ+jK78L5QTjI801dffSWmgckEsTrJ4mZhXXHFFQbimJJBaBP+93lnxx13nKpdhrjmWuztcuXKmaOPPtprTCGzpskWOp9t5W6//XZRvBHP1b59e7HvDRs2NHfddZeYhnmuxYi3OWLPnj1iMrTQFi5cKKbhvUiClMgcwsKCiKUWzx3zC3VKBmFUxICSbMSIEebUU08V01QWVqYElPIeuX8VQBjJ2rVrexX/9NNPzVlnneVVBpknTZpkLr30Uq9yGzduNEcddZRYBoqqr7zyild9yAylU9xG97EzzjhDHdy2ekLEFAFuAArJmjVrZhDr29dC7oHYaLwA6M6dO4vdQBrioksWN4DY/AAKLxR047InnnhCBSuIaUJUM5MNskDYheS3aQACYdc6deqI3cNl6IEDB4ppIQBikzJ59tlnTbt27cS2hg4dqipv2/xKAMnhHQKI+xQkgER9RQBxHztx5ySAZHuUABLT6OIOxM2R3IFE/cQdSNQf3IG4zSPk4g4kh6/4Cct94PATVtRXWjwQfsJyH1P8hOXuK+5AuANxHy2OObkDcXMUdyDcgfAMxG2u5JaLOxDuQHiIntss+SudZyA8A3EcKinPxh1IAduB1KxZ04D9EpeFUvvee+89lQprC2l77733mt27dyd1H/Gux44d6/1YYEvgEFWym266ySD+eaJt27bNDBo0SCwDuqjGlrB1LoSFBSaYxrIBI+28884TmwTNESFNJUNIUIlthVCnDz74oFjmpJNOMhC487UQFpaNxovY1VoMcNCrtfC/tkP0Pn36+D6WNf/ll1+uigTCv/BzooFmDpFAydK5A0Gcd42Sfc4552RR7CVDnG+NXq2tH5s3b1ap9zYHgxGoUWHHjBmj0te1HQhivSN+vGRgijZq1EhMa926tRqbvUePHqZYsWJJ5ULXUrD6NMFEm69UFhYUGGvVqiWWhXIjaF/5bQUhHsiqVatMmTJl0uKqEACxdez666834IBnsoUASCrUeAFKn3/+eZKrMMlxpypdhh8rWDgTDTHqtbse6QSQ6dOnqyBxxx13mPvvv190Fajtr732mpgGSjwk3RPNpsZrex/Dhg1TwRZ3pubPn59UPBVqvDYA+f7778X7Od98840pXbq0+Hht27Y1oPLGaQSQOL0p1EUASa2DCSBR/xJAsv1BAImODQJIwlrEHUjUIdyBuIEVdyBRP3EHEvUHdyBu8wi5uANx91VQTu5AgtzmXIg7EO5A+AkrewzwE5bz0mEMdyDcgRBACCAEEAKIB2xkZyWAEEAIIAQQAkgGAojtJjooZEOGDBEXfcRx1gT9NIqZTfW1bt26amxoqHBqQmQ2Gu/MmTNF2QHQBDVKK6i6Gg3SRp0DNa5o0aJeAPnxxx8bxD6X7Nprr1WFG0GBBMtFsmnTppkiRYokJa1cuVIVD4Q68YknnijWh/5pVG4oyYK6mGgHHXSQSpGdM2eOwfuUDAKGHTp0ENOaNGli3nnnHS//QhU4RDTTNk7BzNm6dav4zFBj9bWJEyeq1E9bP8BkkpSQf/zxR/PYY4+J3YBqrUaRBb1aU+MFNVVTktWeF2sDzuokg46TxiCCWCmUgSXTlH9BGfbtH+oPOQNBOaxVktnel23tAKtPE4nElYOSJUuK7X3wwQfi/1Hfc8895zsUs5iY3mq8oTReaM6HdFJ7Kizczz//vJgcugPR2po3b57K/wZ4YGClw6DE27JlS7Ep0ByxSEhWv359ow0e3A2QgGzx4sUGt9F9DVx+AIVkoIxKcuNgCGly81Di1e6c4N5O7969xbZCdiC+z5qX/ADNEADp16+fQUwQX/v555/NIYccklQMAIH7RXEaxk6lSpW8qrQBiK0i3M254IILvNrC+aP2A8hWEYC2a9euYhb88IDoan6bDUC0vmFdxvrsa9hMVK9eXSwW+yE6AcT39STnJ4BEfUIAcR9TBJBsXxFAouOGAJIwj7gDiTqEOxD3hTZdObkDiXqaO5B4Rh53II5+5CesqKP4CSvqD37CivqDOxDuQPgJK4cHCCAEEH7Ccvy1ZYwhgBBACCAEEB6i5xgDBBACCA/Ro2OAn7Ac50Q6dyCOXUp5ttBD9JCOpYKFFdKPUBZWSFu2MuPHjzfXXHNN3NWmrT5tB2LrABh1V155ZVr6CArv+++/L7b1wAMPqPR1W+dAdYXacKLZtLCg/Pz000+L1UJNWqM8hzgJKsOzZs0Si0KR+7bbbgupVixjC2kbWyM5KiILKxVezWOdBJCoA207kDy6Oqk4ASRuj0brI4BE/UEASRhvBZnGm9qp4147AYQA4j5aojm5A8n2B3cgoaPIvRx3IO6+SltOAggBJHSwEUAIIGvWrAkdPt7lCCDeLkt9AQIIASR0lBFACCAEkByzh4fo0aXEdg8kZNHhIXrUazwDCRlF7mV4BsIzEGMLacszEPfJpOXkDoQ7kNBRxB0IdyDcgeTTDgQiaSEqrZMmTVIVckMWAnDeW7Ro4V0UMhGaMql3ZXkokE4xRVs3ISPy66+/5uFJ3It+9tlnomIp4qEffPDBYkWNGjVSlYTBPOvTp49YDpTnZs2aiWnFixfPukwYl40aNcpcd911cVWXpdStqfHaGrHdAznyyCNV1dqQjtvEFENiokMZvE6dOmJXIMekKYrj68uLL77o9Qg2Gi+1sBJcGbcWFgHEa6yqmQkg2a4hgESHCQEk6g8CSMIyUpA/YRFACCChHuAOxM1zBBACyP/sGQgBxG0RyC0XdyDcgWhjhABCACGAJMwOnoFEHUIAIYAQQLI9wDOQhNHwv8rC4g4kt72FWzoBhABCAPmHA8j/ckx0bXAj7KfGOFm3bp0YphV1IdyqL7PEFgsZ4YS1mOgI0YlY5ZJdddVVBiyMuMzWR1tax44dxZjoYAht2rRJ7J4tJjpivUOQTrLTTz/dIFSuZAiRu23btrjcYVasWGGggioZ4k2XL18+KWn79u2mefPmYhkw/qCFJJktpO1bb71lmjZtKpY77LDDxLDB++23nxqu2eagHj16mAsvvFDMgh9cUhz4QoUKqe9r4cKF5uabbxbrW7t2rUEUQclsLKxWrVqJzLOdO3cajCvJwNyS3hfy4n1Vq1ZNLDdmzBhxDOyzzz7m3XffFcssXbrUQKBRsvbt26trDkIaayKMM2fOFOuzsbAQ7vqee+7xng9pjYnu3bs8FIibhWXrCqh92iDIwyN4F4Viac+ePcVyADF8Y85UswGIrc8A6P79+4tZ3nnnHQM6bDqsU6dOZsKECWJTy5YtMxUqVIitG6E0XoDp5s2bk/qBXeGXX34ZW/9QEcB7yZIlSXUWLVrU7Nixw7stXJK96667xHK4G6UBmdZQqBbWjTfeaIYPHy5WO2/ePAMqb37b0UcfbfCjNtGOO+44880336Ste7FLmaSt58YYAkjU2wSQ1I4+AkjUvwSQ1I43W+0EkBh8TwAhgHAHEh0D3IFk+4M7kBgW2Vyq4A7E0cf8hOXoKEs2fsJy9yE/YUV9xU9YUX9wB+I+l9Sc3IFwB8IdCHcgPAPJ9gDPQDyAhQBCACGAEEAIIBkIIDYab82aNU3jxo09lnp71lC66HvvvWdmz54tVo7LO2effbZXH0HRBE1PstA+ah0AvXTw4MFi8imnnGIgCSNZw4YN1efKlEN0sNXwucrHTjrpJIM41ZKBzghaq2SgTsInkoGx9ttvv/l0w1SpUkVl+4BKumDBAu/xoXUAlOwOHTqIyaBpaoy6yy+/3JQtW1Ys9+CDD3ozoM444wzTsmVLsb7XX3/dgK4rGYQWN2zYkJQEyjDoy5KtXr3aIAa7ZJiz06dPF9PatWtnwCSTDDHF999//6QkUILhY8kqVqxoWrduLaZBrBJsK8k6d+5s8Pko0UBdBltQsm+//VZl73kNTofMtnXKVhy08Bo1aji0EM2inoHYAMS7lXwo8NFHH5natWt7tYxBo/G/Qe0bNmyYV322zBs3bjRHHXWUmAV0RXzz9bVMARDcpylXrlxS93/66SeDewqSQV0WE1eyUBpviBrvNddcY8aOHevrenPaaacZ6GH5GH6ETZs2zadIcF5QeLV7D7i388QTT4h1d+nSxYwePdqrXRuNN1TKxNaBH374wRx++OFJWWwA4vVAjpn37Nkj5sRapN1jcqw6KRt+7JYsWTLp/6Dwli5d2rvaoUOHZimM+BoBJIfHCCC+w0fOTwBx8yMBxM1PueUigGR7iACS22hxTOcOxNFRKchGAHFzKgHEzU+55SKAEEByGyPe6QQQb5fFVoAA4uZKAoibn3LLRQAhgOQ2RrzTCSDeLoutAAHEzZUEEDc/5ZaLAEIAyW2MeKcTQLxdFlsBAoibKwkgbn7KLRcBJAMBBKE4QyiLIXTXkDJwma1c5cqV1VjU2oBE/Oz58+eLyVDA1aiTuQ1wLR3qmJKBUQJWj68tXrw41njYoe+levXqBlROybRnBjsL1ErJ1qxZY/AnmU2NFz8idu3a5eVGMFs0uqitIhAwJOVfmw9Bda5UqZJX/0Izg1Y7d+5csXiJEiUMqOOSLV++XFUg1vpiU+OF0OOiRYvEoqHjrV69emJ9UOMFmzQdtvfee6txz7ds2WKgQixZ3M+MNrQ5ZvMD1jZN5dtWTmVhpcPpbIMeoAfoAXqg4HqAAFJw3x17Tg/QA/RAvnqAAJKv7mfj9AA9QA8UXA8QQAruu2PP6QF6gB7IVw8QQPLV/WycHqAH6IGC6wECSMF9d+w5PUAP0AP56oH/A8KXTtC/qEL6AAAAAElFTkSuQmCC" id="231" name="Google Shape;231;p12"/>
          <p:cNvSpPr/>
          <p:nvPr/>
        </p:nvSpPr>
        <p:spPr>
          <a:xfrm>
            <a:off x="2699792" y="771550"/>
            <a:ext cx="3528392" cy="352840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 name="Google Shape;232;p12"/>
          <p:cNvSpPr txBox="1"/>
          <p:nvPr>
            <p:ph type="title"/>
          </p:nvPr>
        </p:nvSpPr>
        <p:spPr>
          <a:xfrm>
            <a:off x="-252536" y="108878"/>
            <a:ext cx="9361040" cy="57150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205867"/>
              </a:buClr>
              <a:buSzPts val="2400"/>
              <a:buFont typeface="Microsoft JhengHei"/>
              <a:buNone/>
            </a:pPr>
            <a:r>
              <a:rPr lang="zh-TW" sz="2400"/>
              <a:t>113學年度AI人才培育班-Python精緻旅遊-基礎入門</a:t>
            </a:r>
            <a:br>
              <a:rPr lang="zh-TW" sz="2400"/>
            </a:br>
            <a:r>
              <a:rPr lang="zh-TW" sz="2400"/>
              <a:t>【 滿意度調查表 】</a:t>
            </a:r>
            <a:endParaRPr sz="2400"/>
          </a:p>
        </p:txBody>
      </p:sp>
      <p:sp>
        <p:nvSpPr>
          <p:cNvPr id="233" name="Google Shape;233;p12"/>
          <p:cNvSpPr txBox="1"/>
          <p:nvPr>
            <p:ph idx="11" type="ftr"/>
          </p:nvPr>
        </p:nvSpPr>
        <p:spPr>
          <a:xfrm>
            <a:off x="5981720" y="4869656"/>
            <a:ext cx="2876560" cy="273844"/>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zh-TW">
                <a:solidFill>
                  <a:srgbClr val="76923C"/>
                </a:solidFill>
              </a:rPr>
              <a:t>Kaohsiung Medical University Chung-Ho Memorial Hospital</a:t>
            </a:r>
            <a:endParaRPr>
              <a:solidFill>
                <a:srgbClr val="76923C"/>
              </a:solidFill>
            </a:endParaRPr>
          </a:p>
        </p:txBody>
      </p:sp>
      <p:sp>
        <p:nvSpPr>
          <p:cNvPr id="234" name="Google Shape;234;p12"/>
          <p:cNvSpPr txBox="1"/>
          <p:nvPr>
            <p:ph idx="12" type="sldNum"/>
          </p:nvPr>
        </p:nvSpPr>
        <p:spPr>
          <a:xfrm>
            <a:off x="8715404" y="4869656"/>
            <a:ext cx="428596"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r>
              <a:rPr lang="zh-TW">
                <a:solidFill>
                  <a:srgbClr val="31859B"/>
                </a:solidFill>
              </a:rPr>
              <a:t>5</a:t>
            </a:r>
            <a:endParaRPr>
              <a:solidFill>
                <a:srgbClr val="31859B"/>
              </a:solidFill>
            </a:endParaRPr>
          </a:p>
        </p:txBody>
      </p:sp>
      <p:pic>
        <p:nvPicPr>
          <p:cNvPr id="235" name="Google Shape;235;p12"/>
          <p:cNvPicPr preferRelativeResize="0"/>
          <p:nvPr/>
        </p:nvPicPr>
        <p:blipFill rotWithShape="1">
          <a:blip r:embed="rId3">
            <a:alphaModFix/>
          </a:blip>
          <a:srcRect b="0" l="0" r="0" t="0"/>
          <a:stretch/>
        </p:blipFill>
        <p:spPr>
          <a:xfrm>
            <a:off x="2522984" y="870019"/>
            <a:ext cx="3810000" cy="3810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txBox="1"/>
          <p:nvPr>
            <p:ph type="title"/>
          </p:nvPr>
        </p:nvSpPr>
        <p:spPr>
          <a:xfrm>
            <a:off x="311700" y="1715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Hello World!!</a:t>
            </a:r>
            <a:endParaRPr/>
          </a:p>
        </p:txBody>
      </p:sp>
      <p:pic>
        <p:nvPicPr>
          <p:cNvPr id="241" name="Google Shape;241;p13"/>
          <p:cNvPicPr preferRelativeResize="0"/>
          <p:nvPr/>
        </p:nvPicPr>
        <p:blipFill rotWithShape="1">
          <a:blip r:embed="rId3">
            <a:alphaModFix/>
          </a:blip>
          <a:srcRect b="0" l="0" r="0" t="0"/>
          <a:stretch/>
        </p:blipFill>
        <p:spPr>
          <a:xfrm>
            <a:off x="770550" y="890975"/>
            <a:ext cx="7886751" cy="40666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Python 基礎介紹</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註解</a:t>
            </a:r>
            <a:endParaRPr/>
          </a:p>
        </p:txBody>
      </p:sp>
      <p:sp>
        <p:nvSpPr>
          <p:cNvPr id="252" name="Google Shape;252;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zh-TW"/>
              <a:t>註解是給人看的，電腦會予以忽略</a:t>
            </a:r>
            <a:endParaRPr/>
          </a:p>
          <a:p>
            <a:pPr indent="-342900" lvl="0" marL="457200" rtl="0" algn="l">
              <a:lnSpc>
                <a:spcPct val="115000"/>
              </a:lnSpc>
              <a:spcBef>
                <a:spcPts val="0"/>
              </a:spcBef>
              <a:spcAft>
                <a:spcPts val="0"/>
              </a:spcAft>
              <a:buSzPts val="1800"/>
              <a:buChar char="●"/>
            </a:pPr>
            <a:r>
              <a:rPr lang="zh-TW"/>
              <a:t>單行註解： 使用#符號，#之後的文字皆視為註解。</a:t>
            </a:r>
            <a:endParaRPr/>
          </a:p>
          <a:p>
            <a:pPr indent="-342900" lvl="0" marL="457200" rtl="0" algn="l">
              <a:lnSpc>
                <a:spcPct val="115000"/>
              </a:lnSpc>
              <a:spcBef>
                <a:spcPts val="0"/>
              </a:spcBef>
              <a:spcAft>
                <a:spcPts val="0"/>
              </a:spcAft>
              <a:buSzPts val="1800"/>
              <a:buChar char="●"/>
            </a:pPr>
            <a:r>
              <a:rPr lang="zh-TW"/>
              <a:t>多行註解： 使用''' ... '''(連續三個單引號)框住的段 落，可以多行。</a:t>
            </a:r>
            <a:endParaRPr/>
          </a:p>
        </p:txBody>
      </p:sp>
      <p:pic>
        <p:nvPicPr>
          <p:cNvPr id="253" name="Google Shape;253;p15"/>
          <p:cNvPicPr preferRelativeResize="0"/>
          <p:nvPr/>
        </p:nvPicPr>
        <p:blipFill rotWithShape="1">
          <a:blip r:embed="rId3">
            <a:alphaModFix/>
          </a:blip>
          <a:srcRect b="0" l="0" r="0" t="0"/>
          <a:stretch/>
        </p:blipFill>
        <p:spPr>
          <a:xfrm>
            <a:off x="2102650" y="2274950"/>
            <a:ext cx="3544475" cy="2672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Python重要規則</a:t>
            </a:r>
            <a:endParaRPr/>
          </a:p>
        </p:txBody>
      </p:sp>
      <p:sp>
        <p:nvSpPr>
          <p:cNvPr id="259" name="Google Shape;259;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zh-TW" sz="3700">
                <a:solidFill>
                  <a:srgbClr val="FF0000"/>
                </a:solidFill>
              </a:rPr>
              <a:t>Python要求嚴格的縮排</a:t>
            </a:r>
            <a:endParaRPr b="1" sz="3700">
              <a:solidFill>
                <a:srgbClr val="FF0000"/>
              </a:solidFill>
            </a:endParaRPr>
          </a:p>
          <a:p>
            <a:pPr indent="0" lvl="0" marL="0" rtl="0" algn="l">
              <a:lnSpc>
                <a:spcPct val="115000"/>
              </a:lnSpc>
              <a:spcBef>
                <a:spcPts val="1200"/>
              </a:spcBef>
              <a:spcAft>
                <a:spcPts val="0"/>
              </a:spcAft>
              <a:buSzPts val="1800"/>
              <a:buNone/>
            </a:pPr>
            <a:r>
              <a:rPr b="1" lang="zh-TW" sz="2100"/>
              <a:t>同一區段該縮排要縮排，要確實對齊。</a:t>
            </a:r>
            <a:endParaRPr b="1" sz="2100"/>
          </a:p>
          <a:p>
            <a:pPr indent="0" lvl="0" marL="0" rtl="0" algn="l">
              <a:lnSpc>
                <a:spcPct val="115000"/>
              </a:lnSpc>
              <a:spcBef>
                <a:spcPts val="1200"/>
              </a:spcBef>
              <a:spcAft>
                <a:spcPts val="1200"/>
              </a:spcAft>
              <a:buSzPts val="1800"/>
              <a:buNone/>
            </a:pPr>
            <a:r>
              <a:t/>
            </a:r>
            <a:endParaRPr/>
          </a:p>
        </p:txBody>
      </p:sp>
      <p:pic>
        <p:nvPicPr>
          <p:cNvPr id="260" name="Google Shape;260;p16"/>
          <p:cNvPicPr preferRelativeResize="0"/>
          <p:nvPr/>
        </p:nvPicPr>
        <p:blipFill rotWithShape="1">
          <a:blip r:embed="rId3">
            <a:alphaModFix/>
          </a:blip>
          <a:srcRect b="0" l="0" r="0" t="0"/>
          <a:stretch/>
        </p:blipFill>
        <p:spPr>
          <a:xfrm>
            <a:off x="311700" y="2862725"/>
            <a:ext cx="4080500" cy="1706150"/>
          </a:xfrm>
          <a:prstGeom prst="rect">
            <a:avLst/>
          </a:prstGeom>
          <a:noFill/>
          <a:ln>
            <a:noFill/>
          </a:ln>
        </p:spPr>
      </p:pic>
      <p:pic>
        <p:nvPicPr>
          <p:cNvPr id="261" name="Google Shape;261;p16"/>
          <p:cNvPicPr preferRelativeResize="0"/>
          <p:nvPr/>
        </p:nvPicPr>
        <p:blipFill rotWithShape="1">
          <a:blip r:embed="rId4">
            <a:alphaModFix/>
          </a:blip>
          <a:srcRect b="0" l="0" r="0" t="0"/>
          <a:stretch/>
        </p:blipFill>
        <p:spPr>
          <a:xfrm>
            <a:off x="4477400" y="2961700"/>
            <a:ext cx="4611050" cy="1508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變數命名規則</a:t>
            </a:r>
            <a:endParaRPr/>
          </a:p>
        </p:txBody>
      </p:sp>
      <p:sp>
        <p:nvSpPr>
          <p:cNvPr id="267" name="Google Shape;26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 只能由字母、數字或底線組成，不可以用標點符號或特殊字元。</a:t>
            </a:r>
            <a:endParaRPr/>
          </a:p>
          <a:p>
            <a:pPr indent="0" lvl="0" marL="0" rtl="0" algn="l">
              <a:lnSpc>
                <a:spcPct val="115000"/>
              </a:lnSpc>
              <a:spcBef>
                <a:spcPts val="1200"/>
              </a:spcBef>
              <a:spcAft>
                <a:spcPts val="0"/>
              </a:spcAft>
              <a:buSzPts val="1800"/>
              <a:buNone/>
            </a:pPr>
            <a:r>
              <a:rPr lang="zh-TW"/>
              <a:t>• 須以英文字母或底線開頭。 </a:t>
            </a:r>
            <a:endParaRPr/>
          </a:p>
          <a:p>
            <a:pPr indent="0" lvl="0" marL="0" rtl="0" algn="l">
              <a:lnSpc>
                <a:spcPct val="115000"/>
              </a:lnSpc>
              <a:spcBef>
                <a:spcPts val="1200"/>
              </a:spcBef>
              <a:spcAft>
                <a:spcPts val="0"/>
              </a:spcAft>
              <a:buSzPts val="1800"/>
              <a:buNone/>
            </a:pPr>
            <a:r>
              <a:rPr lang="zh-TW"/>
              <a:t>• 不能使用保留字(關鍵字)命名。 </a:t>
            </a:r>
            <a:endParaRPr/>
          </a:p>
          <a:p>
            <a:pPr indent="0" lvl="0" marL="0" rtl="0" algn="l">
              <a:lnSpc>
                <a:spcPct val="115000"/>
              </a:lnSpc>
              <a:spcBef>
                <a:spcPts val="1200"/>
              </a:spcBef>
              <a:spcAft>
                <a:spcPts val="0"/>
              </a:spcAft>
              <a:buSzPts val="1800"/>
              <a:buNone/>
            </a:pPr>
            <a:r>
              <a:rPr lang="zh-TW"/>
              <a:t>• 英文有大小寫之分，也就是cat與Cat是不同的變數。 </a:t>
            </a:r>
            <a:endParaRPr/>
          </a:p>
          <a:p>
            <a:pPr indent="0" lvl="0" marL="0" rtl="0" algn="l">
              <a:lnSpc>
                <a:spcPct val="115000"/>
              </a:lnSpc>
              <a:spcBef>
                <a:spcPts val="1200"/>
              </a:spcBef>
              <a:spcAft>
                <a:spcPts val="0"/>
              </a:spcAft>
              <a:buSzPts val="1800"/>
              <a:buNone/>
            </a:pPr>
            <a:r>
              <a:rPr lang="zh-TW"/>
              <a:t>• 可以使用中文命名，但不建議。 </a:t>
            </a:r>
            <a:endParaRPr/>
          </a:p>
          <a:p>
            <a:pPr indent="0" lvl="0" marL="0" rtl="0" algn="l">
              <a:lnSpc>
                <a:spcPct val="115000"/>
              </a:lnSpc>
              <a:spcBef>
                <a:spcPts val="1200"/>
              </a:spcBef>
              <a:spcAft>
                <a:spcPts val="1200"/>
              </a:spcAft>
              <a:buSzPts val="1800"/>
              <a:buNone/>
            </a:pPr>
            <a:r>
              <a:rPr lang="zh-TW"/>
              <a:t>• 命名長度沒有限制。</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保留字(關鍵字)</a:t>
            </a:r>
            <a:endParaRPr/>
          </a:p>
        </p:txBody>
      </p:sp>
      <p:sp>
        <p:nvSpPr>
          <p:cNvPr id="273" name="Google Shape;27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保留字又稱關鍵字，python已建立好之具有特殊意義的字，不可作為變數之命名使用。(每種程式語言之保留字略有不同)</a:t>
            </a:r>
            <a:endParaRPr/>
          </a:p>
          <a:p>
            <a:pPr indent="0" lvl="0" marL="0" rtl="0" algn="l">
              <a:lnSpc>
                <a:spcPct val="115000"/>
              </a:lnSpc>
              <a:spcBef>
                <a:spcPts val="1200"/>
              </a:spcBef>
              <a:spcAft>
                <a:spcPts val="1200"/>
              </a:spcAft>
              <a:buSzPts val="1800"/>
              <a:buNone/>
            </a:pPr>
            <a:r>
              <a:t/>
            </a:r>
            <a:endParaRPr/>
          </a:p>
        </p:txBody>
      </p:sp>
      <p:graphicFrame>
        <p:nvGraphicFramePr>
          <p:cNvPr id="274" name="Google Shape;274;p18"/>
          <p:cNvGraphicFramePr/>
          <p:nvPr/>
        </p:nvGraphicFramePr>
        <p:xfrm>
          <a:off x="983025" y="2207700"/>
          <a:ext cx="3000000" cy="3000000"/>
        </p:xfrm>
        <a:graphic>
          <a:graphicData uri="http://schemas.openxmlformats.org/drawingml/2006/table">
            <a:tbl>
              <a:tblPr>
                <a:solidFill>
                  <a:srgbClr val="FFFFFF"/>
                </a:solidFill>
                <a:tableStyleId>{13AE00EC-52DB-4802-A0A3-6F10BCCD3F60}</a:tableStyleId>
              </a:tblPr>
              <a:tblGrid>
                <a:gridCol w="919425"/>
                <a:gridCol w="859450"/>
                <a:gridCol w="1219225"/>
                <a:gridCol w="1359150"/>
                <a:gridCol w="1099300"/>
                <a:gridCol w="1379125"/>
              </a:tblGrid>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and</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as</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assert</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break</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class</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continue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def</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del</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elif</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else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except</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finally</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for</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from</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False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global</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if</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import</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in</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is</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lambda</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nonlocal</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not</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None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or</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pass</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raise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return</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try</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True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76225">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while</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with</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750"/>
                        <a:buFont typeface="Arial"/>
                        <a:buNone/>
                      </a:pPr>
                      <a:r>
                        <a:rPr lang="zh-TW" sz="1750" u="none" cap="none" strike="noStrike">
                          <a:solidFill>
                            <a:srgbClr val="444444"/>
                          </a:solidFill>
                          <a:highlight>
                            <a:srgbClr val="FFFFFF"/>
                          </a:highlight>
                          <a:latin typeface="Microsoft Yahei"/>
                          <a:ea typeface="Microsoft Yahei"/>
                          <a:cs typeface="Microsoft Yahei"/>
                          <a:sym typeface="Microsoft Yahei"/>
                        </a:rPr>
                        <a:t>yield</a:t>
                      </a:r>
                      <a:endParaRPr sz="1750" u="none" cap="none" strike="noStrike">
                        <a:solidFill>
                          <a:srgbClr val="444444"/>
                        </a:solidFill>
                        <a:highlight>
                          <a:srgbClr val="FFFFFF"/>
                        </a:highlight>
                        <a:latin typeface="Microsoft Yahei"/>
                        <a:ea typeface="Microsoft Yahei"/>
                        <a:cs typeface="Microsoft Yahei"/>
                        <a:sym typeface="Microsoft Yahei"/>
                      </a:endParaRPr>
                    </a:p>
                  </a:txBody>
                  <a:tcPr marT="47625" marB="47625" marR="47625" marL="47625">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100"/>
                        <a:buFont typeface="Arial"/>
                        <a:buNone/>
                      </a:pPr>
                      <a:r>
                        <a:t/>
                      </a:r>
                      <a:endParaRPr sz="2100" u="none" cap="none" strike="noStrike"/>
                    </a:p>
                  </a:txBody>
                  <a:tcPr marT="91425" marB="91425" marR="91425" marL="91425">
                    <a:lnL cap="flat" cmpd="sng" w="9525">
                      <a:solidFill>
                        <a:srgbClr val="CCCCCC"/>
                      </a:solidFill>
                      <a:prstDash val="solid"/>
                      <a:round/>
                      <a:headEnd len="sm" w="sm" type="none"/>
                      <a:tailEnd len="sm" w="sm" type="none"/>
                    </a:lnL>
                    <a:lnT cap="flat" cmpd="sng" w="9525">
                      <a:solidFill>
                        <a:srgbClr val="CCCCCC"/>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100"/>
                        <a:buFont typeface="Arial"/>
                        <a:buNone/>
                      </a:pPr>
                      <a:r>
                        <a:t/>
                      </a:r>
                      <a:endParaRPr sz="2100" u="none" cap="none" strike="noStrike"/>
                    </a:p>
                  </a:txBody>
                  <a:tcPr marT="91425" marB="91425" marR="91425" marL="91425">
                    <a:lnT cap="flat" cmpd="sng" w="9525">
                      <a:solidFill>
                        <a:srgbClr val="CCCCCC"/>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100"/>
                        <a:buFont typeface="Arial"/>
                        <a:buNone/>
                      </a:pPr>
                      <a:r>
                        <a:t/>
                      </a:r>
                      <a:endParaRPr sz="2100" u="none" cap="none" strike="noStrike"/>
                    </a:p>
                  </a:txBody>
                  <a:tcPr marT="91425" marB="91425" marR="91425" marL="91425">
                    <a:lnT cap="flat" cmpd="sng" w="9525">
                      <a:solidFill>
                        <a:srgbClr val="CCCCCC"/>
                      </a:solidFill>
                      <a:prstDash val="solid"/>
                      <a:round/>
                      <a:headEnd len="sm" w="sm" type="none"/>
                      <a:tailEnd len="sm" w="sm" type="none"/>
                    </a:lnT>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資料型態</a:t>
            </a:r>
            <a:endParaRPr/>
          </a:p>
        </p:txBody>
      </p:sp>
      <p:sp>
        <p:nvSpPr>
          <p:cNvPr id="280" name="Google Shape;280;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zh-TW" sz="1500">
                <a:solidFill>
                  <a:srgbClr val="000000"/>
                </a:solidFill>
                <a:latin typeface="Arial"/>
                <a:ea typeface="Arial"/>
                <a:cs typeface="Arial"/>
                <a:sym typeface="Arial"/>
              </a:rPr>
              <a:t>在 Python 中，變數用來儲存資料，並且可以在程式中重複使用。變數不需要明確定義其型別，Python 會自動推斷。</a:t>
            </a:r>
            <a:endParaRPr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b="1" lang="zh-TW" sz="1400">
                <a:solidFill>
                  <a:srgbClr val="000000"/>
                </a:solidFill>
                <a:latin typeface="Arial"/>
                <a:ea typeface="Arial"/>
                <a:cs typeface="Arial"/>
                <a:sym typeface="Arial"/>
              </a:rPr>
              <a:t>常見資料型態：</a:t>
            </a:r>
            <a:endParaRPr b="1" sz="1400">
              <a:solidFill>
                <a:srgbClr val="000000"/>
              </a:solidFill>
              <a:latin typeface="Arial"/>
              <a:ea typeface="Arial"/>
              <a:cs typeface="Arial"/>
              <a:sym typeface="Arial"/>
            </a:endParaRPr>
          </a:p>
          <a:p>
            <a:pPr indent="-323850" lvl="0" marL="457200" rtl="0" algn="l">
              <a:lnSpc>
                <a:spcPct val="115000"/>
              </a:lnSpc>
              <a:spcBef>
                <a:spcPts val="120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整數型別 (int)</a:t>
            </a:r>
            <a:r>
              <a:rPr lang="zh-TW" sz="1500">
                <a:solidFill>
                  <a:srgbClr val="000000"/>
                </a:solidFill>
                <a:latin typeface="Arial"/>
                <a:ea typeface="Arial"/>
                <a:cs typeface="Arial"/>
                <a:sym typeface="Arial"/>
              </a:rPr>
              <a:t>：表示整數值，如 </a:t>
            </a:r>
            <a:r>
              <a:rPr lang="zh-TW" sz="1500">
                <a:solidFill>
                  <a:srgbClr val="188038"/>
                </a:solidFill>
                <a:latin typeface="Roboto Mono"/>
                <a:ea typeface="Roboto Mono"/>
                <a:cs typeface="Roboto Mono"/>
                <a:sym typeface="Roboto Mono"/>
              </a:rPr>
              <a:t>5</a:t>
            </a:r>
            <a:r>
              <a:rPr lang="zh-TW" sz="1500">
                <a:solidFill>
                  <a:srgbClr val="000000"/>
                </a:solidFill>
                <a:latin typeface="Arial"/>
                <a:ea typeface="Arial"/>
                <a:cs typeface="Arial"/>
                <a:sym typeface="Arial"/>
              </a:rPr>
              <a:t>、</a:t>
            </a:r>
            <a:r>
              <a:rPr lang="zh-TW" sz="1500">
                <a:solidFill>
                  <a:srgbClr val="188038"/>
                </a:solidFill>
                <a:latin typeface="Roboto Mono"/>
                <a:ea typeface="Roboto Mono"/>
                <a:cs typeface="Roboto Mono"/>
                <a:sym typeface="Roboto Mono"/>
              </a:rPr>
              <a:t>-3</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浮點數型別 (float)</a:t>
            </a:r>
            <a:r>
              <a:rPr lang="zh-TW" sz="1500">
                <a:solidFill>
                  <a:srgbClr val="000000"/>
                </a:solidFill>
                <a:latin typeface="Arial"/>
                <a:ea typeface="Arial"/>
                <a:cs typeface="Arial"/>
                <a:sym typeface="Arial"/>
              </a:rPr>
              <a:t>：表示有小數點的數字，如 </a:t>
            </a:r>
            <a:r>
              <a:rPr lang="zh-TW" sz="1500">
                <a:solidFill>
                  <a:srgbClr val="188038"/>
                </a:solidFill>
                <a:latin typeface="Roboto Mono"/>
                <a:ea typeface="Roboto Mono"/>
                <a:cs typeface="Roboto Mono"/>
                <a:sym typeface="Roboto Mono"/>
              </a:rPr>
              <a:t>3.14</a:t>
            </a:r>
            <a:r>
              <a:rPr lang="zh-TW" sz="1500">
                <a:solidFill>
                  <a:srgbClr val="000000"/>
                </a:solidFill>
                <a:latin typeface="Arial"/>
                <a:ea typeface="Arial"/>
                <a:cs typeface="Arial"/>
                <a:sym typeface="Arial"/>
              </a:rPr>
              <a:t>、</a:t>
            </a:r>
            <a:r>
              <a:rPr lang="zh-TW" sz="1500">
                <a:solidFill>
                  <a:srgbClr val="188038"/>
                </a:solidFill>
                <a:latin typeface="Roboto Mono"/>
                <a:ea typeface="Roboto Mono"/>
                <a:cs typeface="Roboto Mono"/>
                <a:sym typeface="Roboto Mono"/>
              </a:rPr>
              <a:t>-0.5</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字串型別 (str)</a:t>
            </a:r>
            <a:r>
              <a:rPr lang="zh-TW" sz="1500">
                <a:solidFill>
                  <a:srgbClr val="000000"/>
                </a:solidFill>
                <a:latin typeface="Arial"/>
                <a:ea typeface="Arial"/>
                <a:cs typeface="Arial"/>
                <a:sym typeface="Arial"/>
              </a:rPr>
              <a:t>：表示文字資料，用單引號或雙引號括起來，如 </a:t>
            </a:r>
            <a:r>
              <a:rPr lang="zh-TW" sz="1500">
                <a:solidFill>
                  <a:srgbClr val="188038"/>
                </a:solidFill>
                <a:latin typeface="Roboto Mono"/>
                <a:ea typeface="Roboto Mono"/>
                <a:cs typeface="Roboto Mono"/>
                <a:sym typeface="Roboto Mono"/>
              </a:rPr>
              <a:t>'Hello'</a:t>
            </a:r>
            <a:r>
              <a:rPr lang="zh-TW" sz="1500">
                <a:solidFill>
                  <a:srgbClr val="000000"/>
                </a:solidFill>
                <a:latin typeface="Arial"/>
                <a:ea typeface="Arial"/>
                <a:cs typeface="Arial"/>
                <a:sym typeface="Arial"/>
              </a:rPr>
              <a:t> 或 </a:t>
            </a:r>
            <a:r>
              <a:rPr lang="zh-TW" sz="1500">
                <a:solidFill>
                  <a:srgbClr val="188038"/>
                </a:solidFill>
                <a:latin typeface="Roboto Mono"/>
                <a:ea typeface="Roboto Mono"/>
                <a:cs typeface="Roboto Mono"/>
                <a:sym typeface="Roboto Mono"/>
              </a:rPr>
              <a:t>"World"</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AutoNum type="arabicPeriod"/>
            </a:pPr>
            <a:r>
              <a:rPr b="1" lang="zh-TW" sz="1500">
                <a:solidFill>
                  <a:srgbClr val="000000"/>
                </a:solidFill>
                <a:latin typeface="Arial"/>
                <a:ea typeface="Arial"/>
                <a:cs typeface="Arial"/>
                <a:sym typeface="Arial"/>
              </a:rPr>
              <a:t>布林型別 (bool)</a:t>
            </a:r>
            <a:r>
              <a:rPr lang="zh-TW" sz="1500">
                <a:solidFill>
                  <a:srgbClr val="000000"/>
                </a:solidFill>
                <a:latin typeface="Arial"/>
                <a:ea typeface="Arial"/>
                <a:cs typeface="Arial"/>
                <a:sym typeface="Arial"/>
              </a:rPr>
              <a:t>：表示邏輯值，只有 </a:t>
            </a:r>
            <a:r>
              <a:rPr lang="zh-TW" sz="1500">
                <a:solidFill>
                  <a:srgbClr val="188038"/>
                </a:solidFill>
                <a:latin typeface="Roboto Mono"/>
                <a:ea typeface="Roboto Mono"/>
                <a:cs typeface="Roboto Mono"/>
                <a:sym typeface="Roboto Mono"/>
              </a:rPr>
              <a:t>True</a:t>
            </a:r>
            <a:r>
              <a:rPr lang="zh-TW" sz="1500">
                <a:solidFill>
                  <a:srgbClr val="000000"/>
                </a:solidFill>
                <a:latin typeface="Arial"/>
                <a:ea typeface="Arial"/>
                <a:cs typeface="Arial"/>
                <a:sym typeface="Arial"/>
              </a:rPr>
              <a:t> 或 </a:t>
            </a:r>
            <a:r>
              <a:rPr lang="zh-TW" sz="1500">
                <a:solidFill>
                  <a:srgbClr val="188038"/>
                </a:solidFill>
                <a:latin typeface="Roboto Mono"/>
                <a:ea typeface="Roboto Mono"/>
                <a:cs typeface="Roboto Mono"/>
                <a:sym typeface="Roboto Mono"/>
              </a:rPr>
              <a:t>False</a:t>
            </a:r>
            <a:r>
              <a:rPr lang="zh-TW"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數字型態</a:t>
            </a:r>
            <a:endParaRPr/>
          </a:p>
        </p:txBody>
      </p:sp>
      <p:sp>
        <p:nvSpPr>
          <p:cNvPr id="286" name="Google Shape;286;p20"/>
          <p:cNvSpPr txBox="1"/>
          <p:nvPr>
            <p:ph idx="1" type="body"/>
          </p:nvPr>
        </p:nvSpPr>
        <p:spPr>
          <a:xfrm>
            <a:off x="311700" y="11398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1.整數(int)</a:t>
            </a:r>
            <a:endParaRPr/>
          </a:p>
          <a:p>
            <a:pPr indent="0" lvl="0" marL="0" rtl="0" algn="l">
              <a:lnSpc>
                <a:spcPct val="115000"/>
              </a:lnSpc>
              <a:spcBef>
                <a:spcPts val="1200"/>
              </a:spcBef>
              <a:spcAft>
                <a:spcPts val="0"/>
              </a:spcAft>
              <a:buSzPts val="1800"/>
              <a:buNone/>
            </a:pPr>
            <a:r>
              <a:rPr lang="zh-TW"/>
              <a:t>ex: 100,10000,5,-5,-100…..</a:t>
            </a:r>
            <a:endParaRPr/>
          </a:p>
          <a:p>
            <a:pPr indent="0" lvl="0" marL="0" rtl="0" algn="l">
              <a:lnSpc>
                <a:spcPct val="115000"/>
              </a:lnSpc>
              <a:spcBef>
                <a:spcPts val="1200"/>
              </a:spcBef>
              <a:spcAft>
                <a:spcPts val="0"/>
              </a:spcAft>
              <a:buSzPts val="1800"/>
              <a:buNone/>
            </a:pPr>
            <a:r>
              <a:rPr lang="zh-TW"/>
              <a:t>2.浮點數(float):</a:t>
            </a:r>
            <a:endParaRPr/>
          </a:p>
          <a:p>
            <a:pPr indent="0" lvl="0" marL="0" rtl="0" algn="l">
              <a:lnSpc>
                <a:spcPct val="115000"/>
              </a:lnSpc>
              <a:spcBef>
                <a:spcPts val="1200"/>
              </a:spcBef>
              <a:spcAft>
                <a:spcPts val="0"/>
              </a:spcAft>
              <a:buSzPts val="1800"/>
              <a:buNone/>
            </a:pPr>
            <a:r>
              <a:rPr lang="zh-TW"/>
              <a:t>ex: 100.11 , 5000.444 , 5.54 , -5.111, -100.476 …..</a:t>
            </a:r>
            <a:endParaRPr/>
          </a:p>
          <a:p>
            <a:pPr indent="0" lvl="0" marL="0" rtl="0" algn="l">
              <a:lnSpc>
                <a:spcPct val="115000"/>
              </a:lnSpc>
              <a:spcBef>
                <a:spcPts val="1200"/>
              </a:spcBef>
              <a:spcAft>
                <a:spcPts val="0"/>
              </a:spcAft>
              <a:buSzPts val="1800"/>
              <a:buNone/>
            </a:pPr>
            <a:r>
              <a:rPr lang="zh-TW"/>
              <a:t>3.複數(complex)</a:t>
            </a:r>
            <a:endParaRPr/>
          </a:p>
          <a:p>
            <a:pPr indent="0" lvl="0" marL="0" rtl="0" algn="l">
              <a:lnSpc>
                <a:spcPct val="115000"/>
              </a:lnSpc>
              <a:spcBef>
                <a:spcPts val="1200"/>
              </a:spcBef>
              <a:spcAft>
                <a:spcPts val="1200"/>
              </a:spcAft>
              <a:buSzPts val="1800"/>
              <a:buNone/>
            </a:pPr>
            <a:r>
              <a:rPr lang="zh-TW"/>
              <a:t>ex: 1+2j</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字串(string)</a:t>
            </a:r>
            <a:endParaRPr/>
          </a:p>
        </p:txBody>
      </p:sp>
      <p:sp>
        <p:nvSpPr>
          <p:cNvPr id="292" name="Google Shape;29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zh-TW"/>
              <a:t>1.單引號包圍</a:t>
            </a:r>
            <a:endParaRPr/>
          </a:p>
          <a:p>
            <a:pPr indent="457200" lvl="0" marL="0" rtl="0" algn="l">
              <a:lnSpc>
                <a:spcPct val="115000"/>
              </a:lnSpc>
              <a:spcBef>
                <a:spcPts val="1200"/>
              </a:spcBef>
              <a:spcAft>
                <a:spcPts val="0"/>
              </a:spcAft>
              <a:buSzPct val="108108"/>
              <a:buNone/>
            </a:pPr>
            <a:r>
              <a:rPr lang="zh-TW"/>
              <a:t>ex:'this is “a” book'</a:t>
            </a:r>
            <a:endParaRPr/>
          </a:p>
          <a:p>
            <a:pPr indent="0" lvl="0" marL="0" rtl="0" algn="l">
              <a:lnSpc>
                <a:spcPct val="115000"/>
              </a:lnSpc>
              <a:spcBef>
                <a:spcPts val="1200"/>
              </a:spcBef>
              <a:spcAft>
                <a:spcPts val="0"/>
              </a:spcAft>
              <a:buSzPct val="108108"/>
              <a:buNone/>
            </a:pPr>
            <a:r>
              <a:rPr lang="zh-TW"/>
              <a:t>2.雙引號包圍</a:t>
            </a:r>
            <a:endParaRPr/>
          </a:p>
          <a:p>
            <a:pPr indent="457200" lvl="0" marL="0" rtl="0" algn="l">
              <a:lnSpc>
                <a:spcPct val="115000"/>
              </a:lnSpc>
              <a:spcBef>
                <a:spcPts val="1200"/>
              </a:spcBef>
              <a:spcAft>
                <a:spcPts val="0"/>
              </a:spcAft>
              <a:buSzPct val="108108"/>
              <a:buNone/>
            </a:pPr>
            <a:r>
              <a:rPr lang="zh-TW"/>
              <a:t>ex: "this is 'a' book"</a:t>
            </a:r>
            <a:endParaRPr/>
          </a:p>
          <a:p>
            <a:pPr indent="0" lvl="0" marL="0" rtl="0" algn="l">
              <a:lnSpc>
                <a:spcPct val="115000"/>
              </a:lnSpc>
              <a:spcBef>
                <a:spcPts val="1200"/>
              </a:spcBef>
              <a:spcAft>
                <a:spcPts val="0"/>
              </a:spcAft>
              <a:buSzPct val="108108"/>
              <a:buNone/>
            </a:pPr>
            <a:r>
              <a:rPr lang="zh-TW"/>
              <a:t>3.三引號包圍(三個單引號) :可以當作字串也可以用於多行註解</a:t>
            </a:r>
            <a:endParaRPr/>
          </a:p>
          <a:p>
            <a:pPr indent="457200" lvl="0" marL="0" rtl="0" algn="l">
              <a:lnSpc>
                <a:spcPct val="115000"/>
              </a:lnSpc>
              <a:spcBef>
                <a:spcPts val="1200"/>
              </a:spcBef>
              <a:spcAft>
                <a:spcPts val="0"/>
              </a:spcAft>
              <a:buSzPct val="108108"/>
              <a:buNone/>
            </a:pPr>
            <a:r>
              <a:rPr lang="zh-TW"/>
              <a:t>'''this is a triply-quoted string </a:t>
            </a:r>
            <a:endParaRPr/>
          </a:p>
          <a:p>
            <a:pPr indent="457200" lvl="0" marL="0" rtl="0" algn="l">
              <a:lnSpc>
                <a:spcPct val="115000"/>
              </a:lnSpc>
              <a:spcBef>
                <a:spcPts val="1200"/>
              </a:spcBef>
              <a:spcAft>
                <a:spcPts val="0"/>
              </a:spcAft>
              <a:buSzPct val="108108"/>
              <a:buNone/>
            </a:pPr>
            <a:r>
              <a:rPr lang="zh-TW"/>
              <a:t>字串中可以換行,不用加跳脫字元， </a:t>
            </a:r>
            <a:endParaRPr/>
          </a:p>
          <a:p>
            <a:pPr indent="457200" lvl="0" marL="0" rtl="0" algn="l">
              <a:lnSpc>
                <a:spcPct val="115000"/>
              </a:lnSpc>
              <a:spcBef>
                <a:spcPts val="1200"/>
              </a:spcBef>
              <a:spcAft>
                <a:spcPts val="1200"/>
              </a:spcAft>
              <a:buSzPct val="108108"/>
              <a:buNone/>
            </a:pPr>
            <a:r>
              <a:rPr lang="zh-TW"/>
              <a:t>也可以用'單引號'和"雙引號" '''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布林型別 (boolean)</a:t>
            </a:r>
            <a:endParaRPr/>
          </a:p>
        </p:txBody>
      </p:sp>
      <p:sp>
        <p:nvSpPr>
          <p:cNvPr id="298" name="Google Shape;298;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布林值只有「True」和「False」兩種，只有0 或空值(Null)視為假，其餘皆視為真。</a:t>
            </a:r>
            <a:endParaRPr/>
          </a:p>
          <a:p>
            <a:pPr indent="0" lvl="0" marL="0" rtl="0" algn="l">
              <a:lnSpc>
                <a:spcPct val="115000"/>
              </a:lnSpc>
              <a:spcBef>
                <a:spcPts val="1200"/>
              </a:spcBef>
              <a:spcAft>
                <a:spcPts val="0"/>
              </a:spcAft>
              <a:buSzPts val="1800"/>
              <a:buNone/>
            </a:pPr>
            <a:r>
              <a:rPr lang="zh-TW"/>
              <a:t>ex:   a=</a:t>
            </a:r>
            <a:r>
              <a:rPr lang="zh-TW">
                <a:solidFill>
                  <a:srgbClr val="0000FF"/>
                </a:solidFill>
              </a:rPr>
              <a:t>True</a:t>
            </a:r>
            <a:endParaRPr>
              <a:solidFill>
                <a:srgbClr val="0000FF"/>
              </a:solidFill>
            </a:endParaRPr>
          </a:p>
          <a:p>
            <a:pPr indent="0" lvl="0" marL="0" rtl="0" algn="l">
              <a:lnSpc>
                <a:spcPct val="115000"/>
              </a:lnSpc>
              <a:spcBef>
                <a:spcPts val="1200"/>
              </a:spcBef>
              <a:spcAft>
                <a:spcPts val="0"/>
              </a:spcAft>
              <a:buSzPts val="1800"/>
              <a:buNone/>
            </a:pPr>
            <a:r>
              <a:rPr lang="zh-TW"/>
              <a:t>	b=</a:t>
            </a:r>
            <a:r>
              <a:rPr lang="zh-TW">
                <a:solidFill>
                  <a:srgbClr val="0000FF"/>
                </a:solidFill>
              </a:rPr>
              <a:t>False</a:t>
            </a:r>
            <a:endParaRPr>
              <a:solidFill>
                <a:srgbClr val="0000FF"/>
              </a:solidFill>
            </a:endParaRPr>
          </a:p>
          <a:p>
            <a:pPr indent="0" lvl="0" marL="0" rtl="0" algn="l">
              <a:lnSpc>
                <a:spcPct val="115000"/>
              </a:lnSpc>
              <a:spcBef>
                <a:spcPts val="1200"/>
              </a:spcBef>
              <a:spcAft>
                <a:spcPts val="1200"/>
              </a:spcAft>
              <a:buSzPts val="1800"/>
              <a:buNone/>
            </a:pPr>
            <a:r>
              <a:rPr lang="zh-TW">
                <a:solidFill>
                  <a:schemeClr val="dk1"/>
                </a:solidFill>
              </a:rPr>
              <a:t>此處之</a:t>
            </a:r>
            <a:r>
              <a:rPr lang="zh-TW">
                <a:solidFill>
                  <a:srgbClr val="0000FF"/>
                </a:solidFill>
              </a:rPr>
              <a:t>True,False為系統保留字</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資料型別轉換</a:t>
            </a:r>
            <a:endParaRPr/>
          </a:p>
        </p:txBody>
      </p:sp>
      <p:sp>
        <p:nvSpPr>
          <p:cNvPr id="304" name="Google Shape;304;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常用的型別轉換： </a:t>
            </a:r>
            <a:endParaRPr/>
          </a:p>
          <a:p>
            <a:pPr indent="0" lvl="0" marL="0" rtl="0" algn="l">
              <a:lnSpc>
                <a:spcPct val="115000"/>
              </a:lnSpc>
              <a:spcBef>
                <a:spcPts val="1200"/>
              </a:spcBef>
              <a:spcAft>
                <a:spcPts val="0"/>
              </a:spcAft>
              <a:buSzPts val="1800"/>
              <a:buNone/>
            </a:pPr>
            <a:r>
              <a:rPr lang="zh-TW"/>
              <a:t>• str(x)  #將變數x的內容轉換成字串 </a:t>
            </a:r>
            <a:endParaRPr/>
          </a:p>
          <a:p>
            <a:pPr indent="0" lvl="0" marL="0" rtl="0" algn="l">
              <a:lnSpc>
                <a:spcPct val="115000"/>
              </a:lnSpc>
              <a:spcBef>
                <a:spcPts val="1200"/>
              </a:spcBef>
              <a:spcAft>
                <a:spcPts val="0"/>
              </a:spcAft>
              <a:buSzPts val="1800"/>
              <a:buNone/>
            </a:pPr>
            <a:r>
              <a:rPr lang="zh-TW"/>
              <a:t>• int(x)  #將變數x的內容轉換成整數 </a:t>
            </a:r>
            <a:endParaRPr/>
          </a:p>
          <a:p>
            <a:pPr indent="0" lvl="0" marL="0" rtl="0" algn="l">
              <a:lnSpc>
                <a:spcPct val="115000"/>
              </a:lnSpc>
              <a:spcBef>
                <a:spcPts val="1200"/>
              </a:spcBef>
              <a:spcAft>
                <a:spcPts val="0"/>
              </a:spcAft>
              <a:buSzPts val="1800"/>
              <a:buNone/>
            </a:pPr>
            <a:r>
              <a:rPr lang="zh-TW"/>
              <a:t>• float(x)  #將變數x的內容轉換成浮點數 </a:t>
            </a:r>
            <a:endParaRPr/>
          </a:p>
          <a:p>
            <a:pPr indent="0" lvl="0" marL="0" rtl="0" algn="l">
              <a:lnSpc>
                <a:spcPct val="115000"/>
              </a:lnSpc>
              <a:spcBef>
                <a:spcPts val="1200"/>
              </a:spcBef>
              <a:spcAft>
                <a:spcPts val="1200"/>
              </a:spcAft>
              <a:buSzPts val="1800"/>
              <a:buNone/>
            </a:pPr>
            <a:r>
              <a:rPr lang="zh-TW"/>
              <a:t>• complex(x)  #將變數x的內容轉換為複數</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想想看</a:t>
            </a:r>
            <a:endParaRPr/>
          </a:p>
        </p:txBody>
      </p:sp>
      <p:sp>
        <p:nvSpPr>
          <p:cNvPr id="310" name="Google Shape;310;p24"/>
          <p:cNvSpPr/>
          <p:nvPr/>
        </p:nvSpPr>
        <p:spPr>
          <a:xfrm>
            <a:off x="398825" y="1308875"/>
            <a:ext cx="8596528" cy="1017926"/>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5 + 5 = 10 ?</a:t>
            </a:r>
          </a:p>
        </p:txBody>
      </p:sp>
      <p:pic>
        <p:nvPicPr>
          <p:cNvPr id="311" name="Google Shape;311;p24"/>
          <p:cNvPicPr preferRelativeResize="0"/>
          <p:nvPr/>
        </p:nvPicPr>
        <p:blipFill rotWithShape="1">
          <a:blip r:embed="rId3">
            <a:alphaModFix/>
          </a:blip>
          <a:srcRect b="0" l="0" r="0" t="0"/>
          <a:stretch/>
        </p:blipFill>
        <p:spPr>
          <a:xfrm>
            <a:off x="1136825" y="2479101"/>
            <a:ext cx="3111330" cy="2511899"/>
          </a:xfrm>
          <a:prstGeom prst="rect">
            <a:avLst/>
          </a:prstGeom>
          <a:noFill/>
          <a:ln>
            <a:noFill/>
          </a:ln>
        </p:spPr>
      </p:pic>
      <p:sp>
        <p:nvSpPr>
          <p:cNvPr id="312" name="Google Shape;312;p24"/>
          <p:cNvSpPr txBox="1"/>
          <p:nvPr/>
        </p:nvSpPr>
        <p:spPr>
          <a:xfrm>
            <a:off x="4630250" y="3299975"/>
            <a:ext cx="2225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accent3"/>
                </a:solidFill>
                <a:latin typeface="Proxima Nova"/>
                <a:ea typeface="Proxima Nova"/>
                <a:cs typeface="Proxima Nova"/>
                <a:sym typeface="Proxima Nova"/>
              </a:rPr>
              <a:t>數字相加: 5+5 = 10 </a:t>
            </a:r>
            <a:endParaRPr b="0" i="0" sz="1800" u="none" cap="none" strike="noStrike">
              <a:solidFill>
                <a:schemeClr val="accent3"/>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accent3"/>
                </a:solidFill>
                <a:latin typeface="Proxima Nova"/>
                <a:ea typeface="Proxima Nova"/>
                <a:cs typeface="Proxima Nova"/>
                <a:sym typeface="Proxima Nova"/>
              </a:rPr>
              <a:t>字串相加: 5+5 = 55</a:t>
            </a:r>
            <a:endParaRPr b="0" i="0" sz="1800" u="none" cap="none" strike="noStrike">
              <a:solidFill>
                <a:schemeClr val="accent3"/>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資料結構</a:t>
            </a:r>
            <a:endParaRPr/>
          </a:p>
        </p:txBody>
      </p:sp>
      <p:sp>
        <p:nvSpPr>
          <p:cNvPr id="318" name="Google Shape;318;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15000"/>
              </a:lnSpc>
              <a:spcBef>
                <a:spcPts val="1200"/>
              </a:spcBef>
              <a:spcAft>
                <a:spcPts val="0"/>
              </a:spcAft>
              <a:buSzPct val="124826"/>
              <a:buNone/>
            </a:pPr>
            <a:r>
              <a:rPr lang="zh-TW" sz="2060">
                <a:solidFill>
                  <a:srgbClr val="000000"/>
                </a:solidFill>
                <a:latin typeface="Arial"/>
                <a:ea typeface="Arial"/>
                <a:cs typeface="Arial"/>
                <a:sym typeface="Arial"/>
              </a:rPr>
              <a:t>Python 有幾種內建的資料結構來存儲和管理資料，包括列表、元組、字典和集合。</a:t>
            </a:r>
            <a:endParaRPr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b="1" lang="zh-TW" sz="2060">
                <a:solidFill>
                  <a:srgbClr val="000000"/>
                </a:solidFill>
                <a:latin typeface="Arial"/>
                <a:ea typeface="Arial"/>
                <a:cs typeface="Arial"/>
                <a:sym typeface="Arial"/>
              </a:rPr>
              <a:t>串列 (List)：</a:t>
            </a:r>
            <a:endParaRPr b="1"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lang="zh-TW" sz="2060">
                <a:solidFill>
                  <a:srgbClr val="000000"/>
                </a:solidFill>
                <a:latin typeface="Arial"/>
                <a:ea typeface="Arial"/>
                <a:cs typeface="Arial"/>
                <a:sym typeface="Arial"/>
              </a:rPr>
              <a:t>列表是有序且可變的資料結構，使用方括號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來定義。它可以包含不同型別的元素。</a:t>
            </a:r>
            <a:endParaRPr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b="1" lang="zh-TW" sz="2060">
                <a:solidFill>
                  <a:srgbClr val="000000"/>
                </a:solidFill>
                <a:latin typeface="Arial"/>
                <a:ea typeface="Arial"/>
                <a:cs typeface="Arial"/>
                <a:sym typeface="Arial"/>
              </a:rPr>
              <a:t>序對 (Tuple)：</a:t>
            </a:r>
            <a:endParaRPr b="1"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lang="zh-TW" sz="2060">
                <a:solidFill>
                  <a:srgbClr val="000000"/>
                </a:solidFill>
                <a:latin typeface="Arial"/>
                <a:ea typeface="Arial"/>
                <a:cs typeface="Arial"/>
                <a:sym typeface="Arial"/>
              </a:rPr>
              <a:t>序對和列表相似，但它是不可變的，意思是定義後不能修改。使用小括號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來定義。</a:t>
            </a:r>
            <a:endParaRPr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b="1" lang="zh-TW" sz="2060">
                <a:solidFill>
                  <a:srgbClr val="000000"/>
                </a:solidFill>
                <a:latin typeface="Arial"/>
                <a:ea typeface="Arial"/>
                <a:cs typeface="Arial"/>
                <a:sym typeface="Arial"/>
              </a:rPr>
              <a:t>字典 (Dictionary)：</a:t>
            </a:r>
            <a:endParaRPr b="1"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lang="zh-TW" sz="2060">
                <a:solidFill>
                  <a:srgbClr val="000000"/>
                </a:solidFill>
                <a:latin typeface="Arial"/>
                <a:ea typeface="Arial"/>
                <a:cs typeface="Arial"/>
                <a:sym typeface="Arial"/>
              </a:rPr>
              <a:t>字典是一種鍵值對 (key-value) 的集合，使用大括號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定義，鍵和值之間用冒號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隔開。</a:t>
            </a:r>
            <a:endParaRPr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b="1" lang="zh-TW" sz="2060">
                <a:solidFill>
                  <a:srgbClr val="000000"/>
                </a:solidFill>
                <a:latin typeface="Arial"/>
                <a:ea typeface="Arial"/>
                <a:cs typeface="Arial"/>
                <a:sym typeface="Arial"/>
              </a:rPr>
              <a:t>集合 (Set)：</a:t>
            </a:r>
            <a:endParaRPr b="1" sz="2060">
              <a:solidFill>
                <a:srgbClr val="000000"/>
              </a:solidFill>
              <a:latin typeface="Arial"/>
              <a:ea typeface="Arial"/>
              <a:cs typeface="Arial"/>
              <a:sym typeface="Arial"/>
            </a:endParaRPr>
          </a:p>
          <a:p>
            <a:pPr indent="0" lvl="0" marL="0" rtl="0" algn="l">
              <a:lnSpc>
                <a:spcPct val="115000"/>
              </a:lnSpc>
              <a:spcBef>
                <a:spcPts val="1200"/>
              </a:spcBef>
              <a:spcAft>
                <a:spcPts val="0"/>
              </a:spcAft>
              <a:buSzPct val="124826"/>
              <a:buNone/>
            </a:pPr>
            <a:r>
              <a:rPr lang="zh-TW" sz="2060">
                <a:solidFill>
                  <a:srgbClr val="000000"/>
                </a:solidFill>
                <a:latin typeface="Arial"/>
                <a:ea typeface="Arial"/>
                <a:cs typeface="Arial"/>
                <a:sym typeface="Arial"/>
              </a:rPr>
              <a:t>集合是一組無序且不重複的元素，使用大括號 </a:t>
            </a:r>
            <a:r>
              <a:rPr lang="zh-TW" sz="2060">
                <a:solidFill>
                  <a:srgbClr val="188038"/>
                </a:solidFill>
                <a:latin typeface="Roboto Mono"/>
                <a:ea typeface="Roboto Mono"/>
                <a:cs typeface="Roboto Mono"/>
                <a:sym typeface="Roboto Mono"/>
              </a:rPr>
              <a:t>{}</a:t>
            </a:r>
            <a:r>
              <a:rPr lang="zh-TW" sz="2060">
                <a:solidFill>
                  <a:srgbClr val="000000"/>
                </a:solidFill>
                <a:latin typeface="Arial"/>
                <a:ea typeface="Arial"/>
                <a:cs typeface="Arial"/>
                <a:sym typeface="Arial"/>
              </a:rPr>
              <a:t> 定義。</a:t>
            </a:r>
            <a:endParaRPr sz="2060">
              <a:solidFill>
                <a:srgbClr val="000000"/>
              </a:solidFill>
              <a:latin typeface="Arial"/>
              <a:ea typeface="Arial"/>
              <a:cs typeface="Arial"/>
              <a:sym typeface="Arial"/>
            </a:endParaRPr>
          </a:p>
          <a:p>
            <a:pPr indent="0" lvl="0" marL="0" rtl="0" algn="l">
              <a:lnSpc>
                <a:spcPct val="115000"/>
              </a:lnSpc>
              <a:spcBef>
                <a:spcPts val="1200"/>
              </a:spcBef>
              <a:spcAft>
                <a:spcPts val="1200"/>
              </a:spcAft>
              <a:buSzPct val="142857"/>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串列 list</a:t>
            </a:r>
            <a:endParaRPr/>
          </a:p>
        </p:txBody>
      </p:sp>
      <p:sp>
        <p:nvSpPr>
          <p:cNvPr id="324" name="Google Shape;324;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•list中的元素允許是list </a:t>
            </a:r>
            <a:endParaRPr/>
          </a:p>
          <a:p>
            <a:pPr indent="0" lvl="0" marL="0" rtl="0" algn="l">
              <a:lnSpc>
                <a:spcPct val="115000"/>
              </a:lnSpc>
              <a:spcBef>
                <a:spcPts val="1200"/>
              </a:spcBef>
              <a:spcAft>
                <a:spcPts val="0"/>
              </a:spcAft>
              <a:buSzPts val="1800"/>
              <a:buNone/>
            </a:pPr>
            <a:r>
              <a:rPr lang="zh-TW"/>
              <a:t>•可以集合不同資料型態的元素</a:t>
            </a:r>
            <a:endParaRPr/>
          </a:p>
          <a:p>
            <a:pPr indent="0" lvl="0" marL="0" rtl="0" algn="l">
              <a:lnSpc>
                <a:spcPct val="115000"/>
              </a:lnSpc>
              <a:spcBef>
                <a:spcPts val="1200"/>
              </a:spcBef>
              <a:spcAft>
                <a:spcPts val="0"/>
              </a:spcAft>
              <a:buSzPts val="1800"/>
              <a:buNone/>
            </a:pPr>
            <a:r>
              <a:rPr lang="zh-TW"/>
              <a:t>•list的元素是有序的(誰前誰後有關係) </a:t>
            </a:r>
            <a:endParaRPr/>
          </a:p>
          <a:p>
            <a:pPr indent="0" lvl="0" marL="0" rtl="0" algn="l">
              <a:lnSpc>
                <a:spcPct val="115000"/>
              </a:lnSpc>
              <a:spcBef>
                <a:spcPts val="1200"/>
              </a:spcBef>
              <a:spcAft>
                <a:spcPts val="0"/>
              </a:spcAft>
              <a:buSzPts val="1800"/>
              <a:buNone/>
            </a:pPr>
            <a:r>
              <a:rPr lang="zh-TW"/>
              <a:t>•list的特徵是中括號[ ], 使⽤索引位置可以存取元素</a:t>
            </a:r>
            <a:endParaRPr/>
          </a:p>
          <a:p>
            <a:pPr indent="0" lvl="0" marL="0" rtl="0" algn="l">
              <a:lnSpc>
                <a:spcPct val="115000"/>
              </a:lnSpc>
              <a:spcBef>
                <a:spcPts val="1200"/>
              </a:spcBef>
              <a:spcAft>
                <a:spcPts val="0"/>
              </a:spcAft>
              <a:buSzPts val="1800"/>
              <a:buNone/>
            </a:pPr>
            <a:r>
              <a:rPr lang="zh-TW"/>
              <a:t>，位置索引從0開始</a:t>
            </a:r>
            <a:endParaRPr/>
          </a:p>
          <a:p>
            <a:pPr indent="0" lvl="0" marL="0" rtl="0" algn="l">
              <a:lnSpc>
                <a:spcPct val="115000"/>
              </a:lnSpc>
              <a:spcBef>
                <a:spcPts val="1200"/>
              </a:spcBef>
              <a:spcAft>
                <a:spcPts val="1200"/>
              </a:spcAft>
              <a:buSzPts val="1800"/>
              <a:buNone/>
            </a:pPr>
            <a:r>
              <a:rPr lang="zh-TW"/>
              <a:t>ex: list1 = [24, -5, [1,2,3], 'test']</a:t>
            </a:r>
            <a:endParaRPr/>
          </a:p>
        </p:txBody>
      </p:sp>
      <p:cxnSp>
        <p:nvCxnSpPr>
          <p:cNvPr id="325" name="Google Shape;325;p26"/>
          <p:cNvCxnSpPr/>
          <p:nvPr/>
        </p:nvCxnSpPr>
        <p:spPr>
          <a:xfrm>
            <a:off x="2389350" y="3833575"/>
            <a:ext cx="131400" cy="273600"/>
          </a:xfrm>
          <a:prstGeom prst="straightConnector1">
            <a:avLst/>
          </a:prstGeom>
          <a:noFill/>
          <a:ln cap="flat" cmpd="sng" w="9525">
            <a:solidFill>
              <a:schemeClr val="dk2"/>
            </a:solidFill>
            <a:prstDash val="solid"/>
            <a:round/>
            <a:headEnd len="sm" w="sm" type="none"/>
            <a:tailEnd len="med" w="med" type="triangle"/>
          </a:ln>
        </p:spPr>
      </p:cxnSp>
      <p:sp>
        <p:nvSpPr>
          <p:cNvPr id="326" name="Google Shape;326;p26"/>
          <p:cNvSpPr txBox="1"/>
          <p:nvPr/>
        </p:nvSpPr>
        <p:spPr>
          <a:xfrm>
            <a:off x="1350250" y="4107175"/>
            <a:ext cx="4779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accent3"/>
                </a:solidFill>
                <a:latin typeface="Proxima Nova"/>
                <a:ea typeface="Proxima Nova"/>
                <a:cs typeface="Proxima Nova"/>
                <a:sym typeface="Proxima Nova"/>
              </a:rPr>
              <a:t>list中之元素為list,且與其他元素之型態不同</a:t>
            </a:r>
            <a:endParaRPr b="0" i="0" sz="1800" u="none" cap="none" strike="noStrike">
              <a:solidFill>
                <a:schemeClr val="accent3"/>
              </a:solidFill>
              <a:latin typeface="Proxima Nova"/>
              <a:ea typeface="Proxima Nova"/>
              <a:cs typeface="Proxima Nova"/>
              <a:sym typeface="Proxima Nova"/>
            </a:endParaRPr>
          </a:p>
        </p:txBody>
      </p:sp>
      <p:cxnSp>
        <p:nvCxnSpPr>
          <p:cNvPr id="327" name="Google Shape;327;p26"/>
          <p:cNvCxnSpPr/>
          <p:nvPr/>
        </p:nvCxnSpPr>
        <p:spPr>
          <a:xfrm flipH="1">
            <a:off x="879025" y="3936650"/>
            <a:ext cx="547800" cy="552300"/>
          </a:xfrm>
          <a:prstGeom prst="straightConnector1">
            <a:avLst/>
          </a:prstGeom>
          <a:noFill/>
          <a:ln cap="flat" cmpd="sng" w="9525">
            <a:solidFill>
              <a:schemeClr val="dk2"/>
            </a:solidFill>
            <a:prstDash val="solid"/>
            <a:round/>
            <a:headEnd len="sm" w="sm" type="none"/>
            <a:tailEnd len="med" w="med" type="triangle"/>
          </a:ln>
        </p:spPr>
      </p:cxnSp>
      <p:sp>
        <p:nvSpPr>
          <p:cNvPr id="328" name="Google Shape;328;p26"/>
          <p:cNvSpPr txBox="1"/>
          <p:nvPr/>
        </p:nvSpPr>
        <p:spPr>
          <a:xfrm>
            <a:off x="376025" y="4428125"/>
            <a:ext cx="109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chemeClr val="accent3"/>
                </a:solidFill>
                <a:latin typeface="Proxima Nova"/>
                <a:ea typeface="Proxima Nova"/>
                <a:cs typeface="Proxima Nova"/>
                <a:sym typeface="Proxima Nova"/>
              </a:rPr>
              <a:t>index=0</a:t>
            </a:r>
            <a:endParaRPr b="0" i="0" sz="1800" u="none" cap="none" strike="noStrike">
              <a:solidFill>
                <a:schemeClr val="accent3"/>
              </a:solidFill>
              <a:latin typeface="Proxima Nova"/>
              <a:ea typeface="Proxima Nova"/>
              <a:cs typeface="Proxima Nova"/>
              <a:sym typeface="Proxima Nova"/>
            </a:endParaRPr>
          </a:p>
        </p:txBody>
      </p:sp>
      <p:pic>
        <p:nvPicPr>
          <p:cNvPr id="329" name="Google Shape;329;p26"/>
          <p:cNvPicPr preferRelativeResize="0"/>
          <p:nvPr/>
        </p:nvPicPr>
        <p:blipFill rotWithShape="1">
          <a:blip r:embed="rId3">
            <a:alphaModFix/>
          </a:blip>
          <a:srcRect b="0" l="0" r="0" t="0"/>
          <a:stretch/>
        </p:blipFill>
        <p:spPr>
          <a:xfrm>
            <a:off x="5455275" y="1703550"/>
            <a:ext cx="3688724" cy="2314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list 之常用指令</a:t>
            </a:r>
            <a:endParaRPr/>
          </a:p>
        </p:txBody>
      </p:sp>
      <p:graphicFrame>
        <p:nvGraphicFramePr>
          <p:cNvPr id="335" name="Google Shape;335;p27"/>
          <p:cNvGraphicFramePr/>
          <p:nvPr/>
        </p:nvGraphicFramePr>
        <p:xfrm>
          <a:off x="952500" y="1238250"/>
          <a:ext cx="3000000" cy="3000000"/>
        </p:xfrm>
        <a:graphic>
          <a:graphicData uri="http://schemas.openxmlformats.org/drawingml/2006/table">
            <a:tbl>
              <a:tblPr>
                <a:noFill/>
                <a:tableStyleId>{26273F57-4A60-4CBA-9E0A-1DAEBCCD9011}</a:tableStyleId>
              </a:tblPr>
              <a:tblGrid>
                <a:gridCol w="3023150"/>
                <a:gridCol w="42158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list.pop()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刪除最後一個元素</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list.append(x)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新增元素x到最後面</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list.insert(index, 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新增元素x到index之位置</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list.sort(reverse=boolean)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當b為False時從小排到大(升冪排列)，True為降冪</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list.extend(x)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將x中的元素接到 list 的尾端。</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list.remove(x)</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 list 中第一個值等於 x 的元素。</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list.clear()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 list 中所有項目。</a:t>
                      </a:r>
                      <a:endParaRPr sz="1400" u="none" cap="none" strike="noStrike"/>
                    </a:p>
                  </a:txBody>
                  <a:tcPr marT="91425" marB="91425" marR="91425" marL="91425"/>
                </a:tc>
              </a:tr>
            </a:tbl>
          </a:graphicData>
        </a:graphic>
      </p:graphicFrame>
      <p:sp>
        <p:nvSpPr>
          <p:cNvPr id="336" name="Google Shape;336;p27"/>
          <p:cNvSpPr txBox="1"/>
          <p:nvPr/>
        </p:nvSpPr>
        <p:spPr>
          <a:xfrm>
            <a:off x="2385400" y="4664300"/>
            <a:ext cx="3806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https://codingman.cc/python-list-intro/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序對(tuple)</a:t>
            </a:r>
            <a:endParaRPr/>
          </a:p>
        </p:txBody>
      </p:sp>
      <p:sp>
        <p:nvSpPr>
          <p:cNvPr id="342" name="Google Shape;34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•tuple中的元素允許是tuple </a:t>
            </a:r>
            <a:endParaRPr/>
          </a:p>
          <a:p>
            <a:pPr indent="0" lvl="0" marL="0" rtl="0" algn="l">
              <a:lnSpc>
                <a:spcPct val="115000"/>
              </a:lnSpc>
              <a:spcBef>
                <a:spcPts val="1200"/>
              </a:spcBef>
              <a:spcAft>
                <a:spcPts val="0"/>
              </a:spcAft>
              <a:buSzPts val="1800"/>
              <a:buNone/>
            </a:pPr>
            <a:r>
              <a:rPr lang="zh-TW"/>
              <a:t>•可以集合不同資料型態的元素</a:t>
            </a:r>
            <a:endParaRPr/>
          </a:p>
          <a:p>
            <a:pPr indent="0" lvl="0" marL="0" rtl="0" algn="l">
              <a:lnSpc>
                <a:spcPct val="115000"/>
              </a:lnSpc>
              <a:spcBef>
                <a:spcPts val="1200"/>
              </a:spcBef>
              <a:spcAft>
                <a:spcPts val="0"/>
              </a:spcAft>
              <a:buSzPts val="1800"/>
              <a:buNone/>
            </a:pPr>
            <a:r>
              <a:rPr lang="zh-TW"/>
              <a:t>•tuple的元素是有序的(誰前誰後有關係) </a:t>
            </a:r>
            <a:endParaRPr/>
          </a:p>
          <a:p>
            <a:pPr indent="0" lvl="0" marL="0" rtl="0" algn="l">
              <a:lnSpc>
                <a:spcPct val="115000"/>
              </a:lnSpc>
              <a:spcBef>
                <a:spcPts val="1200"/>
              </a:spcBef>
              <a:spcAft>
                <a:spcPts val="0"/>
              </a:spcAft>
              <a:buSzPts val="1800"/>
              <a:buNone/>
            </a:pPr>
            <a:r>
              <a:rPr lang="zh-TW"/>
              <a:t>•tuple的特徵是小括號(), 使⽤索引位置可以存取元素</a:t>
            </a:r>
            <a:endParaRPr/>
          </a:p>
          <a:p>
            <a:pPr indent="0" lvl="0" marL="0" rtl="0" algn="l">
              <a:lnSpc>
                <a:spcPct val="115000"/>
              </a:lnSpc>
              <a:spcBef>
                <a:spcPts val="1200"/>
              </a:spcBef>
              <a:spcAft>
                <a:spcPts val="0"/>
              </a:spcAft>
              <a:buSzPts val="1800"/>
              <a:buNone/>
            </a:pPr>
            <a:r>
              <a:rPr lang="zh-TW"/>
              <a:t>，位置索引從0開始</a:t>
            </a:r>
            <a:endParaRPr/>
          </a:p>
          <a:p>
            <a:pPr indent="0" lvl="0" marL="0" rtl="0" algn="l">
              <a:lnSpc>
                <a:spcPct val="115000"/>
              </a:lnSpc>
              <a:spcBef>
                <a:spcPts val="1200"/>
              </a:spcBef>
              <a:spcAft>
                <a:spcPts val="0"/>
              </a:spcAft>
              <a:buSzPts val="1800"/>
              <a:buNone/>
            </a:pPr>
            <a:r>
              <a:rPr lang="zh-TW"/>
              <a:t>•與list類似，最⼤的不同tuple是⼀種唯讀且不可 變更的資料結構，不可取代tuple中的任意⼀個元素，因為它是唯讀不可變更的</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序對(tuple)</a:t>
            </a:r>
            <a:endParaRPr/>
          </a:p>
        </p:txBody>
      </p:sp>
      <p:sp>
        <p:nvSpPr>
          <p:cNvPr id="348" name="Google Shape;348;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zh-TW"/>
              <a:t>•tuple </a:t>
            </a:r>
            <a:endParaRPr/>
          </a:p>
          <a:p>
            <a:pPr indent="457200" lvl="0" marL="0" rtl="0" algn="l">
              <a:lnSpc>
                <a:spcPct val="115000"/>
              </a:lnSpc>
              <a:spcBef>
                <a:spcPts val="1200"/>
              </a:spcBef>
              <a:spcAft>
                <a:spcPts val="0"/>
              </a:spcAft>
              <a:buSzPct val="108108"/>
              <a:buNone/>
            </a:pPr>
            <a:r>
              <a:rPr lang="zh-TW"/>
              <a:t>f = (5,3,8,7)  # A tuple of integers</a:t>
            </a:r>
            <a:endParaRPr/>
          </a:p>
          <a:p>
            <a:pPr indent="457200" lvl="0" marL="0" rtl="0" algn="l">
              <a:lnSpc>
                <a:spcPct val="115000"/>
              </a:lnSpc>
              <a:spcBef>
                <a:spcPts val="1200"/>
              </a:spcBef>
              <a:spcAft>
                <a:spcPts val="0"/>
              </a:spcAft>
              <a:buSzPct val="108108"/>
              <a:buNone/>
            </a:pPr>
            <a:r>
              <a:rPr lang="zh-TW"/>
              <a:t>g = ()  # An empty tuple</a:t>
            </a:r>
            <a:endParaRPr/>
          </a:p>
          <a:p>
            <a:pPr indent="457200" lvl="0" marL="0" rtl="0" algn="l">
              <a:lnSpc>
                <a:spcPct val="115000"/>
              </a:lnSpc>
              <a:spcBef>
                <a:spcPts val="1200"/>
              </a:spcBef>
              <a:spcAft>
                <a:spcPts val="0"/>
              </a:spcAft>
              <a:buSzPct val="108108"/>
              <a:buNone/>
            </a:pPr>
            <a:r>
              <a:rPr lang="zh-TW"/>
              <a:t>h = (2, [3,4], (10,11,12))  # A tuple containing mixed objects </a:t>
            </a:r>
            <a:endParaRPr/>
          </a:p>
          <a:p>
            <a:pPr indent="0" lvl="0" marL="0" rtl="0" algn="l">
              <a:lnSpc>
                <a:spcPct val="115000"/>
              </a:lnSpc>
              <a:spcBef>
                <a:spcPts val="1200"/>
              </a:spcBef>
              <a:spcAft>
                <a:spcPts val="0"/>
              </a:spcAft>
              <a:buSzPct val="108108"/>
              <a:buNone/>
            </a:pPr>
            <a:r>
              <a:rPr lang="zh-TW"/>
              <a:t>•tuple的操作 </a:t>
            </a:r>
            <a:endParaRPr/>
          </a:p>
          <a:p>
            <a:pPr indent="457200" lvl="0" marL="0" rtl="0" algn="l">
              <a:lnSpc>
                <a:spcPct val="115000"/>
              </a:lnSpc>
              <a:spcBef>
                <a:spcPts val="1200"/>
              </a:spcBef>
              <a:spcAft>
                <a:spcPts val="0"/>
              </a:spcAft>
              <a:buSzPct val="108108"/>
              <a:buNone/>
            </a:pPr>
            <a:r>
              <a:rPr lang="zh-TW"/>
              <a:t>x = f[1]  # Element access. x = 3 </a:t>
            </a:r>
            <a:endParaRPr/>
          </a:p>
          <a:p>
            <a:pPr indent="457200" lvl="0" marL="0" rtl="0" algn="l">
              <a:lnSpc>
                <a:spcPct val="115000"/>
              </a:lnSpc>
              <a:spcBef>
                <a:spcPts val="1200"/>
              </a:spcBef>
              <a:spcAft>
                <a:spcPts val="0"/>
              </a:spcAft>
              <a:buSzPct val="108108"/>
              <a:buNone/>
            </a:pPr>
            <a:r>
              <a:rPr lang="zh-TW"/>
              <a:t>y = f[1:3] # Slices. y = (3,8)</a:t>
            </a:r>
            <a:endParaRPr/>
          </a:p>
          <a:p>
            <a:pPr indent="457200" lvl="0" marL="0" rtl="0" algn="l">
              <a:lnSpc>
                <a:spcPct val="115000"/>
              </a:lnSpc>
              <a:spcBef>
                <a:spcPts val="1200"/>
              </a:spcBef>
              <a:spcAft>
                <a:spcPts val="1200"/>
              </a:spcAft>
              <a:buSzPct val="108108"/>
              <a:buNone/>
            </a:pPr>
            <a:r>
              <a:rPr lang="zh-TW"/>
              <a:t>z = h[1][0]  # Nesting. z = 3，h[1]= [3,4]，[3,4]位置0為3故=3</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字典型態 (dict) </a:t>
            </a:r>
            <a:endParaRPr/>
          </a:p>
        </p:txBody>
      </p:sp>
      <p:sp>
        <p:nvSpPr>
          <p:cNvPr id="354" name="Google Shape;354;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zh-TW"/>
              <a:t>與list, tuple不同，不以索引位置存取元素，改以key當作索引存取元素</a:t>
            </a:r>
            <a:endParaRPr/>
          </a:p>
          <a:p>
            <a:pPr indent="-342900" lvl="0" marL="457200" rtl="0" algn="l">
              <a:lnSpc>
                <a:spcPct val="115000"/>
              </a:lnSpc>
              <a:spcBef>
                <a:spcPts val="0"/>
              </a:spcBef>
              <a:spcAft>
                <a:spcPts val="0"/>
              </a:spcAft>
              <a:buSzPts val="1800"/>
              <a:buChar char="●"/>
            </a:pPr>
            <a:r>
              <a:rPr lang="zh-TW"/>
              <a:t>建⽴字典變數可利⽤⼤括弧{ }，裡頭以 key : value 為配對的資料項目，若有多筆資料再以逗號區隔開 </a:t>
            </a:r>
            <a:endParaRPr/>
          </a:p>
          <a:p>
            <a:pPr indent="-342900" lvl="0" marL="457200" rtl="0" algn="l">
              <a:lnSpc>
                <a:spcPct val="115000"/>
              </a:lnSpc>
              <a:spcBef>
                <a:spcPts val="0"/>
              </a:spcBef>
              <a:spcAft>
                <a:spcPts val="0"/>
              </a:spcAft>
              <a:buSzPts val="1800"/>
              <a:buChar char="●"/>
            </a:pPr>
            <a:r>
              <a:rPr lang="zh-TW"/>
              <a:t>使⽤字典須注意， key 必須是不可變的資料型態，如數字、字串 (string) 等， value 沒有限制 </a:t>
            </a:r>
            <a:endParaRPr/>
          </a:p>
          <a:p>
            <a:pPr indent="-342900" lvl="0" marL="457200" rtl="0" algn="l">
              <a:lnSpc>
                <a:spcPct val="115000"/>
              </a:lnSpc>
              <a:spcBef>
                <a:spcPts val="0"/>
              </a:spcBef>
              <a:spcAft>
                <a:spcPts val="0"/>
              </a:spcAft>
              <a:buSzPts val="1800"/>
              <a:buChar char="●"/>
            </a:pPr>
            <a:r>
              <a:rPr lang="zh-TW"/>
              <a:t>dict 的元素是無序的(誰前誰後沒關係)</a:t>
            </a:r>
            <a:endParaRPr/>
          </a:p>
          <a:p>
            <a:pPr indent="0" lvl="0" marL="457200" rtl="0" algn="l">
              <a:lnSpc>
                <a:spcPct val="115000"/>
              </a:lnSpc>
              <a:spcBef>
                <a:spcPts val="1200"/>
              </a:spcBef>
              <a:spcAft>
                <a:spcPts val="0"/>
              </a:spcAft>
              <a:buSzPts val="1800"/>
              <a:buNone/>
            </a:pPr>
            <a:r>
              <a:rPr lang="zh-TW"/>
              <a:t>ex :  </a:t>
            </a:r>
            <a:endParaRPr/>
          </a:p>
          <a:p>
            <a:pPr indent="0" lvl="0" marL="457200" rtl="0" algn="l">
              <a:lnSpc>
                <a:spcPct val="115000"/>
              </a:lnSpc>
              <a:spcBef>
                <a:spcPts val="1200"/>
              </a:spcBef>
              <a:spcAft>
                <a:spcPts val="1200"/>
              </a:spcAft>
              <a:buSzPts val="1800"/>
              <a:buNone/>
            </a:pPr>
            <a:r>
              <a:rPr lang="zh-TW"/>
              <a:t>prices = {'apple':7.5, 'orange':4.5, 'banana':2}</a:t>
            </a:r>
            <a:endParaRPr/>
          </a:p>
        </p:txBody>
      </p:sp>
      <p:pic>
        <p:nvPicPr>
          <p:cNvPr id="355" name="Google Shape;355;p30"/>
          <p:cNvPicPr preferRelativeResize="0"/>
          <p:nvPr/>
        </p:nvPicPr>
        <p:blipFill rotWithShape="1">
          <a:blip r:embed="rId3">
            <a:alphaModFix/>
          </a:blip>
          <a:srcRect b="0" l="0" r="0" t="0"/>
          <a:stretch/>
        </p:blipFill>
        <p:spPr>
          <a:xfrm>
            <a:off x="5478400" y="2697150"/>
            <a:ext cx="3598274" cy="2324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txBox="1"/>
          <p:nvPr>
            <p:ph type="title"/>
          </p:nvPr>
        </p:nvSpPr>
        <p:spPr>
          <a:xfrm>
            <a:off x="311700" y="1676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dict之常用指令-1</a:t>
            </a:r>
            <a:endParaRPr/>
          </a:p>
        </p:txBody>
      </p:sp>
      <p:graphicFrame>
        <p:nvGraphicFramePr>
          <p:cNvPr id="361" name="Google Shape;361;p31"/>
          <p:cNvGraphicFramePr/>
          <p:nvPr/>
        </p:nvGraphicFramePr>
        <p:xfrm>
          <a:off x="246550" y="897825"/>
          <a:ext cx="3000000" cy="3000000"/>
        </p:xfrm>
        <a:graphic>
          <a:graphicData uri="http://schemas.openxmlformats.org/drawingml/2006/table">
            <a:tbl>
              <a:tblPr>
                <a:noFill/>
                <a:tableStyleId>{26273F57-4A60-4CBA-9E0A-1DAEBCCD9011}</a:tableStyleId>
              </a:tblPr>
              <a:tblGrid>
                <a:gridCol w="1258250"/>
                <a:gridCol w="2555725"/>
                <a:gridCol w="4849500"/>
              </a:tblGrid>
              <a:tr h="2941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指令</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get()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dict.get(key, default=None)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返回指定鍵的值，如果鍵不存在，則返回默認值（默認為 None）。</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keys()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dict.keys()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返回字典中所有鍵的視圖。</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values()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dict.values()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返回字典中所有值的視圖。</a:t>
                      </a:r>
                      <a:endParaRPr sz="1400" u="none" cap="none" strike="noStrike"/>
                    </a:p>
                  </a:txBody>
                  <a:tcPr marT="91425" marB="91425" marR="91425" marL="91425"/>
                </a:tc>
              </a:tr>
              <a:tr h="2941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items()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dict.items()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返回字典中所有鍵值對的視圖。</a:t>
                      </a:r>
                      <a:endParaRPr sz="1400" u="none" cap="none" strike="noStrike"/>
                    </a:p>
                  </a:txBody>
                  <a:tcPr marT="91425" marB="91425" marR="91425" marL="91425"/>
                </a:tc>
              </a:tr>
              <a:tr h="56595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pop()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dict.pop(key, default=None)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移除並返回指定鍵的值。如果鍵不存在，則返回默認值或引發 KeyError。</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popitem()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dict.popitem()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隨機移除並返回字典中的一對鍵值對（Python 3.7+ 會移除最後一項）。</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update()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dict.update(other_dict)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使用另一個字典或可迭代對象更新當前字典的鍵值對。</a:t>
                      </a:r>
                      <a:endParaRPr sz="1400" u="none" cap="none" strike="noStrike"/>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2"/>
          <p:cNvSpPr txBox="1"/>
          <p:nvPr>
            <p:ph type="title"/>
          </p:nvPr>
        </p:nvSpPr>
        <p:spPr>
          <a:xfrm>
            <a:off x="311700" y="1676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dict之常用指令-2</a:t>
            </a:r>
            <a:endParaRPr/>
          </a:p>
        </p:txBody>
      </p:sp>
      <p:graphicFrame>
        <p:nvGraphicFramePr>
          <p:cNvPr id="367" name="Google Shape;367;p32"/>
          <p:cNvGraphicFramePr/>
          <p:nvPr/>
        </p:nvGraphicFramePr>
        <p:xfrm>
          <a:off x="246550" y="897825"/>
          <a:ext cx="3000000" cy="3000000"/>
        </p:xfrm>
        <a:graphic>
          <a:graphicData uri="http://schemas.openxmlformats.org/drawingml/2006/table">
            <a:tbl>
              <a:tblPr>
                <a:noFill/>
                <a:tableStyleId>{26273F57-4A60-4CBA-9E0A-1DAEBCCD9011}</a:tableStyleId>
              </a:tblPr>
              <a:tblGrid>
                <a:gridCol w="1258250"/>
                <a:gridCol w="2253175"/>
                <a:gridCol w="5152050"/>
              </a:tblGrid>
              <a:tr h="2941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指令</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setdefault()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dict.setdefault(key, default=None)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返回指定鍵的值，如果鍵不存在，則將該鍵設置為默認值並返回該值。</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clear()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dict.clear()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清空字典，移除所有的鍵值對。</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copy()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dict.copy()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返回字典的複製。</a:t>
                      </a:r>
                      <a:endParaRPr sz="1400" u="none" cap="none" strike="noStrike"/>
                    </a:p>
                  </a:txBody>
                  <a:tcPr marT="91425" marB="91425" marR="91425" marL="91425"/>
                </a:tc>
              </a:tr>
              <a:tr h="2941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fromkeys()</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dict.fromkeys(iterable, value=None)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使用指定的鍵和默認值創建新字典。</a:t>
                      </a:r>
                      <a:endParaRPr sz="1400" u="none" cap="none" strike="noStrike"/>
                    </a:p>
                  </a:txBody>
                  <a:tcPr marT="91425" marB="91425" marR="91425" marL="91425"/>
                </a:tc>
              </a:tr>
              <a:tr h="56595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key in dict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檢查鍵是否存在於字典中，存在返回 True，否則返回 False。</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del dict[key]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刪除指定鍵的鍵值對。如果鍵不存在，則引發 KeyError。</a:t>
                      </a:r>
                      <a:endParaRPr sz="1400" u="none" cap="none" strike="noStrike"/>
                    </a:p>
                  </a:txBody>
                  <a:tcPr marT="91425" marB="91425" marR="91425" marL="91425"/>
                </a:tc>
              </a:tr>
              <a:tr h="432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len()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len(dict)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返回字典中的鍵值對數量。</a:t>
                      </a:r>
                      <a:endParaRPr sz="1400" u="none" cap="none" strike="noStrike"/>
                    </a:p>
                  </a:txBody>
                  <a:tcPr marT="91425" marB="91425" marR="91425" marL="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集合型態 (set)</a:t>
            </a:r>
            <a:endParaRPr/>
          </a:p>
        </p:txBody>
      </p:sp>
      <p:sp>
        <p:nvSpPr>
          <p:cNvPr id="373" name="Google Shape;373;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zh-TW"/>
              <a:t>集合內的元素不可以重複，若有重複會自動剔除。 </a:t>
            </a:r>
            <a:endParaRPr/>
          </a:p>
          <a:p>
            <a:pPr indent="-342900" lvl="0" marL="457200" rtl="0" algn="l">
              <a:lnSpc>
                <a:spcPct val="115000"/>
              </a:lnSpc>
              <a:spcBef>
                <a:spcPts val="0"/>
              </a:spcBef>
              <a:spcAft>
                <a:spcPts val="0"/>
              </a:spcAft>
              <a:buSzPts val="1800"/>
              <a:buChar char="●"/>
            </a:pPr>
            <a:r>
              <a:rPr lang="zh-TW"/>
              <a:t> 當我們只關心資料是否出現在其中，而不關心其位置時可使用。</a:t>
            </a:r>
            <a:endParaRPr/>
          </a:p>
          <a:p>
            <a:pPr indent="-342900" lvl="0" marL="457200" rtl="0" algn="l">
              <a:lnSpc>
                <a:spcPct val="115000"/>
              </a:lnSpc>
              <a:spcBef>
                <a:spcPts val="0"/>
              </a:spcBef>
              <a:spcAft>
                <a:spcPts val="0"/>
              </a:spcAft>
              <a:buSzPts val="1800"/>
              <a:buChar char="●"/>
            </a:pPr>
            <a:r>
              <a:rPr lang="zh-TW"/>
              <a:t>集合型態 (set types) 共有兩種 </a:t>
            </a:r>
            <a:endParaRPr/>
          </a:p>
          <a:p>
            <a:pPr indent="-317500" lvl="1" marL="914400" rtl="0" algn="l">
              <a:lnSpc>
                <a:spcPct val="115000"/>
              </a:lnSpc>
              <a:spcBef>
                <a:spcPts val="0"/>
              </a:spcBef>
              <a:spcAft>
                <a:spcPts val="0"/>
              </a:spcAft>
              <a:buSzPts val="1400"/>
              <a:buChar char="○"/>
            </a:pPr>
            <a:r>
              <a:rPr lang="zh-TW"/>
              <a:t>set: 集合，可變 (mutable) </a:t>
            </a:r>
            <a:endParaRPr/>
          </a:p>
          <a:p>
            <a:pPr indent="-317500" lvl="1" marL="914400" rtl="0" algn="l">
              <a:lnSpc>
                <a:spcPct val="115000"/>
              </a:lnSpc>
              <a:spcBef>
                <a:spcPts val="0"/>
              </a:spcBef>
              <a:spcAft>
                <a:spcPts val="0"/>
              </a:spcAft>
              <a:buSzPts val="1400"/>
              <a:buChar char="○"/>
            </a:pPr>
            <a:r>
              <a:rPr lang="zh-TW"/>
              <a:t>frozenset : 原封集合，建⽴後不可新增或刪除元素 (element) ，因此為不可變 (immutable)</a:t>
            </a:r>
            <a:endParaRPr/>
          </a:p>
          <a:p>
            <a:pPr indent="-342900" lvl="0" marL="457200" rtl="0" algn="l">
              <a:lnSpc>
                <a:spcPct val="115000"/>
              </a:lnSpc>
              <a:spcBef>
                <a:spcPts val="0"/>
              </a:spcBef>
              <a:spcAft>
                <a:spcPts val="0"/>
              </a:spcAft>
              <a:buSzPts val="1800"/>
              <a:buChar char="●"/>
            </a:pPr>
            <a:r>
              <a:rPr lang="zh-TW"/>
              <a:t>集合型態的字⾯常數使⽤⼤括弧{ }，其物件屬於複合資料型態，也就是說單⼀集合型態物件可以包含多個元素，但沒有重複的元素。</a:t>
            </a:r>
            <a:endParaRPr/>
          </a:p>
          <a:p>
            <a:pPr indent="0" lvl="0" marL="0" rtl="0" algn="l">
              <a:lnSpc>
                <a:spcPct val="115000"/>
              </a:lnSpc>
              <a:spcBef>
                <a:spcPts val="1200"/>
              </a:spcBef>
              <a:spcAft>
                <a:spcPts val="0"/>
              </a:spcAft>
              <a:buSzPts val="1800"/>
              <a:buNone/>
            </a:pPr>
            <a:r>
              <a:rPr lang="zh-TW"/>
              <a:t>ex: s = set('糖糖 葫蘆葫蘆 糖糖糖 葫蘆蘆蘆') (實際上只會存'糖',' ','葫','蘆') </a:t>
            </a:r>
            <a:endParaRPr/>
          </a:p>
          <a:p>
            <a:pPr indent="0" lvl="0" marL="0" rtl="0" algn="l">
              <a:lnSpc>
                <a:spcPct val="115000"/>
              </a:lnSpc>
              <a:spcBef>
                <a:spcPts val="1200"/>
              </a:spcBef>
              <a:spcAft>
                <a:spcPts val="1200"/>
              </a:spcAft>
              <a:buSzPts val="1800"/>
              <a:buNone/>
            </a:pPr>
            <a:r>
              <a:rPr lang="zh-TW"/>
              <a:t>ex: s1={1,1,3,4,4,5}，s2={1,3,4,5}，s1==s2 → True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4"/>
          <p:cNvSpPr txBox="1"/>
          <p:nvPr>
            <p:ph type="title"/>
          </p:nvPr>
        </p:nvSpPr>
        <p:spPr>
          <a:xfrm>
            <a:off x="311700" y="750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set之常用指令-1</a:t>
            </a:r>
            <a:endParaRPr/>
          </a:p>
        </p:txBody>
      </p:sp>
      <p:graphicFrame>
        <p:nvGraphicFramePr>
          <p:cNvPr id="379" name="Google Shape;379;p34"/>
          <p:cNvGraphicFramePr/>
          <p:nvPr/>
        </p:nvGraphicFramePr>
        <p:xfrm>
          <a:off x="952500" y="647700"/>
          <a:ext cx="3000000" cy="3000000"/>
        </p:xfrm>
        <a:graphic>
          <a:graphicData uri="http://schemas.openxmlformats.org/drawingml/2006/table">
            <a:tbl>
              <a:tblPr>
                <a:noFill/>
                <a:tableStyleId>{26273F57-4A60-4CBA-9E0A-1DAEBCCD9011}</a:tableStyleId>
              </a:tblPr>
              <a:tblGrid>
                <a:gridCol w="1255525"/>
                <a:gridCol w="2134225"/>
                <a:gridCol w="38492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指令</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add()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set.add(element)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向集合中添加一個元素，如果該元素已存在，則不會添加。</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remove()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set.remove(element)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從集合中移除指定元素。如果該元素不存在，會引發 </a:t>
                      </a:r>
                      <a:r>
                        <a:rPr lang="zh-TW" sz="1100" u="none" cap="none" strike="noStrike">
                          <a:solidFill>
                            <a:srgbClr val="188038"/>
                          </a:solidFill>
                          <a:latin typeface="Roboto Mono"/>
                          <a:ea typeface="Roboto Mono"/>
                          <a:cs typeface="Roboto Mono"/>
                          <a:sym typeface="Roboto Mono"/>
                        </a:rPr>
                        <a:t>KeyError</a:t>
                      </a:r>
                      <a:r>
                        <a:rPr lang="zh-TW" sz="1100" u="none" cap="none" strike="noStrike"/>
                        <a:t>。</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discard()</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set.discard(element)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從集合中移除指定元素，如果該元素不存在，不會引發錯誤。</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clear()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set.clear()</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清空集合，移除所有元素。</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union()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set.union(set2)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返回兩個集合的並集，即兩個集合中所有不重複的元素組成的新集合。</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intersection()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set.intersection(set2)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返回兩個集合的交集，即兩個集合中都存在的元素組成的新集合。</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difference()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set.difference(set2)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返回當前集合與另一個集合的差集，即當前集合中有，但另一個集合中沒有的元素。</a:t>
                      </a:r>
                      <a:endParaRPr sz="1400" u="none" cap="none" strike="noStrike"/>
                    </a:p>
                  </a:txBody>
                  <a:tcPr marT="91425" marB="91425" marR="91425" marL="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5"/>
          <p:cNvSpPr txBox="1"/>
          <p:nvPr>
            <p:ph type="title"/>
          </p:nvPr>
        </p:nvSpPr>
        <p:spPr>
          <a:xfrm>
            <a:off x="311700" y="1550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set之常用指令-2</a:t>
            </a:r>
            <a:endParaRPr/>
          </a:p>
        </p:txBody>
      </p:sp>
      <p:graphicFrame>
        <p:nvGraphicFramePr>
          <p:cNvPr id="385" name="Google Shape;385;p35"/>
          <p:cNvGraphicFramePr/>
          <p:nvPr/>
        </p:nvGraphicFramePr>
        <p:xfrm>
          <a:off x="933600" y="807900"/>
          <a:ext cx="3000000" cy="3000000"/>
        </p:xfrm>
        <a:graphic>
          <a:graphicData uri="http://schemas.openxmlformats.org/drawingml/2006/table">
            <a:tbl>
              <a:tblPr>
                <a:noFill/>
                <a:tableStyleId>{26273F57-4A60-4CBA-9E0A-1DAEBCCD9011}</a:tableStyleId>
              </a:tblPr>
              <a:tblGrid>
                <a:gridCol w="1236375"/>
                <a:gridCol w="2043175"/>
                <a:gridCol w="4060250"/>
              </a:tblGrid>
              <a:tr h="356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指令</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issubset()</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set.issubset(set2)</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檢查當前集合是否是另一個集合的子集。如果是，返回 </a:t>
                      </a:r>
                      <a:r>
                        <a:rPr lang="zh-TW" sz="1100" u="none" cap="none" strike="noStrike">
                          <a:solidFill>
                            <a:srgbClr val="188038"/>
                          </a:solidFill>
                          <a:latin typeface="Roboto Mono"/>
                          <a:ea typeface="Roboto Mono"/>
                          <a:cs typeface="Roboto Mono"/>
                          <a:sym typeface="Roboto Mono"/>
                        </a:rPr>
                        <a:t>True</a:t>
                      </a:r>
                      <a:r>
                        <a:rPr lang="zh-TW" sz="1100" u="none" cap="none" strike="noStrike"/>
                        <a:t>，否則返回 </a:t>
                      </a:r>
                      <a:r>
                        <a:rPr lang="zh-TW" sz="1100" u="none" cap="none" strike="noStrike">
                          <a:solidFill>
                            <a:srgbClr val="188038"/>
                          </a:solidFill>
                          <a:latin typeface="Roboto Mono"/>
                          <a:ea typeface="Roboto Mono"/>
                          <a:cs typeface="Roboto Mono"/>
                          <a:sym typeface="Roboto Mono"/>
                        </a:rPr>
                        <a:t>False</a:t>
                      </a:r>
                      <a:r>
                        <a:rPr lang="zh-TW" sz="1100" u="none" cap="none" strike="noStrike"/>
                        <a:t>。</a:t>
                      </a:r>
                      <a:endParaRPr sz="1400" u="none" cap="none" strike="noStrike"/>
                    </a:p>
                  </a:txBody>
                  <a:tcPr marT="91425" marB="91425" marR="91425" marL="91425">
                    <a:lnT cap="flat" cmpd="sng" w="9525">
                      <a:solidFill>
                        <a:srgbClr val="9E9E9E"/>
                      </a:solidFill>
                      <a:prstDash val="solid"/>
                      <a:round/>
                      <a:headEnd len="sm" w="sm" type="none"/>
                      <a:tailEnd len="sm" w="sm" type="none"/>
                    </a:lnT>
                  </a:tcPr>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issuperset()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set.issuperset(set2)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檢查當前集合是否是另一個集合的超集。如果是，返回 </a:t>
                      </a:r>
                      <a:r>
                        <a:rPr lang="zh-TW" sz="1100" u="none" cap="none" strike="noStrike">
                          <a:solidFill>
                            <a:srgbClr val="188038"/>
                          </a:solidFill>
                          <a:latin typeface="Roboto Mono"/>
                          <a:ea typeface="Roboto Mono"/>
                          <a:cs typeface="Roboto Mono"/>
                          <a:sym typeface="Roboto Mono"/>
                        </a:rPr>
                        <a:t>True</a:t>
                      </a:r>
                      <a:r>
                        <a:rPr lang="zh-TW" sz="1100" u="none" cap="none" strike="noStrike"/>
                        <a:t>，否則返回 </a:t>
                      </a:r>
                      <a:r>
                        <a:rPr lang="zh-TW" sz="1100" u="none" cap="none" strike="noStrike">
                          <a:solidFill>
                            <a:srgbClr val="188038"/>
                          </a:solidFill>
                          <a:latin typeface="Roboto Mono"/>
                          <a:ea typeface="Roboto Mono"/>
                          <a:cs typeface="Roboto Mono"/>
                          <a:sym typeface="Roboto Mono"/>
                        </a:rPr>
                        <a:t>False</a:t>
                      </a:r>
                      <a:r>
                        <a:rPr lang="zh-TW" sz="1100" u="none" cap="none" strike="noStrike"/>
                        <a:t>。</a:t>
                      </a:r>
                      <a:endParaRPr sz="1400" u="none" cap="none" strike="noStrike"/>
                    </a:p>
                  </a:txBody>
                  <a:tcPr marT="91425" marB="91425" marR="91425" marL="91425"/>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isdisjoint()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set.isdisjoint(set2)</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檢查兩個集合是否沒有共同元素。如果沒有，返回 </a:t>
                      </a:r>
                      <a:r>
                        <a:rPr lang="zh-TW" sz="1100" u="none" cap="none" strike="noStrike">
                          <a:solidFill>
                            <a:srgbClr val="188038"/>
                          </a:solidFill>
                          <a:latin typeface="Roboto Mono"/>
                          <a:ea typeface="Roboto Mono"/>
                          <a:cs typeface="Roboto Mono"/>
                          <a:sym typeface="Roboto Mono"/>
                        </a:rPr>
                        <a:t>True</a:t>
                      </a:r>
                      <a:r>
                        <a:rPr lang="zh-TW" sz="1100" u="none" cap="none" strike="noStrike"/>
                        <a:t>，否則返回 </a:t>
                      </a:r>
                      <a:r>
                        <a:rPr lang="zh-TW" sz="1100" u="none" cap="none" strike="noStrike">
                          <a:solidFill>
                            <a:srgbClr val="188038"/>
                          </a:solidFill>
                          <a:latin typeface="Roboto Mono"/>
                          <a:ea typeface="Roboto Mono"/>
                          <a:cs typeface="Roboto Mono"/>
                          <a:sym typeface="Roboto Mono"/>
                        </a:rPr>
                        <a:t>False</a:t>
                      </a:r>
                      <a:r>
                        <a:rPr lang="zh-TW" sz="1100" u="none" cap="none" strike="noStrike"/>
                        <a:t>。</a:t>
                      </a:r>
                      <a:endParaRPr sz="1400" u="none" cap="none" strike="noStrike"/>
                    </a:p>
                  </a:txBody>
                  <a:tcPr marT="91425" marB="91425" marR="91425" marL="91425"/>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copy()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set.copy()</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返回集合的複製</a:t>
                      </a:r>
                      <a:endParaRPr sz="1400" u="none" cap="none" strike="noStrike"/>
                    </a:p>
                  </a:txBody>
                  <a:tcPr marT="91425" marB="91425" marR="91425" marL="91425"/>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len()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len(set)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返回集合中元素的數量。</a:t>
                      </a:r>
                      <a:endParaRPr sz="1400" u="none" cap="none" strike="noStrike"/>
                    </a:p>
                  </a:txBody>
                  <a:tcPr marT="91425" marB="91425" marR="91425" marL="91425"/>
                </a:tc>
              </a:tr>
              <a:tr h="4939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in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element in set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檢查某元素是否在集合中。如果在，返回 </a:t>
                      </a:r>
                      <a:r>
                        <a:rPr lang="zh-TW" sz="1100" u="none" cap="none" strike="noStrike">
                          <a:solidFill>
                            <a:srgbClr val="188038"/>
                          </a:solidFill>
                          <a:latin typeface="Roboto Mono"/>
                          <a:ea typeface="Roboto Mono"/>
                          <a:cs typeface="Roboto Mono"/>
                          <a:sym typeface="Roboto Mono"/>
                        </a:rPr>
                        <a:t>True</a:t>
                      </a:r>
                      <a:r>
                        <a:rPr lang="zh-TW" sz="1100" u="none" cap="none" strike="noStrike"/>
                        <a:t>，否則返回 </a:t>
                      </a:r>
                      <a:r>
                        <a:rPr lang="zh-TW" sz="1100" u="none" cap="none" strike="noStrike">
                          <a:solidFill>
                            <a:srgbClr val="188038"/>
                          </a:solidFill>
                          <a:latin typeface="Roboto Mono"/>
                          <a:ea typeface="Roboto Mono"/>
                          <a:cs typeface="Roboto Mono"/>
                          <a:sym typeface="Roboto Mono"/>
                        </a:rPr>
                        <a:t>False</a:t>
                      </a:r>
                      <a:r>
                        <a:rPr lang="zh-TW" sz="1100" u="none" cap="none" strike="noStrike"/>
                        <a:t>。</a:t>
                      </a:r>
                      <a:endParaRPr sz="1400" u="none" cap="none" strike="noStrike"/>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群集資料型態比較</a:t>
            </a:r>
            <a:endParaRPr/>
          </a:p>
        </p:txBody>
      </p:sp>
      <p:graphicFrame>
        <p:nvGraphicFramePr>
          <p:cNvPr id="391" name="Google Shape;391;p36"/>
          <p:cNvGraphicFramePr/>
          <p:nvPr/>
        </p:nvGraphicFramePr>
        <p:xfrm>
          <a:off x="760825" y="1152475"/>
          <a:ext cx="3000000" cy="3000000"/>
        </p:xfrm>
        <a:graphic>
          <a:graphicData uri="http://schemas.openxmlformats.org/drawingml/2006/table">
            <a:tbl>
              <a:tblPr>
                <a:noFill/>
                <a:tableStyleId>{26273F57-4A60-4CBA-9E0A-1DAEBCCD9011}</a:tableStyleId>
              </a:tblPr>
              <a:tblGrid>
                <a:gridCol w="1988125"/>
                <a:gridCol w="1988125"/>
                <a:gridCol w="1988125"/>
                <a:gridCol w="198812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型態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符號</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特性說明</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應用場景</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list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有序，具備索引，內容 與長度可變，通過索引 進行查找。</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可以使用索引，簡單 的資料集合。</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tuple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 )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有序，將多樣的物件集 合到一起，不能修改， 通過索引進行查找。</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把一些資料當作一個 整體去使用，不能修 改。</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dict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 }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是一組鍵和值的組合， 通過鍵進行查找，沒有 順序，鍵不能重複。</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使用鍵值和值進行關 聯的資料。</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set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 )或 { }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無序，元素只出現一次， 自動去除重複。</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資料只出現一次，只 關心資料是否出現， 不關心其順序與位置。</a:t>
                      </a:r>
                      <a:endParaRPr sz="1400" u="none" cap="none" strike="noStrike"/>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7"/>
          <p:cNvSpPr txBox="1"/>
          <p:nvPr>
            <p:ph type="title"/>
          </p:nvPr>
        </p:nvSpPr>
        <p:spPr>
          <a:xfrm>
            <a:off x="311700" y="2001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運算子</a:t>
            </a:r>
            <a:endParaRPr/>
          </a:p>
        </p:txBody>
      </p:sp>
      <p:pic>
        <p:nvPicPr>
          <p:cNvPr id="397" name="Google Shape;397;p37"/>
          <p:cNvPicPr preferRelativeResize="0"/>
          <p:nvPr/>
        </p:nvPicPr>
        <p:blipFill rotWithShape="1">
          <a:blip r:embed="rId3">
            <a:alphaModFix/>
          </a:blip>
          <a:srcRect b="0" l="0" r="0" t="0"/>
          <a:stretch/>
        </p:blipFill>
        <p:spPr>
          <a:xfrm>
            <a:off x="311700" y="1170125"/>
            <a:ext cx="4686474" cy="3543726"/>
          </a:xfrm>
          <a:prstGeom prst="rect">
            <a:avLst/>
          </a:prstGeom>
          <a:noFill/>
          <a:ln>
            <a:noFill/>
          </a:ln>
        </p:spPr>
      </p:pic>
      <p:pic>
        <p:nvPicPr>
          <p:cNvPr id="398" name="Google Shape;398;p37"/>
          <p:cNvPicPr preferRelativeResize="0"/>
          <p:nvPr/>
        </p:nvPicPr>
        <p:blipFill rotWithShape="1">
          <a:blip r:embed="rId4">
            <a:alphaModFix/>
          </a:blip>
          <a:srcRect b="0" l="0" r="0" t="0"/>
          <a:stretch/>
        </p:blipFill>
        <p:spPr>
          <a:xfrm>
            <a:off x="5150574" y="1170125"/>
            <a:ext cx="3841026" cy="3039898"/>
          </a:xfrm>
          <a:prstGeom prst="rect">
            <a:avLst/>
          </a:prstGeom>
          <a:noFill/>
          <a:ln>
            <a:noFill/>
          </a:ln>
        </p:spPr>
      </p:pic>
      <p:sp>
        <p:nvSpPr>
          <p:cNvPr id="399" name="Google Shape;399;p37"/>
          <p:cNvSpPr txBox="1"/>
          <p:nvPr/>
        </p:nvSpPr>
        <p:spPr>
          <a:xfrm>
            <a:off x="1192700" y="4743300"/>
            <a:ext cx="752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https://steam.oxxostudio.tw/category/python/basic/operator.html</a:t>
            </a:r>
            <a:endParaRPr b="0" i="0" sz="1400" u="none" cap="none" strike="noStrike">
              <a:solidFill>
                <a:srgbClr val="000000"/>
              </a:solidFill>
              <a:latin typeface="Arial"/>
              <a:ea typeface="Arial"/>
              <a:cs typeface="Arial"/>
              <a:sym typeface="Arial"/>
            </a:endParaRPr>
          </a:p>
        </p:txBody>
      </p:sp>
      <p:sp>
        <p:nvSpPr>
          <p:cNvPr id="400" name="Google Shape;400;p37"/>
          <p:cNvSpPr txBox="1"/>
          <p:nvPr/>
        </p:nvSpPr>
        <p:spPr>
          <a:xfrm>
            <a:off x="311700" y="693125"/>
            <a:ext cx="13929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zh-TW" sz="1900" u="none" cap="none" strike="noStrike">
                <a:solidFill>
                  <a:schemeClr val="dk1"/>
                </a:solidFill>
                <a:latin typeface="Proxima Nova"/>
                <a:ea typeface="Proxima Nova"/>
                <a:cs typeface="Proxima Nova"/>
                <a:sym typeface="Proxima Nova"/>
              </a:rPr>
              <a:t>算數運算子</a:t>
            </a:r>
            <a:endParaRPr b="0" i="0" sz="500" u="none" cap="none" strike="noStrike">
              <a:solidFill>
                <a:srgbClr val="000000"/>
              </a:solidFill>
              <a:latin typeface="Arial"/>
              <a:ea typeface="Arial"/>
              <a:cs typeface="Arial"/>
              <a:sym typeface="Arial"/>
            </a:endParaRPr>
          </a:p>
        </p:txBody>
      </p:sp>
      <p:sp>
        <p:nvSpPr>
          <p:cNvPr id="401" name="Google Shape;401;p37"/>
          <p:cNvSpPr txBox="1"/>
          <p:nvPr/>
        </p:nvSpPr>
        <p:spPr>
          <a:xfrm>
            <a:off x="5150575" y="693125"/>
            <a:ext cx="13929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zh-TW" sz="1900" u="none" cap="none" strike="noStrike">
                <a:solidFill>
                  <a:schemeClr val="dk1"/>
                </a:solidFill>
                <a:latin typeface="Proxima Nova"/>
                <a:ea typeface="Proxima Nova"/>
                <a:cs typeface="Proxima Nova"/>
                <a:sym typeface="Proxima Nova"/>
              </a:rPr>
              <a:t>比較運算子</a:t>
            </a:r>
            <a:endParaRPr b="0" i="0" sz="5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8"/>
          <p:cNvSpPr txBox="1"/>
          <p:nvPr>
            <p:ph type="title"/>
          </p:nvPr>
        </p:nvSpPr>
        <p:spPr>
          <a:xfrm>
            <a:off x="311700" y="93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運算子</a:t>
            </a:r>
            <a:endParaRPr/>
          </a:p>
        </p:txBody>
      </p:sp>
      <p:sp>
        <p:nvSpPr>
          <p:cNvPr id="407" name="Google Shape;407;p38"/>
          <p:cNvSpPr txBox="1"/>
          <p:nvPr>
            <p:ph idx="1" type="body"/>
          </p:nvPr>
        </p:nvSpPr>
        <p:spPr>
          <a:xfrm>
            <a:off x="311700" y="758450"/>
            <a:ext cx="8520600" cy="38103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b="1" lang="zh-TW"/>
              <a:t>賦值運算子:</a:t>
            </a:r>
            <a:r>
              <a:rPr lang="zh-TW"/>
              <a:t>就是「等號 =」，會將等號右邊的結果 ( 值 )，指定 ( 賦予 ) 給等號左邊的變數</a:t>
            </a:r>
            <a:endParaRPr/>
          </a:p>
          <a:p>
            <a:pPr indent="0" lvl="0" marL="0" rtl="0" algn="l">
              <a:lnSpc>
                <a:spcPct val="115000"/>
              </a:lnSpc>
              <a:spcBef>
                <a:spcPts val="1200"/>
              </a:spcBef>
              <a:spcAft>
                <a:spcPts val="0"/>
              </a:spcAft>
              <a:buSzPct val="117647"/>
              <a:buNone/>
            </a:pPr>
            <a:r>
              <a:rPr b="1" lang="zh-TW"/>
              <a:t>比較運算子:</a:t>
            </a:r>
            <a:endParaRPr b="1"/>
          </a:p>
          <a:p>
            <a:pPr indent="0" lvl="0" marL="0" rtl="0" algn="l">
              <a:lnSpc>
                <a:spcPct val="115000"/>
              </a:lnSpc>
              <a:spcBef>
                <a:spcPts val="1200"/>
              </a:spcBef>
              <a:spcAft>
                <a:spcPts val="0"/>
              </a:spcAft>
              <a:buSzPct val="117647"/>
              <a:buNone/>
            </a:pPr>
            <a:r>
              <a:rPr lang="zh-TW"/>
              <a:t>「比較運算子」可以判斷「and」( 且 )、「or」( 或 ) 和「not」( 非 ) 三種邏輯狀態，運算的結果只有 True 或是 False 兩種。</a:t>
            </a:r>
            <a:endParaRPr/>
          </a:p>
          <a:p>
            <a:pPr indent="0" lvl="0" marL="0" rtl="0" algn="l">
              <a:lnSpc>
                <a:spcPct val="115000"/>
              </a:lnSpc>
              <a:spcBef>
                <a:spcPts val="1200"/>
              </a:spcBef>
              <a:spcAft>
                <a:spcPts val="0"/>
              </a:spcAft>
              <a:buSzPct val="117647"/>
              <a:buNone/>
            </a:pPr>
            <a:r>
              <a:rPr b="1" lang="zh-TW"/>
              <a:t>in 與 is 運算子:</a:t>
            </a:r>
            <a:endParaRPr b="1"/>
          </a:p>
          <a:p>
            <a:pPr indent="0" lvl="0" marL="0" rtl="0" algn="l">
              <a:lnSpc>
                <a:spcPct val="115000"/>
              </a:lnSpc>
              <a:spcBef>
                <a:spcPts val="1200"/>
              </a:spcBef>
              <a:spcAft>
                <a:spcPts val="0"/>
              </a:spcAft>
              <a:buSzPct val="117647"/>
              <a:buNone/>
            </a:pPr>
            <a:r>
              <a:rPr lang="zh-TW"/>
              <a:t>如果有 a 和 b 兩個變數，使用「in 運算子」可以判斷 b 是否包含 a，使用「is 運算子」可以判斷 a 和 b 是否為相同物件，如果判斷包含或相同，回傳 True，否則回傳 False。</a:t>
            </a:r>
            <a:endParaRPr/>
          </a:p>
          <a:p>
            <a:pPr indent="0" lvl="0" marL="0" rtl="0" algn="l">
              <a:lnSpc>
                <a:spcPct val="115000"/>
              </a:lnSpc>
              <a:spcBef>
                <a:spcPts val="1200"/>
              </a:spcBef>
              <a:spcAft>
                <a:spcPts val="0"/>
              </a:spcAft>
              <a:buSzPct val="117647"/>
              <a:buNone/>
            </a:pPr>
            <a:r>
              <a:rPr b="1" lang="zh-TW"/>
              <a:t>跨列運算子:</a:t>
            </a:r>
            <a:endParaRPr b="1"/>
          </a:p>
          <a:p>
            <a:pPr indent="0" lvl="0" marL="0" rtl="0" algn="l">
              <a:lnSpc>
                <a:spcPct val="115000"/>
              </a:lnSpc>
              <a:spcBef>
                <a:spcPts val="1200"/>
              </a:spcBef>
              <a:spcAft>
                <a:spcPts val="0"/>
              </a:spcAft>
              <a:buSzPct val="117647"/>
              <a:buNone/>
            </a:pPr>
            <a:r>
              <a:rPr lang="zh-TW"/>
              <a:t>如果有遇到「算式過長，需要換行」的程式碼或運算式，除了使用小括號包覆使其換行計算，也能使用「反斜線 \」放在一列的最後方，就可以將程式碼進行換列，注意，使用跨列運算子後不得加上空格或其它字元</a:t>
            </a:r>
            <a:endParaRPr/>
          </a:p>
          <a:p>
            <a:pPr indent="0" lvl="0" marL="0" rtl="0" algn="l">
              <a:lnSpc>
                <a:spcPct val="115000"/>
              </a:lnSpc>
              <a:spcBef>
                <a:spcPts val="1200"/>
              </a:spcBef>
              <a:spcAft>
                <a:spcPts val="1200"/>
              </a:spcAft>
              <a:buSzPct val="117647"/>
              <a:buNone/>
            </a:pPr>
            <a:r>
              <a:t/>
            </a:r>
            <a:endParaRPr/>
          </a:p>
        </p:txBody>
      </p:sp>
      <p:sp>
        <p:nvSpPr>
          <p:cNvPr id="408" name="Google Shape;408;p38"/>
          <p:cNvSpPr txBox="1"/>
          <p:nvPr/>
        </p:nvSpPr>
        <p:spPr>
          <a:xfrm>
            <a:off x="1405675" y="4643000"/>
            <a:ext cx="697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https://steam.oxxostudio.tw/category/python/basic/operator.html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運算子之優先順序</a:t>
            </a:r>
            <a:endParaRPr/>
          </a:p>
        </p:txBody>
      </p:sp>
      <p:pic>
        <p:nvPicPr>
          <p:cNvPr id="414" name="Google Shape;414;p39"/>
          <p:cNvPicPr preferRelativeResize="0"/>
          <p:nvPr/>
        </p:nvPicPr>
        <p:blipFill rotWithShape="1">
          <a:blip r:embed="rId3">
            <a:alphaModFix/>
          </a:blip>
          <a:srcRect b="0" l="0" r="0" t="0"/>
          <a:stretch/>
        </p:blipFill>
        <p:spPr>
          <a:xfrm>
            <a:off x="749500" y="1017725"/>
            <a:ext cx="7644999" cy="3837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例題1</a:t>
            </a:r>
            <a:endParaRPr/>
          </a:p>
        </p:txBody>
      </p:sp>
      <p:sp>
        <p:nvSpPr>
          <p:cNvPr id="420" name="Google Shape;420;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zh-TW"/>
              <a:t>num1 = '5000' ,num2='3000'  #str字串型態 </a:t>
            </a:r>
            <a:endParaRPr/>
          </a:p>
          <a:p>
            <a:pPr indent="-317500" lvl="1" marL="914400" rtl="0" algn="l">
              <a:lnSpc>
                <a:spcPct val="115000"/>
              </a:lnSpc>
              <a:spcBef>
                <a:spcPts val="0"/>
              </a:spcBef>
              <a:spcAft>
                <a:spcPts val="0"/>
              </a:spcAft>
              <a:buSzPts val="1400"/>
              <a:buChar char="○"/>
            </a:pPr>
            <a:r>
              <a:rPr lang="zh-TW"/>
              <a:t>若需要比較num1 與num2之大小的話怎麼辦？ </a:t>
            </a:r>
            <a:endParaRPr/>
          </a:p>
          <a:p>
            <a:pPr indent="0" lvl="0" marL="9144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zh-TW"/>
              <a:t>nums = [1,3,1,2,2,3,4,5] ,num2 = {1, 2, 3, 4, 5} </a:t>
            </a:r>
            <a:endParaRPr/>
          </a:p>
          <a:p>
            <a:pPr indent="-317500" lvl="1" marL="914400" rtl="0" algn="l">
              <a:lnSpc>
                <a:spcPct val="115000"/>
              </a:lnSpc>
              <a:spcBef>
                <a:spcPts val="0"/>
              </a:spcBef>
              <a:spcAft>
                <a:spcPts val="0"/>
              </a:spcAft>
              <a:buSzPts val="1400"/>
              <a:buChar char="○"/>
            </a:pPr>
            <a:r>
              <a:rPr lang="zh-TW"/>
              <a:t>若要讓print(num1==num2) 結果為True該如何做?</a:t>
            </a:r>
            <a:endParaRPr/>
          </a:p>
          <a:p>
            <a:pPr indent="0" lvl="0" marL="9144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zh-TW"/>
              <a:t>nums = (10,5,20,1,6,2) #tuple序對型態 </a:t>
            </a:r>
            <a:endParaRPr/>
          </a:p>
          <a:p>
            <a:pPr indent="-317500" lvl="1" marL="914400" rtl="0" algn="l">
              <a:lnSpc>
                <a:spcPct val="115000"/>
              </a:lnSpc>
              <a:spcBef>
                <a:spcPts val="0"/>
              </a:spcBef>
              <a:spcAft>
                <a:spcPts val="0"/>
              </a:spcAft>
              <a:buSzPts val="1400"/>
              <a:buChar char="○"/>
            </a:pPr>
            <a:r>
              <a:rPr lang="zh-TW"/>
              <a:t>tuple並不提供排序的⽅法，若要排序(由大到小) 該怎辦？</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例題2</a:t>
            </a:r>
            <a:endParaRPr/>
          </a:p>
        </p:txBody>
      </p:sp>
      <p:sp>
        <p:nvSpPr>
          <p:cNvPr id="426" name="Google Shape;426;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600"/>
              </a:spcBef>
              <a:spcAft>
                <a:spcPts val="0"/>
              </a:spcAft>
              <a:buSzPts val="1800"/>
              <a:buNone/>
            </a:pPr>
            <a:r>
              <a:rPr lang="zh-TW" sz="1600">
                <a:solidFill>
                  <a:schemeClr val="dk1"/>
                </a:solidFill>
                <a:highlight>
                  <a:schemeClr val="lt1"/>
                </a:highlight>
                <a:latin typeface="Arial"/>
                <a:ea typeface="Arial"/>
                <a:cs typeface="Arial"/>
                <a:sym typeface="Arial"/>
              </a:rPr>
              <a:t>使用set型別完成下列問題: 本班期末考試</a:t>
            </a:r>
            <a:endParaRPr sz="1600">
              <a:solidFill>
                <a:schemeClr val="dk1"/>
              </a:solidFill>
              <a:highlight>
                <a:schemeClr val="lt1"/>
              </a:highlight>
              <a:latin typeface="Arial"/>
              <a:ea typeface="Arial"/>
              <a:cs typeface="Arial"/>
              <a:sym typeface="Arial"/>
            </a:endParaRPr>
          </a:p>
          <a:p>
            <a:pPr indent="-330200" lvl="0" marL="457200" rtl="0" algn="l">
              <a:lnSpc>
                <a:spcPct val="115000"/>
              </a:lnSpc>
              <a:spcBef>
                <a:spcPts val="60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數學及格的有: Tom, John, Mary, Jimmy, Sunny, Amy</a:t>
            </a:r>
            <a:endParaRPr sz="1600">
              <a:solidFill>
                <a:schemeClr val="dk1"/>
              </a:solidFill>
              <a:highlight>
                <a:schemeClr val="lt1"/>
              </a:highlight>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英用及格的有: John, Mary , Tony , Bob , Pony, Tom , Alice</a:t>
            </a:r>
            <a:endParaRPr sz="1600">
              <a:solidFill>
                <a:schemeClr val="dk1"/>
              </a:solidFill>
              <a:highlight>
                <a:schemeClr val="lt1"/>
              </a:highlight>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分別印出數學及格但英 用不及格的名單 ,數學不及格 但英用及格 的名單,兩科都及格的名單</a:t>
            </a:r>
            <a:endParaRPr sz="1600">
              <a:solidFill>
                <a:schemeClr val="dk1"/>
              </a:solidFill>
              <a:highlight>
                <a:schemeClr val="lt1"/>
              </a:highlight>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Font typeface="Arial"/>
              <a:buChar char="●"/>
            </a:pPr>
            <a:r>
              <a:rPr lang="zh-TW" sz="1600">
                <a:solidFill>
                  <a:schemeClr val="dk1"/>
                </a:solidFill>
                <a:highlight>
                  <a:schemeClr val="lt1"/>
                </a:highlight>
                <a:latin typeface="Arial"/>
                <a:ea typeface="Arial"/>
                <a:cs typeface="Arial"/>
                <a:sym typeface="Arial"/>
              </a:rPr>
              <a:t>最後印出全班總共有幾個同學</a:t>
            </a:r>
            <a:endParaRPr sz="1600">
              <a:solidFill>
                <a:schemeClr val="dk1"/>
              </a:solidFill>
              <a:highlight>
                <a:schemeClr val="lt1"/>
              </a:highlight>
              <a:latin typeface="Arial"/>
              <a:ea typeface="Arial"/>
              <a:cs typeface="Arial"/>
              <a:sym typeface="Arial"/>
            </a:endParaRPr>
          </a:p>
          <a:p>
            <a:pPr indent="0" lvl="0" marL="0" rtl="0" algn="l">
              <a:lnSpc>
                <a:spcPct val="115000"/>
              </a:lnSpc>
              <a:spcBef>
                <a:spcPts val="500"/>
              </a:spcBef>
              <a:spcAft>
                <a:spcPts val="1200"/>
              </a:spcAft>
              <a:buSzPts val="1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2"/>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Numpy 基礎語法</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什麼是Numpy</a:t>
            </a:r>
            <a:endParaRPr/>
          </a:p>
        </p:txBody>
      </p:sp>
      <p:sp>
        <p:nvSpPr>
          <p:cNvPr id="437" name="Google Shape;437;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90000"/>
              </a:lnSpc>
              <a:spcBef>
                <a:spcPts val="0"/>
              </a:spcBef>
              <a:spcAft>
                <a:spcPts val="0"/>
              </a:spcAft>
              <a:buSzPts val="1800"/>
              <a:buNone/>
            </a:pPr>
            <a:r>
              <a:rPr lang="zh-TW" sz="1200">
                <a:solidFill>
                  <a:srgbClr val="333333"/>
                </a:solidFill>
                <a:highlight>
                  <a:srgbClr val="FFFFFF"/>
                </a:highlight>
                <a:latin typeface="Arial"/>
                <a:ea typeface="Arial"/>
                <a:cs typeface="Arial"/>
                <a:sym typeface="Arial"/>
              </a:rPr>
              <a:t>NumPy 是 Python 的一個第三方函式庫，不僅支援大量維度的陣列與矩陣運算，也具備大量的數學與統計函式函式庫，可以很有效的進行科學運算和資料數據分析，此外，Python的許多知名套件，如Pandas、SciPy、Sympy、Matplotlib、TensorFlow...等，幾乎都是架構在 Numpy 基礎上做應用，因此 NumPy 是非常重要的函式庫。</a:t>
            </a:r>
            <a:endParaRPr sz="1200">
              <a:solidFill>
                <a:srgbClr val="333333"/>
              </a:solidFill>
              <a:highlight>
                <a:srgbClr val="FFFFFF"/>
              </a:highlight>
              <a:latin typeface="Arial"/>
              <a:ea typeface="Arial"/>
              <a:cs typeface="Arial"/>
              <a:sym typeface="Arial"/>
            </a:endParaRPr>
          </a:p>
          <a:p>
            <a:pPr indent="0" lvl="0" marL="0" rtl="0" algn="l">
              <a:lnSpc>
                <a:spcPct val="115000"/>
              </a:lnSpc>
              <a:spcBef>
                <a:spcPts val="1100"/>
              </a:spcBef>
              <a:spcAft>
                <a:spcPts val="1200"/>
              </a:spcAft>
              <a:buSzPts val="1800"/>
              <a:buNone/>
            </a:pPr>
            <a:r>
              <a:t/>
            </a:r>
            <a:endParaRPr/>
          </a:p>
        </p:txBody>
      </p:sp>
      <p:pic>
        <p:nvPicPr>
          <p:cNvPr id="438" name="Google Shape;438;p43"/>
          <p:cNvPicPr preferRelativeResize="0"/>
          <p:nvPr/>
        </p:nvPicPr>
        <p:blipFill rotWithShape="1">
          <a:blip r:embed="rId3">
            <a:alphaModFix/>
          </a:blip>
          <a:srcRect b="0" l="0" r="0" t="0"/>
          <a:stretch/>
        </p:blipFill>
        <p:spPr>
          <a:xfrm>
            <a:off x="2529288" y="2571750"/>
            <a:ext cx="3190875" cy="1428750"/>
          </a:xfrm>
          <a:prstGeom prst="rect">
            <a:avLst/>
          </a:prstGeom>
          <a:noFill/>
          <a:ln>
            <a:noFill/>
          </a:ln>
        </p:spPr>
      </p:pic>
      <p:sp>
        <p:nvSpPr>
          <p:cNvPr id="439" name="Google Shape;439;p43"/>
          <p:cNvSpPr txBox="1"/>
          <p:nvPr/>
        </p:nvSpPr>
        <p:spPr>
          <a:xfrm>
            <a:off x="354300" y="4185075"/>
            <a:ext cx="6873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import numpy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要使用 NumPy 必須先 import numpy 模組，實際使用時，很常將 numpy 命名為 np。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import numpy as np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Numpy陣列</a:t>
            </a:r>
            <a:endParaRPr/>
          </a:p>
        </p:txBody>
      </p:sp>
      <p:sp>
        <p:nvSpPr>
          <p:cNvPr id="445" name="Google Shape;445;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zh-TW" sz="1600">
                <a:solidFill>
                  <a:srgbClr val="188038"/>
                </a:solidFill>
                <a:latin typeface="Roboto Mono"/>
                <a:ea typeface="Roboto Mono"/>
                <a:cs typeface="Roboto Mono"/>
                <a:sym typeface="Roboto Mono"/>
              </a:rPr>
              <a:t>NumPy</a:t>
            </a:r>
            <a:r>
              <a:rPr b="1" lang="zh-TW" sz="1600">
                <a:solidFill>
                  <a:srgbClr val="000000"/>
                </a:solidFill>
                <a:latin typeface="Arial"/>
                <a:ea typeface="Arial"/>
                <a:cs typeface="Arial"/>
                <a:sym typeface="Arial"/>
              </a:rPr>
              <a:t> 陣列（</a:t>
            </a:r>
            <a:r>
              <a:rPr b="1" lang="zh-TW" sz="1600">
                <a:solidFill>
                  <a:srgbClr val="188038"/>
                </a:solidFill>
                <a:latin typeface="Roboto Mono"/>
                <a:ea typeface="Roboto Mono"/>
                <a:cs typeface="Roboto Mono"/>
                <a:sym typeface="Roboto Mono"/>
              </a:rPr>
              <a:t>ndarray</a:t>
            </a:r>
            <a:r>
              <a:rPr b="1" lang="zh-TW" sz="1600">
                <a:solidFill>
                  <a:srgbClr val="000000"/>
                </a:solidFill>
                <a:latin typeface="Arial"/>
                <a:ea typeface="Arial"/>
                <a:cs typeface="Arial"/>
                <a:sym typeface="Arial"/>
              </a:rPr>
              <a:t>）</a:t>
            </a:r>
            <a:r>
              <a:rPr lang="zh-TW" sz="1600">
                <a:solidFill>
                  <a:srgbClr val="000000"/>
                </a:solidFill>
                <a:latin typeface="Arial"/>
                <a:ea typeface="Arial"/>
                <a:cs typeface="Arial"/>
                <a:sym typeface="Arial"/>
              </a:rPr>
              <a:t> 是一種固定大小的、多維數組，用於存儲同類型的元素。</a:t>
            </a:r>
            <a:endParaRPr sz="1600">
              <a:solidFill>
                <a:srgbClr val="000000"/>
              </a:solidFill>
              <a:latin typeface="Arial"/>
              <a:ea typeface="Arial"/>
              <a:cs typeface="Arial"/>
              <a:sym typeface="Arial"/>
            </a:endParaRPr>
          </a:p>
          <a:p>
            <a:pPr indent="-330200" lvl="0" marL="457200" rtl="0" algn="l">
              <a:lnSpc>
                <a:spcPct val="115000"/>
              </a:lnSpc>
              <a:spcBef>
                <a:spcPts val="0"/>
              </a:spcBef>
              <a:spcAft>
                <a:spcPts val="0"/>
              </a:spcAft>
              <a:buSzPts val="1600"/>
              <a:buChar char="●"/>
            </a:pPr>
            <a:r>
              <a:rPr lang="zh-TW" sz="1600">
                <a:solidFill>
                  <a:srgbClr val="000000"/>
                </a:solidFill>
                <a:latin typeface="Arial"/>
                <a:ea typeface="Arial"/>
                <a:cs typeface="Arial"/>
                <a:sym typeface="Arial"/>
              </a:rPr>
              <a:t>它允許進行大量的數值運算，如矩陣運算、元素間的逐項操作、線性代數計算等，且比 Python 的內建列表更高效。</a:t>
            </a:r>
            <a:endParaRPr sz="1600">
              <a:solidFill>
                <a:srgbClr val="000000"/>
              </a:solidFill>
              <a:latin typeface="Arial"/>
              <a:ea typeface="Arial"/>
              <a:cs typeface="Arial"/>
              <a:sym typeface="Arial"/>
            </a:endParaRPr>
          </a:p>
          <a:p>
            <a:pPr indent="-330200" lvl="0" marL="457200" rtl="0" algn="l">
              <a:lnSpc>
                <a:spcPct val="115000"/>
              </a:lnSpc>
              <a:spcBef>
                <a:spcPts val="0"/>
              </a:spcBef>
              <a:spcAft>
                <a:spcPts val="0"/>
              </a:spcAft>
              <a:buSzPts val="1600"/>
              <a:buChar char="●"/>
            </a:pPr>
            <a:r>
              <a:rPr lang="zh-TW" sz="1600">
                <a:solidFill>
                  <a:srgbClr val="000000"/>
                </a:solidFill>
                <a:latin typeface="Arial"/>
                <a:ea typeface="Arial"/>
                <a:cs typeface="Arial"/>
                <a:sym typeface="Arial"/>
              </a:rPr>
              <a:t>NumPy 陣列的數據類型必須一致的，這使得它們在內存管理上更為高效。</a:t>
            </a:r>
            <a:endParaRPr sz="16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Numpy數學運算</a:t>
            </a:r>
            <a:endParaRPr/>
          </a:p>
        </p:txBody>
      </p:sp>
      <p:graphicFrame>
        <p:nvGraphicFramePr>
          <p:cNvPr id="451" name="Google Shape;451;p45"/>
          <p:cNvGraphicFramePr/>
          <p:nvPr/>
        </p:nvGraphicFramePr>
        <p:xfrm>
          <a:off x="814100" y="1017725"/>
          <a:ext cx="3000000" cy="3000000"/>
        </p:xfrm>
        <a:graphic>
          <a:graphicData uri="http://schemas.openxmlformats.org/drawingml/2006/table">
            <a:tbl>
              <a:tblPr>
                <a:noFill/>
                <a:tableStyleId>{26273F57-4A60-4CBA-9E0A-1DAEBCCD9011}</a:tableStyleId>
              </a:tblPr>
              <a:tblGrid>
                <a:gridCol w="3619500"/>
                <a:gridCol w="36195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np.sum</a:t>
                      </a:r>
                      <a:endParaRPr sz="1400" u="none" cap="none" strike="noStrike"/>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矩陣加總</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np.min</a:t>
                      </a:r>
                      <a:endParaRPr sz="1400" u="none" cap="none" strike="noStrike"/>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矩陣最小值</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np.max</a:t>
                      </a:r>
                      <a:endParaRPr sz="1400" u="none" cap="none" strike="noStrike"/>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矩陣最大值</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np.mean</a:t>
                      </a:r>
                      <a:endParaRPr sz="1400" u="none" cap="none" strike="noStrike"/>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矩陣平均值</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np.sqrt</a:t>
                      </a:r>
                      <a:endParaRPr sz="1500" u="none" cap="none" strike="noStrike">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矩陣內所有元素開平方根</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np.exp</a:t>
                      </a:r>
                      <a:endParaRPr sz="1500" u="none" cap="none" strike="noStrike">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矩陣內所有元素進行指數(e)運算</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np.add</a:t>
                      </a:r>
                      <a:endParaRPr sz="1500" u="none" cap="none" strike="noStrike">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矩陣或陣列相加</a:t>
                      </a:r>
                      <a:endParaRPr sz="1400" u="none" cap="none" strike="noStrike"/>
                    </a:p>
                  </a:txBody>
                  <a:tcPr marT="91425" marB="91425" marR="91425" marL="91425"/>
                </a:tc>
              </a:tr>
              <a:tr h="381000">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np.log</a:t>
                      </a:r>
                      <a:endParaRPr sz="1500" u="none" cap="none" strike="noStrike">
                        <a:solidFill>
                          <a:srgbClr val="242424"/>
                        </a:solidFill>
                        <a:highlight>
                          <a:srgbClr val="FFFFFF"/>
                        </a:highlight>
                        <a:latin typeface="Georgia"/>
                        <a:ea typeface="Georgia"/>
                        <a:cs typeface="Georgia"/>
                        <a:sym typeface="Georgia"/>
                      </a:endParaRPr>
                    </a:p>
                  </a:txBody>
                  <a:tcPr marT="91425" marB="91425" marR="91425" marL="91425"/>
                </a:tc>
                <a:tc>
                  <a:txBody>
                    <a:bodyPr/>
                    <a:lstStyle/>
                    <a:p>
                      <a:pPr indent="0" lvl="0" marL="0" marR="0" rtl="0" algn="l">
                        <a:lnSpc>
                          <a:spcPct val="218181"/>
                        </a:lnSpc>
                        <a:spcBef>
                          <a:spcPts val="0"/>
                        </a:spcBef>
                        <a:spcAft>
                          <a:spcPts val="0"/>
                        </a:spcAft>
                        <a:buClr>
                          <a:srgbClr val="000000"/>
                        </a:buClr>
                        <a:buSzPts val="1500"/>
                        <a:buFont typeface="Arial"/>
                        <a:buNone/>
                      </a:pPr>
                      <a:r>
                        <a:rPr lang="zh-TW" sz="1500" u="none" cap="none" strike="noStrike">
                          <a:solidFill>
                            <a:srgbClr val="242424"/>
                          </a:solidFill>
                          <a:highlight>
                            <a:srgbClr val="FFFFFF"/>
                          </a:highlight>
                          <a:latin typeface="Georgia"/>
                          <a:ea typeface="Georgia"/>
                          <a:cs typeface="Georgia"/>
                          <a:sym typeface="Georgia"/>
                        </a:rPr>
                        <a:t>矩陣內所有元素取對數</a:t>
                      </a:r>
                      <a:endParaRPr sz="1500" u="none" cap="none" strike="noStrike">
                        <a:solidFill>
                          <a:srgbClr val="242424"/>
                        </a:solidFill>
                        <a:highlight>
                          <a:srgbClr val="FFFFFF"/>
                        </a:highlight>
                        <a:latin typeface="Georgia"/>
                        <a:ea typeface="Georgia"/>
                        <a:cs typeface="Georgia"/>
                        <a:sym typeface="Georgia"/>
                      </a:endParaRPr>
                    </a:p>
                  </a:txBody>
                  <a:tcPr marT="91425" marB="91425" marR="91425" marL="91425"/>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6"/>
          <p:cNvSpPr txBox="1"/>
          <p:nvPr>
            <p:ph type="title"/>
          </p:nvPr>
        </p:nvSpPr>
        <p:spPr>
          <a:xfrm>
            <a:off x="311700" y="1676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NumPy 陣列 vs. Python 列表（list）的比較</a:t>
            </a:r>
            <a:endParaRPr/>
          </a:p>
        </p:txBody>
      </p:sp>
      <p:graphicFrame>
        <p:nvGraphicFramePr>
          <p:cNvPr id="457" name="Google Shape;457;p46"/>
          <p:cNvGraphicFramePr/>
          <p:nvPr/>
        </p:nvGraphicFramePr>
        <p:xfrm>
          <a:off x="216088" y="1017725"/>
          <a:ext cx="3000000" cy="3000000"/>
        </p:xfrm>
        <a:graphic>
          <a:graphicData uri="http://schemas.openxmlformats.org/drawingml/2006/table">
            <a:tbl>
              <a:tblPr>
                <a:noFill/>
                <a:tableStyleId>{26273F57-4A60-4CBA-9E0A-1DAEBCCD9011}</a:tableStyleId>
              </a:tblPr>
              <a:tblGrid>
                <a:gridCol w="1077850"/>
                <a:gridCol w="4488275"/>
                <a:gridCol w="3188750"/>
              </a:tblGrid>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特性</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NumPy 陣列（</a:t>
                      </a:r>
                      <a:r>
                        <a:rPr lang="zh-TW" sz="1100" u="none" cap="none" strike="noStrike">
                          <a:solidFill>
                            <a:srgbClr val="188038"/>
                          </a:solidFill>
                          <a:latin typeface="Roboto Mono"/>
                          <a:ea typeface="Roboto Mono"/>
                          <a:cs typeface="Roboto Mono"/>
                          <a:sym typeface="Roboto Mono"/>
                        </a:rPr>
                        <a:t>ndarray</a:t>
                      </a:r>
                      <a:r>
                        <a:rPr lang="zh-TW" sz="1100" u="none" cap="none" strike="noStrike"/>
                        <a: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t>Python 列表（</a:t>
                      </a:r>
                      <a:r>
                        <a:rPr lang="zh-TW" sz="1100" u="none" cap="none" strike="noStrike">
                          <a:solidFill>
                            <a:srgbClr val="188038"/>
                          </a:solidFill>
                          <a:latin typeface="Roboto Mono"/>
                          <a:ea typeface="Roboto Mono"/>
                          <a:cs typeface="Roboto Mono"/>
                          <a:sym typeface="Roboto Mono"/>
                        </a:rPr>
                        <a:t>list</a:t>
                      </a:r>
                      <a:r>
                        <a:rPr lang="zh-TW" sz="1100" u="none" cap="none" strike="noStrike"/>
                        <a:t>）</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數據類型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所有元素必須是同類型的（整數、浮點數等），確保內存連續分配，性能更高。</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可以存放不同類型的元素，如整數、字符串等。</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存儲結構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內存連續分配，陣列是固定大小的，效率較高。</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動態分配內存，靈活但效率較低。</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性能</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高效，適合數學和矩陣運算，特別是在處理大數據時。</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性能較低，對於大量數據處理或數值運算不夠高效。</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內建運算</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支援向量化運算，所有操作（如加減乘除）會逐項應用到陣列的每個元素。</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列表不支援內建向量化操作，需要使用迴圈逐個元素進行計算。</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記憶體使用</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內存效率高，特別是大數據處理時，因為數據類型固定。</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內存效率較低，特別是當存儲大量異質數據時。</a:t>
                      </a:r>
                      <a:endParaRPr sz="1400" u="none" cap="none" strike="noStrike"/>
                    </a:p>
                  </a:txBody>
                  <a:tcPr marT="91425" marB="91425" marR="91425" marL="91425"/>
                </a:tc>
              </a:tr>
              <a:tr h="374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應用場景</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適合於科學計算、數學運算、大規模數據處理。</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適合於一般用途的數據存儲和操作。</a:t>
                      </a:r>
                      <a:endParaRPr sz="1400" u="none" cap="none" strike="noStrike"/>
                    </a:p>
                  </a:txBody>
                  <a:tcPr marT="91425" marB="91425" marR="91425" marL="91425"/>
                </a:tc>
              </a:tr>
            </a:tbl>
          </a:graphicData>
        </a:graphic>
      </p:graphicFrame>
      <p:graphicFrame>
        <p:nvGraphicFramePr>
          <p:cNvPr id="458" name="Google Shape;458;p46"/>
          <p:cNvGraphicFramePr/>
          <p:nvPr/>
        </p:nvGraphicFramePr>
        <p:xfrm>
          <a:off x="304800" y="304800"/>
          <a:ext cx="3000000" cy="3000000"/>
        </p:xfrm>
        <a:graphic>
          <a:graphicData uri="http://schemas.openxmlformats.org/drawingml/2006/table">
            <a:tbl>
              <a:tblPr>
                <a:noFill/>
                <a:tableStyleId>{13AE00EC-52DB-4802-A0A3-6F10BCCD3F60}</a:tableStyleId>
              </a:tblPr>
              <a:tblGrid>
                <a:gridCol w="208250"/>
              </a:tblGrid>
              <a:tr h="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7"/>
          <p:cNvSpPr txBox="1"/>
          <p:nvPr>
            <p:ph type="title"/>
          </p:nvPr>
        </p:nvSpPr>
        <p:spPr>
          <a:xfrm>
            <a:off x="311700" y="2268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NumPy 陣列 vs. 列表的性能比較</a:t>
            </a:r>
            <a:endParaRPr/>
          </a:p>
        </p:txBody>
      </p:sp>
      <p:sp>
        <p:nvSpPr>
          <p:cNvPr id="464" name="Google Shape;464;p47"/>
          <p:cNvSpPr txBox="1"/>
          <p:nvPr/>
        </p:nvSpPr>
        <p:spPr>
          <a:xfrm>
            <a:off x="680725" y="723850"/>
            <a:ext cx="7160700" cy="384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import numpy as np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import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#將元素內之數值取平方</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使用 NumPy 進行數組計算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array_size = 1000000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arr = np.arange(array_size)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start_time = time.time()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arr = arr *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print(f"NumPy 陣列操作時間: {time.time() - start_time} 秒")</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使用 Python 列表進行相同操作</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lst = list(range(array_size))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start_time = time.time()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lst = [x * 2 for x in lst]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print(f"列表操作時間: {time.time() - start_time} 秒")</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5" name="Google Shape;465;p47"/>
          <p:cNvPicPr preferRelativeResize="0"/>
          <p:nvPr/>
        </p:nvPicPr>
        <p:blipFill rotWithShape="1">
          <a:blip r:embed="rId3">
            <a:alphaModFix/>
          </a:blip>
          <a:srcRect b="0" l="0" r="0" t="0"/>
          <a:stretch/>
        </p:blipFill>
        <p:spPr>
          <a:xfrm>
            <a:off x="1764950" y="4294800"/>
            <a:ext cx="6369150" cy="70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8"/>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Pandas 基礎與進階語法</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什麼是pandas</a:t>
            </a:r>
            <a:endParaRPr/>
          </a:p>
        </p:txBody>
      </p:sp>
      <p:sp>
        <p:nvSpPr>
          <p:cNvPr id="476" name="Google Shape;476;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sz="1350">
                <a:solidFill>
                  <a:srgbClr val="303233"/>
                </a:solidFill>
                <a:highlight>
                  <a:srgbClr val="FFFFFF"/>
                </a:highlight>
                <a:latin typeface="Arial"/>
                <a:ea typeface="Arial"/>
                <a:cs typeface="Arial"/>
                <a:sym typeface="Arial"/>
              </a:rPr>
              <a:t>Pandas是python的一個數據分析模組，2009 年底開源出來，提供高效能、簡易使用的資料格式(Data Frame)讓使用者可以快速操作及分析資料，Pandas強化了資料處理的方便性也能與處理網頁資料與資料庫資料等，有點類似於Office的Excel能更加方便的進行運算、分析等．</a:t>
            </a:r>
            <a:endParaRPr/>
          </a:p>
        </p:txBody>
      </p:sp>
      <p:pic>
        <p:nvPicPr>
          <p:cNvPr id="477" name="Google Shape;477;p49"/>
          <p:cNvPicPr preferRelativeResize="0"/>
          <p:nvPr/>
        </p:nvPicPr>
        <p:blipFill rotWithShape="1">
          <a:blip r:embed="rId3">
            <a:alphaModFix/>
          </a:blip>
          <a:srcRect b="0" l="0" r="0" t="0"/>
          <a:stretch/>
        </p:blipFill>
        <p:spPr>
          <a:xfrm>
            <a:off x="2379525" y="2247875"/>
            <a:ext cx="4261925" cy="17261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pandas 介紹</a:t>
            </a:r>
            <a:endParaRPr/>
          </a:p>
        </p:txBody>
      </p:sp>
      <p:sp>
        <p:nvSpPr>
          <p:cNvPr id="483" name="Google Shape;483;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zh-TW" sz="1100">
                <a:solidFill>
                  <a:srgbClr val="188038"/>
                </a:solidFill>
                <a:latin typeface="Roboto Mono"/>
                <a:ea typeface="Roboto Mono"/>
                <a:cs typeface="Roboto Mono"/>
                <a:sym typeface="Roboto Mono"/>
              </a:rPr>
              <a:t>Pandas</a:t>
            </a:r>
            <a:r>
              <a:rPr lang="zh-TW" sz="1100">
                <a:solidFill>
                  <a:srgbClr val="000000"/>
                </a:solidFill>
                <a:latin typeface="Arial"/>
                <a:ea typeface="Arial"/>
                <a:cs typeface="Arial"/>
                <a:sym typeface="Arial"/>
              </a:rPr>
              <a:t> 是 Python 中最受歡迎的資料分析工具之一，專為處理結構化數據而設計。它基於 NumPy，提供了更高階的資料結構和函數，適合進行資料清理、探索性分析、轉換和視覺化。Pandas 提供了兩個核心的資料結構：</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和 </a:t>
            </a:r>
            <a:r>
              <a:rPr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，它們使得資料處理變得簡單且高效。</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SzPts val="1800"/>
              <a:buNone/>
            </a:pPr>
            <a:r>
              <a:rPr b="1" lang="zh-TW" sz="1300">
                <a:solidFill>
                  <a:srgbClr val="000000"/>
                </a:solidFill>
                <a:latin typeface="Arial"/>
                <a:ea typeface="Arial"/>
                <a:cs typeface="Arial"/>
                <a:sym typeface="Arial"/>
              </a:rPr>
              <a:t>Pandas 核心資料結構</a:t>
            </a:r>
            <a:endParaRPr b="1" sz="13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AutoNum type="arabicPeriod"/>
            </a:pPr>
            <a:r>
              <a:rPr b="1"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是一維的資料結構，類似於 Python 的列表或字典。</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可以存放任何類型的資料，每個資料都有一個與之對應的標籤（索引）。</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b="1"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 是二維的表格型資料結構，類似於 Excel 表格或 SQL 資料庫中的資料表。</a:t>
            </a:r>
            <a:r>
              <a:rPr lang="zh-TW" sz="1100">
                <a:solidFill>
                  <a:srgbClr val="188038"/>
                </a:solidFill>
                <a:latin typeface="Roboto Mono"/>
                <a:ea typeface="Roboto Mono"/>
                <a:cs typeface="Roboto Mono"/>
                <a:sym typeface="Roboto Mono"/>
              </a:rPr>
              <a:t>DataFrame</a:t>
            </a:r>
            <a:r>
              <a:rPr lang="zh-TW" sz="1100">
                <a:solidFill>
                  <a:srgbClr val="000000"/>
                </a:solidFill>
                <a:latin typeface="Arial"/>
                <a:ea typeface="Arial"/>
                <a:cs typeface="Arial"/>
                <a:sym typeface="Arial"/>
              </a:rPr>
              <a:t> 由多個 </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 組成，其中每一列是 </a:t>
            </a:r>
            <a:r>
              <a:rPr lang="zh-TW" sz="1100">
                <a:solidFill>
                  <a:srgbClr val="188038"/>
                </a:solidFill>
                <a:latin typeface="Roboto Mono"/>
                <a:ea typeface="Roboto Mono"/>
                <a:cs typeface="Roboto Mono"/>
                <a:sym typeface="Roboto Mono"/>
              </a:rPr>
              <a:t>Series</a:t>
            </a:r>
            <a:r>
              <a:rPr lang="zh-TW" sz="1100">
                <a:solidFill>
                  <a:srgbClr val="000000"/>
                </a:solidFill>
                <a:latin typeface="Arial"/>
                <a:ea typeface="Arial"/>
                <a:cs typeface="Arial"/>
                <a:sym typeface="Arial"/>
              </a:rPr>
              <a:t>，列和行都有索引。</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1"/>
          <p:cNvSpPr txBox="1"/>
          <p:nvPr>
            <p:ph type="title"/>
          </p:nvPr>
        </p:nvSpPr>
        <p:spPr>
          <a:xfrm>
            <a:off x="311700" y="1676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Pandas 常用功能-1</a:t>
            </a:r>
            <a:endParaRPr/>
          </a:p>
        </p:txBody>
      </p:sp>
      <p:graphicFrame>
        <p:nvGraphicFramePr>
          <p:cNvPr id="489" name="Google Shape;489;p51"/>
          <p:cNvGraphicFramePr/>
          <p:nvPr/>
        </p:nvGraphicFramePr>
        <p:xfrm>
          <a:off x="523875" y="798450"/>
          <a:ext cx="3000000" cy="3000000"/>
        </p:xfrm>
        <a:graphic>
          <a:graphicData uri="http://schemas.openxmlformats.org/drawingml/2006/table">
            <a:tbl>
              <a:tblPr>
                <a:noFill/>
                <a:tableStyleId>{26273F57-4A60-4CBA-9E0A-1DAEBCCD9011}</a:tableStyleId>
              </a:tblPr>
              <a:tblGrid>
                <a:gridCol w="1592775"/>
                <a:gridCol w="3807525"/>
                <a:gridCol w="2908150"/>
              </a:tblGrid>
              <a:tr h="456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功能</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範例</a:t>
                      </a:r>
                      <a:endParaRPr sz="1400" u="none" cap="none" strike="noStrike"/>
                    </a:p>
                  </a:txBody>
                  <a:tcPr marT="91425" marB="91425" marR="91425" marL="91425"/>
                </a:tc>
              </a:tr>
              <a:tr h="576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讀取資料</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可以從多種格式中讀取資料，例如 CSV、Excel、SQL 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df = pd.read_csv('file.csv')</a:t>
                      </a:r>
                      <a:endParaRPr sz="1400" u="none" cap="none" strike="noStrike"/>
                    </a:p>
                  </a:txBody>
                  <a:tcPr marT="91425" marB="91425" marR="91425" marL="91425"/>
                </a:tc>
              </a:tr>
              <a:tr h="589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資料篩選與選取</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可以使用標籤（索引）或條件進行資料篩選。</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df[df['Age'] &gt; 30]</a:t>
                      </a:r>
                      <a:endParaRPr sz="1400" u="none" cap="none" strike="noStrike"/>
                    </a:p>
                  </a:txBody>
                  <a:tcPr marT="91425" marB="91425" marR="91425" marL="91425"/>
                </a:tc>
              </a:tr>
              <a:tr h="526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資料處理與清理</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可以處理缺失資料、重複資料，進行轉換、排序等操作。</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solidFill>
                            <a:schemeClr val="dk1"/>
                          </a:solidFill>
                          <a:latin typeface="Roboto Mono"/>
                          <a:ea typeface="Roboto Mono"/>
                          <a:cs typeface="Roboto Mono"/>
                          <a:sym typeface="Roboto Mono"/>
                        </a:rPr>
                        <a:t>df.dropna()</a:t>
                      </a:r>
                      <a:r>
                        <a:rPr lang="zh-TW" sz="1100" u="none" cap="none" strike="noStrike">
                          <a:solidFill>
                            <a:schemeClr val="dk1"/>
                          </a:solidFill>
                        </a:rPr>
                        <a:t>, </a:t>
                      </a:r>
                      <a:r>
                        <a:rPr lang="zh-TW" sz="1100" u="none" cap="none" strike="noStrike">
                          <a:solidFill>
                            <a:schemeClr val="dk1"/>
                          </a:solidFill>
                          <a:latin typeface="Roboto Mono"/>
                          <a:ea typeface="Roboto Mono"/>
                          <a:cs typeface="Roboto Mono"/>
                          <a:sym typeface="Roboto Mono"/>
                        </a:rPr>
                        <a:t>df.fillna(0)</a:t>
                      </a:r>
                      <a:r>
                        <a:rPr lang="zh-TW" sz="1100" u="none" cap="none" strike="noStrike">
                          <a:solidFill>
                            <a:schemeClr val="dk1"/>
                          </a:solidFill>
                        </a:rPr>
                        <a:t>, </a:t>
                      </a:r>
                      <a:r>
                        <a:rPr lang="zh-TW" sz="1100" u="none" cap="none" strike="noStrike">
                          <a:solidFill>
                            <a:schemeClr val="dk1"/>
                          </a:solidFill>
                          <a:latin typeface="Roboto Mono"/>
                          <a:ea typeface="Roboto Mono"/>
                          <a:cs typeface="Roboto Mono"/>
                          <a:sym typeface="Roboto Mono"/>
                        </a:rPr>
                        <a:t>df.drop_duplicates()</a:t>
                      </a:r>
                      <a:endParaRPr sz="1400" u="none" cap="none" strike="noStrike">
                        <a:solidFill>
                          <a:schemeClr val="dk1"/>
                        </a:solidFill>
                      </a:endParaRPr>
                    </a:p>
                  </a:txBody>
                  <a:tcPr marT="91425" marB="91425" marR="91425" marL="91425"/>
                </a:tc>
              </a:tr>
              <a:tr h="5514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資料統計</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提供簡單的統計分析功能，例如平均值、標準差、總和等。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solidFill>
                            <a:schemeClr val="dk1"/>
                          </a:solidFill>
                          <a:latin typeface="Roboto Mono"/>
                          <a:ea typeface="Roboto Mono"/>
                          <a:cs typeface="Roboto Mono"/>
                          <a:sym typeface="Roboto Mono"/>
                        </a:rPr>
                        <a:t>df.describe()</a:t>
                      </a:r>
                      <a:r>
                        <a:rPr lang="zh-TW" sz="1100" u="none" cap="none" strike="noStrike">
                          <a:solidFill>
                            <a:schemeClr val="dk1"/>
                          </a:solidFill>
                        </a:rPr>
                        <a:t>, </a:t>
                      </a:r>
                      <a:r>
                        <a:rPr lang="zh-TW" sz="1100" u="none" cap="none" strike="noStrike">
                          <a:solidFill>
                            <a:schemeClr val="dk1"/>
                          </a:solidFill>
                          <a:latin typeface="Roboto Mono"/>
                          <a:ea typeface="Roboto Mono"/>
                          <a:cs typeface="Roboto Mono"/>
                          <a:sym typeface="Roboto Mono"/>
                        </a:rPr>
                        <a:t>df['Age'].mean()</a:t>
                      </a:r>
                      <a:endParaRPr sz="1400" u="none" cap="none" strike="noStrike">
                        <a:solidFill>
                          <a:schemeClr val="dk1"/>
                        </a:solidFill>
                      </a:endParaRPr>
                    </a:p>
                  </a:txBody>
                  <a:tcPr marT="91425" marB="91425" marR="91425" marL="91425"/>
                </a:tc>
              </a:tr>
              <a:tr h="43925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新增與刪除列/欄</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可以輕鬆地新增或刪除 DataFrame 的列或欄。</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solidFill>
                            <a:schemeClr val="dk1"/>
                          </a:solidFill>
                          <a:latin typeface="Roboto Mono"/>
                          <a:ea typeface="Roboto Mono"/>
                          <a:cs typeface="Roboto Mono"/>
                          <a:sym typeface="Roboto Mono"/>
                        </a:rPr>
                        <a:t>df['Salary'] = [5000, 6000, 7000]</a:t>
                      </a:r>
                      <a:r>
                        <a:rPr lang="zh-TW" sz="1100" u="none" cap="none" strike="noStrike">
                          <a:solidFill>
                            <a:schemeClr val="dk1"/>
                          </a:solidFill>
                        </a:rPr>
                        <a:t>, </a:t>
                      </a:r>
                      <a:r>
                        <a:rPr lang="zh-TW" sz="1100" u="none" cap="none" strike="noStrike">
                          <a:solidFill>
                            <a:schemeClr val="dk1"/>
                          </a:solidFill>
                          <a:latin typeface="Roboto Mono"/>
                          <a:ea typeface="Roboto Mono"/>
                          <a:cs typeface="Roboto Mono"/>
                          <a:sym typeface="Roboto Mono"/>
                        </a:rPr>
                        <a:t>df.drop('City', axis=1)</a:t>
                      </a:r>
                      <a:endParaRPr sz="1400" u="none" cap="none" strike="noStrike">
                        <a:solidFill>
                          <a:schemeClr val="dk1"/>
                        </a:solidFill>
                      </a:endParaRPr>
                    </a:p>
                  </a:txBody>
                  <a:tcPr marT="91425" marB="91425" marR="91425" marL="91425"/>
                </a:tc>
              </a:tr>
              <a:tr h="43925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資料排序</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可以按指定列進行排序。</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df.sort_values(by='Age', ascending=False)</a:t>
                      </a:r>
                      <a:endParaRPr sz="1400" u="none" cap="none" strike="noStrike"/>
                    </a:p>
                  </a:txBody>
                  <a:tcPr marT="91425" marB="91425" marR="91425" marL="91425"/>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2"/>
          <p:cNvSpPr txBox="1"/>
          <p:nvPr>
            <p:ph type="title"/>
          </p:nvPr>
        </p:nvSpPr>
        <p:spPr>
          <a:xfrm>
            <a:off x="311700" y="2937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Pandas 常用功能-2</a:t>
            </a:r>
            <a:endParaRPr/>
          </a:p>
        </p:txBody>
      </p:sp>
      <p:graphicFrame>
        <p:nvGraphicFramePr>
          <p:cNvPr id="495" name="Google Shape;495;p52"/>
          <p:cNvGraphicFramePr/>
          <p:nvPr/>
        </p:nvGraphicFramePr>
        <p:xfrm>
          <a:off x="523850" y="1302700"/>
          <a:ext cx="3000000" cy="3000000"/>
        </p:xfrm>
        <a:graphic>
          <a:graphicData uri="http://schemas.openxmlformats.org/drawingml/2006/table">
            <a:tbl>
              <a:tblPr>
                <a:noFill/>
                <a:tableStyleId>{26273F57-4A60-4CBA-9E0A-1DAEBCCD9011}</a:tableStyleId>
              </a:tblPr>
              <a:tblGrid>
                <a:gridCol w="1592775"/>
                <a:gridCol w="3807525"/>
                <a:gridCol w="2908150"/>
              </a:tblGrid>
              <a:tr h="4567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功能</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範例</a:t>
                      </a:r>
                      <a:endParaRPr sz="1400" u="none" cap="none" strike="noStrike"/>
                    </a:p>
                  </a:txBody>
                  <a:tcPr marT="91425" marB="91425" marR="91425" marL="91425"/>
                </a:tc>
              </a:tr>
              <a:tr h="576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資料聚合與分組</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可以對資料進行分組並進行聚合運算（如總和、平均值等）。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df.groupby('City').sum()</a:t>
                      </a:r>
                      <a:endParaRPr sz="1400" u="none" cap="none" strike="noStrike"/>
                    </a:p>
                  </a:txBody>
                  <a:tcPr marT="91425" marB="91425" marR="91425" marL="91425"/>
                </a:tc>
              </a:tr>
              <a:tr h="589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合併與連接</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可以合併多個 DataFrame。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solidFill>
                            <a:srgbClr val="188038"/>
                          </a:solidFill>
                          <a:latin typeface="Roboto Mono"/>
                          <a:ea typeface="Roboto Mono"/>
                          <a:cs typeface="Roboto Mono"/>
                          <a:sym typeface="Roboto Mono"/>
                        </a:rPr>
                        <a:t>pd.concat([df1, df2])</a:t>
                      </a:r>
                      <a:r>
                        <a:rPr lang="zh-TW" sz="1100" u="none" cap="none" strike="noStrike"/>
                        <a:t>, </a:t>
                      </a:r>
                      <a:r>
                        <a:rPr lang="zh-TW" sz="1100" u="none" cap="none" strike="noStrike">
                          <a:solidFill>
                            <a:srgbClr val="188038"/>
                          </a:solidFill>
                          <a:latin typeface="Roboto Mono"/>
                          <a:ea typeface="Roboto Mono"/>
                          <a:cs typeface="Roboto Mono"/>
                          <a:sym typeface="Roboto Mono"/>
                        </a:rPr>
                        <a:t>pd.merge(df1, df2, on='key')</a:t>
                      </a:r>
                      <a:endParaRPr sz="1400" u="none" cap="none" strike="noStrike"/>
                    </a:p>
                  </a:txBody>
                  <a:tcPr marT="91425" marB="91425" marR="91425" marL="91425"/>
                </a:tc>
              </a:tr>
              <a:tr h="526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資料匯出</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可以將資料匯出成多種格式（如 CSV、Excel）。</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zh-TW" sz="1100" u="none" cap="none" strike="noStrike">
                          <a:solidFill>
                            <a:srgbClr val="188038"/>
                          </a:solidFill>
                          <a:latin typeface="Roboto Mono"/>
                          <a:ea typeface="Roboto Mono"/>
                          <a:cs typeface="Roboto Mono"/>
                          <a:sym typeface="Roboto Mono"/>
                        </a:rPr>
                        <a:t>df.to_csv('output.csv')</a:t>
                      </a:r>
                      <a:r>
                        <a:rPr lang="zh-TW" sz="1100" u="none" cap="none" strike="noStrike"/>
                        <a:t>, </a:t>
                      </a:r>
                      <a:r>
                        <a:rPr lang="zh-TW" sz="1100" u="none" cap="none" strike="noStrike">
                          <a:solidFill>
                            <a:srgbClr val="188038"/>
                          </a:solidFill>
                          <a:latin typeface="Roboto Mono"/>
                          <a:ea typeface="Roboto Mono"/>
                          <a:cs typeface="Roboto Mono"/>
                          <a:sym typeface="Roboto Mono"/>
                        </a:rPr>
                        <a:t>df.to_excel('output.xlsx')</a:t>
                      </a:r>
                      <a:endParaRPr sz="1400" u="none" cap="none" strike="noStrike"/>
                    </a:p>
                  </a:txBody>
                  <a:tcPr marT="91425" marB="91425" marR="91425" marL="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3"/>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Python 控制邏輯-使用if/else與迴圈控制</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選擇/判斷結構</a:t>
            </a:r>
            <a:endParaRPr/>
          </a:p>
        </p:txBody>
      </p:sp>
      <p:sp>
        <p:nvSpPr>
          <p:cNvPr id="506" name="Google Shape;506;p5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遇到需要選擇條件時可以使用，依照給與的條件來判斷要不要執行某一段程式，有三種： </a:t>
            </a:r>
            <a:endParaRPr/>
          </a:p>
          <a:p>
            <a:pPr indent="-342900" lvl="0" marL="457200" rtl="0" algn="l">
              <a:lnSpc>
                <a:spcPct val="115000"/>
              </a:lnSpc>
              <a:spcBef>
                <a:spcPts val="1200"/>
              </a:spcBef>
              <a:spcAft>
                <a:spcPts val="0"/>
              </a:spcAft>
              <a:buSzPts val="1800"/>
              <a:buAutoNum type="arabicPeriod"/>
            </a:pPr>
            <a:r>
              <a:rPr lang="zh-TW"/>
              <a:t>if ... (單選)</a:t>
            </a:r>
            <a:endParaRPr/>
          </a:p>
          <a:p>
            <a:pPr indent="-342900" lvl="0" marL="457200" rtl="0" algn="l">
              <a:lnSpc>
                <a:spcPct val="115000"/>
              </a:lnSpc>
              <a:spcBef>
                <a:spcPts val="0"/>
              </a:spcBef>
              <a:spcAft>
                <a:spcPts val="0"/>
              </a:spcAft>
              <a:buSzPts val="1800"/>
              <a:buAutoNum type="arabicPeriod"/>
            </a:pPr>
            <a:r>
              <a:rPr lang="zh-TW"/>
              <a:t>if ... else ... (二選一)</a:t>
            </a:r>
            <a:endParaRPr/>
          </a:p>
          <a:p>
            <a:pPr indent="-342900" lvl="0" marL="457200" rtl="0" algn="l">
              <a:lnSpc>
                <a:spcPct val="115000"/>
              </a:lnSpc>
              <a:spcBef>
                <a:spcPts val="0"/>
              </a:spcBef>
              <a:spcAft>
                <a:spcPts val="0"/>
              </a:spcAft>
              <a:buSzPts val="1800"/>
              <a:buAutoNum type="arabicPeriod"/>
            </a:pPr>
            <a:r>
              <a:rPr lang="zh-TW"/>
              <a:t>if ... elif ... else ... (多重選擇)</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if ... (單選)</a:t>
            </a:r>
            <a:endParaRPr/>
          </a:p>
        </p:txBody>
      </p:sp>
      <p:sp>
        <p:nvSpPr>
          <p:cNvPr id="512" name="Google Shape;512;p5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if指令是：「如果怎樣怎樣(測試條件)，你就如何如何(程式區塊)」</a:t>
            </a:r>
            <a:endParaRPr/>
          </a:p>
        </p:txBody>
      </p:sp>
      <p:pic>
        <p:nvPicPr>
          <p:cNvPr id="513" name="Google Shape;513;p55"/>
          <p:cNvPicPr preferRelativeResize="0"/>
          <p:nvPr/>
        </p:nvPicPr>
        <p:blipFill rotWithShape="1">
          <a:blip r:embed="rId3">
            <a:alphaModFix/>
          </a:blip>
          <a:srcRect b="0" l="0" r="0" t="0"/>
          <a:stretch/>
        </p:blipFill>
        <p:spPr>
          <a:xfrm>
            <a:off x="5215324" y="1702400"/>
            <a:ext cx="3365001" cy="3185526"/>
          </a:xfrm>
          <a:prstGeom prst="rect">
            <a:avLst/>
          </a:prstGeom>
          <a:noFill/>
          <a:ln>
            <a:noFill/>
          </a:ln>
        </p:spPr>
      </p:pic>
      <p:pic>
        <p:nvPicPr>
          <p:cNvPr id="514" name="Google Shape;514;p55"/>
          <p:cNvPicPr preferRelativeResize="0"/>
          <p:nvPr/>
        </p:nvPicPr>
        <p:blipFill rotWithShape="1">
          <a:blip r:embed="rId4">
            <a:alphaModFix/>
          </a:blip>
          <a:srcRect b="0" l="0" r="0" t="0"/>
          <a:stretch/>
        </p:blipFill>
        <p:spPr>
          <a:xfrm>
            <a:off x="311703" y="1702400"/>
            <a:ext cx="4903620" cy="318552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if ... else ... (二選一)</a:t>
            </a:r>
            <a:endParaRPr/>
          </a:p>
        </p:txBody>
      </p:sp>
      <p:sp>
        <p:nvSpPr>
          <p:cNvPr id="520" name="Google Shape;520;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if...else...：「如果怎樣怎樣，你就這樣這樣， 否則就那樣那樣」。</a:t>
            </a:r>
            <a:endParaRPr/>
          </a:p>
        </p:txBody>
      </p:sp>
      <p:pic>
        <p:nvPicPr>
          <p:cNvPr id="521" name="Google Shape;521;p56"/>
          <p:cNvPicPr preferRelativeResize="0"/>
          <p:nvPr/>
        </p:nvPicPr>
        <p:blipFill rotWithShape="1">
          <a:blip r:embed="rId3">
            <a:alphaModFix/>
          </a:blip>
          <a:srcRect b="0" l="0" r="0" t="0"/>
          <a:stretch/>
        </p:blipFill>
        <p:spPr>
          <a:xfrm>
            <a:off x="4768300" y="1629175"/>
            <a:ext cx="4375700" cy="3343926"/>
          </a:xfrm>
          <a:prstGeom prst="rect">
            <a:avLst/>
          </a:prstGeom>
          <a:noFill/>
          <a:ln>
            <a:noFill/>
          </a:ln>
        </p:spPr>
      </p:pic>
      <p:pic>
        <p:nvPicPr>
          <p:cNvPr id="522" name="Google Shape;522;p56"/>
          <p:cNvPicPr preferRelativeResize="0"/>
          <p:nvPr/>
        </p:nvPicPr>
        <p:blipFill rotWithShape="1">
          <a:blip r:embed="rId4">
            <a:alphaModFix/>
          </a:blip>
          <a:srcRect b="0" l="0" r="0" t="0"/>
          <a:stretch/>
        </p:blipFill>
        <p:spPr>
          <a:xfrm>
            <a:off x="109375" y="1693200"/>
            <a:ext cx="4714351" cy="2991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if ... elif ... else ... (多重選擇)</a:t>
            </a:r>
            <a:endParaRPr/>
          </a:p>
        </p:txBody>
      </p:sp>
      <p:sp>
        <p:nvSpPr>
          <p:cNvPr id="528" name="Google Shape;528;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if...elif ... else...：「如果怎樣怎樣，你就這樣這樣，或者如果怎樣怎樣，你就這樣這樣， 否則就那樣那樣」。</a:t>
            </a:r>
            <a:endParaRPr/>
          </a:p>
        </p:txBody>
      </p:sp>
      <p:pic>
        <p:nvPicPr>
          <p:cNvPr id="529" name="Google Shape;529;p57"/>
          <p:cNvPicPr preferRelativeResize="0"/>
          <p:nvPr/>
        </p:nvPicPr>
        <p:blipFill rotWithShape="1">
          <a:blip r:embed="rId3">
            <a:alphaModFix/>
          </a:blip>
          <a:srcRect b="0" l="0" r="0" t="0"/>
          <a:stretch/>
        </p:blipFill>
        <p:spPr>
          <a:xfrm>
            <a:off x="5286175" y="1765300"/>
            <a:ext cx="3546125" cy="3219974"/>
          </a:xfrm>
          <a:prstGeom prst="rect">
            <a:avLst/>
          </a:prstGeom>
          <a:noFill/>
          <a:ln>
            <a:noFill/>
          </a:ln>
        </p:spPr>
      </p:pic>
      <p:pic>
        <p:nvPicPr>
          <p:cNvPr id="530" name="Google Shape;530;p57"/>
          <p:cNvPicPr preferRelativeResize="0"/>
          <p:nvPr/>
        </p:nvPicPr>
        <p:blipFill rotWithShape="1">
          <a:blip r:embed="rId4">
            <a:alphaModFix/>
          </a:blip>
          <a:srcRect b="0" l="0" r="0" t="0"/>
          <a:stretch/>
        </p:blipFill>
        <p:spPr>
          <a:xfrm>
            <a:off x="452050" y="1851725"/>
            <a:ext cx="4515174" cy="30471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練習</a:t>
            </a:r>
            <a:endParaRPr/>
          </a:p>
        </p:txBody>
      </p:sp>
      <p:sp>
        <p:nvSpPr>
          <p:cNvPr id="536" name="Google Shape;536;p5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輸入一個學生的分數，輸出該成績級別，分數級別如下：</a:t>
            </a:r>
            <a:endParaRPr/>
          </a:p>
        </p:txBody>
      </p:sp>
      <p:graphicFrame>
        <p:nvGraphicFramePr>
          <p:cNvPr id="537" name="Google Shape;537;p58"/>
          <p:cNvGraphicFramePr/>
          <p:nvPr/>
        </p:nvGraphicFramePr>
        <p:xfrm>
          <a:off x="311700" y="2055850"/>
          <a:ext cx="3000000" cy="3000000"/>
        </p:xfrm>
        <a:graphic>
          <a:graphicData uri="http://schemas.openxmlformats.org/drawingml/2006/table">
            <a:tbl>
              <a:tblPr>
                <a:noFill/>
                <a:tableStyleId>{26273F57-4A60-4CBA-9E0A-1DAEBCCD9011}</a:tableStyleId>
              </a:tblPr>
              <a:tblGrid>
                <a:gridCol w="925300"/>
                <a:gridCol w="9253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分數</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級別</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90分以上</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A</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80~89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B</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70~79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C</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60~69</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D</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60分以下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E</a:t>
                      </a:r>
                      <a:endParaRPr sz="1400" u="none" cap="none" strike="noStrike"/>
                    </a:p>
                  </a:txBody>
                  <a:tcPr marT="91425" marB="91425" marR="91425" marL="91425"/>
                </a:tc>
              </a:tr>
            </a:tbl>
          </a:graphicData>
        </a:graphic>
      </p:graphicFrame>
      <p:sp>
        <p:nvSpPr>
          <p:cNvPr id="538" name="Google Shape;538;p58"/>
          <p:cNvSpPr txBox="1"/>
          <p:nvPr/>
        </p:nvSpPr>
        <p:spPr>
          <a:xfrm>
            <a:off x="3535475" y="1629325"/>
            <a:ext cx="3359400" cy="332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score = xx</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if score &gt;= 90:</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grade = "A"</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elif score &gt;= 80:</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grade = "B"</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elif score &gt;= 70:</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grade = "C"</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elif score &gt;= 60:</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grade = "D"</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else: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grade = "F"</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print("此成績級別為", grade)</a:t>
            </a:r>
            <a:endParaRPr b="0" i="0" sz="17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for 迴圈</a:t>
            </a:r>
            <a:endParaRPr/>
          </a:p>
        </p:txBody>
      </p:sp>
      <p:sp>
        <p:nvSpPr>
          <p:cNvPr id="544" name="Google Shape;544;p59"/>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sz="1500">
                <a:solidFill>
                  <a:srgbClr val="242424"/>
                </a:solidFill>
                <a:highlight>
                  <a:srgbClr val="FFFFFF"/>
                </a:highlight>
                <a:latin typeface="Georgia"/>
                <a:ea typeface="Georgia"/>
                <a:cs typeface="Georgia"/>
                <a:sym typeface="Georgia"/>
              </a:rPr>
              <a:t>迴圈 (loop) 的作用是讓指定的某段敘述在條件符合的情況下一直</a:t>
            </a:r>
            <a:r>
              <a:rPr b="1" lang="zh-TW">
                <a:solidFill>
                  <a:schemeClr val="accent5"/>
                </a:solidFill>
                <a:highlight>
                  <a:srgbClr val="FFFFFF"/>
                </a:highlight>
                <a:latin typeface="Georgia"/>
                <a:ea typeface="Georgia"/>
                <a:cs typeface="Georgia"/>
                <a:sym typeface="Georgia"/>
              </a:rPr>
              <a:t>重覆執行</a:t>
            </a:r>
            <a:r>
              <a:rPr lang="zh-TW" sz="1500">
                <a:solidFill>
                  <a:srgbClr val="242424"/>
                </a:solidFill>
                <a:highlight>
                  <a:srgbClr val="FFFFFF"/>
                </a:highlight>
                <a:latin typeface="Georgia"/>
                <a:ea typeface="Georgia"/>
                <a:cs typeface="Georgia"/>
                <a:sym typeface="Georgia"/>
              </a:rPr>
              <a:t>。</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1200"/>
              </a:spcBef>
              <a:spcAft>
                <a:spcPts val="0"/>
              </a:spcAft>
              <a:buSzPts val="1800"/>
              <a:buNone/>
            </a:pPr>
            <a:r>
              <a:rPr lang="zh-TW" sz="1500">
                <a:solidFill>
                  <a:srgbClr val="242424"/>
                </a:solidFill>
                <a:highlight>
                  <a:srgbClr val="FFFFFF"/>
                </a:highlight>
                <a:latin typeface="Georgia"/>
                <a:ea typeface="Georgia"/>
                <a:cs typeface="Georgia"/>
                <a:sym typeface="Georgia"/>
              </a:rPr>
              <a:t>「for 迴圈」的使用的方法為「for 變數 in 可迭代的物件:」，執行之後，for 迴圈會依序將可以迭代的物件取出，賦值給指定的變數 ( 可迭代的物件像是字串、串列、字典、集合...等 )。</a:t>
            </a:r>
            <a:endParaRPr sz="1500">
              <a:solidFill>
                <a:srgbClr val="242424"/>
              </a:solidFill>
              <a:highlight>
                <a:srgbClr val="FFFFFF"/>
              </a:highlight>
              <a:latin typeface="Georgia"/>
              <a:ea typeface="Georgia"/>
              <a:cs typeface="Georgia"/>
              <a:sym typeface="Georgia"/>
            </a:endParaRPr>
          </a:p>
          <a:p>
            <a:pPr indent="0" lvl="0" marL="0" rtl="0" algn="l">
              <a:lnSpc>
                <a:spcPct val="115000"/>
              </a:lnSpc>
              <a:spcBef>
                <a:spcPts val="1200"/>
              </a:spcBef>
              <a:spcAft>
                <a:spcPts val="1200"/>
              </a:spcAft>
              <a:buSzPts val="1800"/>
              <a:buNone/>
            </a:pPr>
            <a:r>
              <a:rPr b="1" lang="zh-TW" sz="2000">
                <a:solidFill>
                  <a:schemeClr val="accent5"/>
                </a:solidFill>
                <a:highlight>
                  <a:srgbClr val="FFFFFF"/>
                </a:highlight>
                <a:latin typeface="Georgia"/>
                <a:ea typeface="Georgia"/>
                <a:cs typeface="Georgia"/>
                <a:sym typeface="Georgia"/>
              </a:rPr>
              <a:t>要注意縮排!!</a:t>
            </a:r>
            <a:endParaRPr b="1" sz="2000">
              <a:solidFill>
                <a:schemeClr val="accent5"/>
              </a:solidFill>
              <a:highlight>
                <a:srgbClr val="FFFFFF"/>
              </a:highlight>
              <a:latin typeface="Georgia"/>
              <a:ea typeface="Georgia"/>
              <a:cs typeface="Georgia"/>
              <a:sym typeface="Georgia"/>
            </a:endParaRPr>
          </a:p>
        </p:txBody>
      </p:sp>
      <p:sp>
        <p:nvSpPr>
          <p:cNvPr id="545" name="Google Shape;545;p59"/>
          <p:cNvSpPr txBox="1"/>
          <p:nvPr/>
        </p:nvSpPr>
        <p:spPr>
          <a:xfrm>
            <a:off x="2253175" y="2187575"/>
            <a:ext cx="3000000" cy="289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for i in 'abc':</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print(i)    # a  b  c ( 字串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for i in ['a','b','c']:</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print(i)    # a  b  c ( 串列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for i in {'a','b','c'}:</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print(i)    # c  b  a ( 集合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for i in {'a':1,'b':2,'c':3}:</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print(i)    # a  b  c ( 字典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for 迴圈</a:t>
            </a:r>
            <a:endParaRPr/>
          </a:p>
        </p:txBody>
      </p:sp>
      <p:sp>
        <p:nvSpPr>
          <p:cNvPr id="551" name="Google Shape;551;p6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如果將 for 迴圈放在 for 迴圈裡，就會形成「巢狀迴圈」，巢狀迴圈會先從「最內層」的迴圈開始執行，執行完畢後再執行外層的迴圈</a:t>
            </a:r>
            <a:endParaRPr/>
          </a:p>
        </p:txBody>
      </p:sp>
      <p:sp>
        <p:nvSpPr>
          <p:cNvPr id="552" name="Google Shape;552;p60"/>
          <p:cNvSpPr txBox="1"/>
          <p:nvPr/>
        </p:nvSpPr>
        <p:spPr>
          <a:xfrm>
            <a:off x="1618800" y="2571750"/>
            <a:ext cx="32205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zh-TW" sz="2000" u="none" cap="none" strike="noStrike">
                <a:solidFill>
                  <a:srgbClr val="000000"/>
                </a:solidFill>
                <a:latin typeface="Arial"/>
                <a:ea typeface="Arial"/>
                <a:cs typeface="Arial"/>
                <a:sym typeface="Arial"/>
              </a:rPr>
              <a:t>for a in ['x','y','z']:</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zh-TW" sz="2000" u="none" cap="none" strike="noStrike">
                <a:solidFill>
                  <a:srgbClr val="000000"/>
                </a:solidFill>
                <a:latin typeface="Arial"/>
                <a:ea typeface="Arial"/>
                <a:cs typeface="Arial"/>
                <a:sym typeface="Arial"/>
              </a:rPr>
              <a:t>    for b in [1,2,3]:</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zh-TW" sz="2000" u="none" cap="none" strike="noStrike">
                <a:solidFill>
                  <a:srgbClr val="000000"/>
                </a:solidFill>
                <a:latin typeface="Arial"/>
                <a:ea typeface="Arial"/>
                <a:cs typeface="Arial"/>
                <a:sym typeface="Arial"/>
              </a:rPr>
              <a:t>        print(b)</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zh-TW" sz="2000" u="none" cap="none" strike="noStrike">
                <a:solidFill>
                  <a:srgbClr val="000000"/>
                </a:solidFill>
                <a:latin typeface="Arial"/>
                <a:ea typeface="Arial"/>
                <a:cs typeface="Arial"/>
                <a:sym typeface="Arial"/>
              </a:rPr>
              <a:t>  print(a)</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zh-TW" sz="2000" u="none" cap="none" strike="noStrike">
                <a:solidFill>
                  <a:srgbClr val="000000"/>
                </a:solidFill>
                <a:latin typeface="Arial"/>
                <a:ea typeface="Arial"/>
                <a:cs typeface="Arial"/>
                <a:sym typeface="Arial"/>
              </a:rPr>
              <a:t># 1 2 3 x 1 2 3 y 1 2 3 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練習</a:t>
            </a:r>
            <a:endParaRPr/>
          </a:p>
        </p:txBody>
      </p:sp>
      <p:sp>
        <p:nvSpPr>
          <p:cNvPr id="558" name="Google Shape;558;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請使用for迴圈將空白(" ")及星號(*)印出成以下圖示</a:t>
            </a:r>
            <a:endParaRPr/>
          </a:p>
        </p:txBody>
      </p:sp>
      <p:pic>
        <p:nvPicPr>
          <p:cNvPr id="559" name="Google Shape;559;p61"/>
          <p:cNvPicPr preferRelativeResize="0"/>
          <p:nvPr/>
        </p:nvPicPr>
        <p:blipFill rotWithShape="1">
          <a:blip r:embed="rId3">
            <a:alphaModFix/>
          </a:blip>
          <a:srcRect b="0" l="0" r="0" t="0"/>
          <a:stretch/>
        </p:blipFill>
        <p:spPr>
          <a:xfrm>
            <a:off x="311700" y="2027850"/>
            <a:ext cx="1543050" cy="2400300"/>
          </a:xfrm>
          <a:prstGeom prst="rect">
            <a:avLst/>
          </a:prstGeom>
          <a:noFill/>
          <a:ln>
            <a:noFill/>
          </a:ln>
        </p:spPr>
      </p:pic>
      <p:pic>
        <p:nvPicPr>
          <p:cNvPr id="560" name="Google Shape;560;p61"/>
          <p:cNvPicPr preferRelativeResize="0"/>
          <p:nvPr/>
        </p:nvPicPr>
        <p:blipFill rotWithShape="1">
          <a:blip r:embed="rId4">
            <a:alphaModFix/>
          </a:blip>
          <a:srcRect b="0" l="0" r="0" t="0"/>
          <a:stretch/>
        </p:blipFill>
        <p:spPr>
          <a:xfrm>
            <a:off x="2896026" y="2027850"/>
            <a:ext cx="5020067" cy="24003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while 迴圈</a:t>
            </a:r>
            <a:endParaRPr/>
          </a:p>
        </p:txBody>
      </p:sp>
      <p:sp>
        <p:nvSpPr>
          <p:cNvPr id="566" name="Google Shape;566;p6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「while 迴圈」是「根據條件判斷，決定是否重複或停止」的迴圈，用法為「while 條件:」，如果條件判斷為 True，就會不斷執行迴圈內容，如果判斷為 False，就會停止迴圈</a:t>
            </a:r>
            <a:endParaRPr/>
          </a:p>
          <a:p>
            <a:pPr indent="0" lvl="0" marL="0" rtl="0" algn="l">
              <a:lnSpc>
                <a:spcPct val="115000"/>
              </a:lnSpc>
              <a:spcBef>
                <a:spcPts val="1200"/>
              </a:spcBef>
              <a:spcAft>
                <a:spcPts val="1200"/>
              </a:spcAft>
              <a:buSzPts val="1800"/>
              <a:buNone/>
            </a:pPr>
            <a:r>
              <a:rPr b="1" lang="zh-TW" sz="2000">
                <a:solidFill>
                  <a:schemeClr val="accent5"/>
                </a:solidFill>
                <a:highlight>
                  <a:srgbClr val="FFFFFF"/>
                </a:highlight>
                <a:latin typeface="Georgia"/>
                <a:ea typeface="Georgia"/>
                <a:cs typeface="Georgia"/>
                <a:sym typeface="Georgia"/>
              </a:rPr>
              <a:t>要注意縮排!!</a:t>
            </a:r>
            <a:endParaRPr/>
          </a:p>
        </p:txBody>
      </p:sp>
      <p:sp>
        <p:nvSpPr>
          <p:cNvPr id="567" name="Google Shape;567;p62"/>
          <p:cNvSpPr txBox="1"/>
          <p:nvPr/>
        </p:nvSpPr>
        <p:spPr>
          <a:xfrm>
            <a:off x="2701650" y="2482875"/>
            <a:ext cx="30000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rgbClr val="000000"/>
                </a:solidFill>
                <a:latin typeface="Arial"/>
                <a:ea typeface="Arial"/>
                <a:cs typeface="Arial"/>
                <a:sym typeface="Arial"/>
              </a:rPr>
              <a:t>a = 1</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rgbClr val="000000"/>
                </a:solidFill>
                <a:latin typeface="Arial"/>
                <a:ea typeface="Arial"/>
                <a:cs typeface="Arial"/>
                <a:sym typeface="Arial"/>
              </a:rPr>
              <a:t>while a&lt;=5:</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rgbClr val="000000"/>
                </a:solidFill>
                <a:latin typeface="Arial"/>
                <a:ea typeface="Arial"/>
                <a:cs typeface="Arial"/>
                <a:sym typeface="Arial"/>
              </a:rPr>
              <a:t>    print(a)</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rgbClr val="000000"/>
                </a:solidFill>
                <a:latin typeface="Arial"/>
                <a:ea typeface="Arial"/>
                <a:cs typeface="Arial"/>
                <a:sym typeface="Arial"/>
              </a:rPr>
              <a:t>    a += 1</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100"/>
              <a:buFont typeface="Arial"/>
              <a:buNone/>
            </a:pPr>
            <a:r>
              <a:rPr b="0" i="0" lang="zh-TW" sz="2100" u="none" cap="none" strike="noStrike">
                <a:solidFill>
                  <a:srgbClr val="000000"/>
                </a:solidFill>
                <a:latin typeface="Arial"/>
                <a:ea typeface="Arial"/>
                <a:cs typeface="Arial"/>
                <a:sym typeface="Arial"/>
              </a:rPr>
              <a:t># 1 2 3 4 5</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3"/>
          <p:cNvSpPr txBox="1"/>
          <p:nvPr>
            <p:ph type="title"/>
          </p:nvPr>
        </p:nvSpPr>
        <p:spPr>
          <a:xfrm>
            <a:off x="311700" y="1387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break 和 continue</a:t>
            </a:r>
            <a:endParaRPr/>
          </a:p>
        </p:txBody>
      </p:sp>
      <p:sp>
        <p:nvSpPr>
          <p:cNvPr id="573" name="Google Shape;573;p63"/>
          <p:cNvSpPr txBox="1"/>
          <p:nvPr>
            <p:ph idx="1" type="body"/>
          </p:nvPr>
        </p:nvSpPr>
        <p:spPr>
          <a:xfrm>
            <a:off x="311700" y="711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在操作迴圈的過程中，可以使用「break 中斷」和「continue 跳出」兩個方法來「停止迴圈」，通常 break 和 continue 會搭配邏輯判斷一同使用。</a:t>
            </a:r>
            <a:endParaRPr/>
          </a:p>
          <a:p>
            <a:pPr indent="0" lvl="0" marL="0" rtl="0" algn="l">
              <a:lnSpc>
                <a:spcPct val="115000"/>
              </a:lnSpc>
              <a:spcBef>
                <a:spcPts val="1200"/>
              </a:spcBef>
              <a:spcAft>
                <a:spcPts val="0"/>
              </a:spcAft>
              <a:buSzPts val="1800"/>
              <a:buNone/>
            </a:pPr>
            <a:r>
              <a:rPr lang="zh-TW"/>
              <a:t>break 和 continue 的差別在於 break 會將整個迴圈停止，而 continue 是將迴圈目前執行的程式停止，然後再次執行迴圈，下圖為兩者的執行差異。</a:t>
            </a:r>
            <a:endParaRPr/>
          </a:p>
          <a:p>
            <a:pPr indent="0" lvl="0" marL="0" rtl="0" algn="l">
              <a:lnSpc>
                <a:spcPct val="115000"/>
              </a:lnSpc>
              <a:spcBef>
                <a:spcPts val="1200"/>
              </a:spcBef>
              <a:spcAft>
                <a:spcPts val="1200"/>
              </a:spcAft>
              <a:buSzPts val="1800"/>
              <a:buNone/>
            </a:pPr>
            <a:r>
              <a:t/>
            </a:r>
            <a:endParaRPr/>
          </a:p>
        </p:txBody>
      </p:sp>
      <p:pic>
        <p:nvPicPr>
          <p:cNvPr id="574" name="Google Shape;574;p63"/>
          <p:cNvPicPr preferRelativeResize="0"/>
          <p:nvPr/>
        </p:nvPicPr>
        <p:blipFill rotWithShape="1">
          <a:blip r:embed="rId3">
            <a:alphaModFix/>
          </a:blip>
          <a:srcRect b="0" l="0" r="0" t="0"/>
          <a:stretch/>
        </p:blipFill>
        <p:spPr>
          <a:xfrm>
            <a:off x="2203402" y="2264050"/>
            <a:ext cx="3588574" cy="2682550"/>
          </a:xfrm>
          <a:prstGeom prst="rect">
            <a:avLst/>
          </a:prstGeom>
          <a:noFill/>
          <a:ln>
            <a:noFill/>
          </a:ln>
        </p:spPr>
      </p:pic>
      <p:sp>
        <p:nvSpPr>
          <p:cNvPr id="575" name="Google Shape;575;p63"/>
          <p:cNvSpPr txBox="1"/>
          <p:nvPr/>
        </p:nvSpPr>
        <p:spPr>
          <a:xfrm>
            <a:off x="1717225" y="4812625"/>
            <a:ext cx="6600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https://steam.oxxostudio.tw/category/python/basic/loop.html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練習</a:t>
            </a:r>
            <a:endParaRPr/>
          </a:p>
        </p:txBody>
      </p:sp>
      <p:sp>
        <p:nvSpPr>
          <p:cNvPr id="581" name="Google Shape;581;p6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當 i 是奇數時跳過（使用 continue），當找到大於 6 的偶數時終止迴圈（使用 break）</a:t>
            </a:r>
            <a:endParaRPr/>
          </a:p>
        </p:txBody>
      </p:sp>
      <p:sp>
        <p:nvSpPr>
          <p:cNvPr id="582" name="Google Shape;582;p64"/>
          <p:cNvSpPr txBox="1"/>
          <p:nvPr/>
        </p:nvSpPr>
        <p:spPr>
          <a:xfrm>
            <a:off x="756375" y="2117925"/>
            <a:ext cx="8017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for i in range(10):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if i % 2 != 0: # 如果 i 是奇數，跳過</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continue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if i &gt; 6: # 如果 i 大於 6，終止迴圈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break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print(i)</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5"/>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Python 邏輯封裝</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什麼是邏輯封裝</a:t>
            </a:r>
            <a:endParaRPr/>
          </a:p>
        </p:txBody>
      </p:sp>
      <p:sp>
        <p:nvSpPr>
          <p:cNvPr id="593" name="Google Shape;593;p6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sz="1600">
                <a:solidFill>
                  <a:srgbClr val="000000"/>
                </a:solidFill>
                <a:latin typeface="Arial"/>
                <a:ea typeface="Arial"/>
                <a:cs typeface="Arial"/>
                <a:sym typeface="Arial"/>
              </a:rPr>
              <a:t>在 Python 中，</a:t>
            </a:r>
            <a:r>
              <a:rPr b="1" lang="zh-TW" sz="1600">
                <a:solidFill>
                  <a:srgbClr val="000000"/>
                </a:solidFill>
                <a:latin typeface="Arial"/>
                <a:ea typeface="Arial"/>
                <a:cs typeface="Arial"/>
                <a:sym typeface="Arial"/>
              </a:rPr>
              <a:t>邏輯封裝</a:t>
            </a:r>
            <a:r>
              <a:rPr lang="zh-TW" sz="1600">
                <a:solidFill>
                  <a:srgbClr val="000000"/>
                </a:solidFill>
                <a:latin typeface="Arial"/>
                <a:ea typeface="Arial"/>
                <a:cs typeface="Arial"/>
                <a:sym typeface="Arial"/>
              </a:rPr>
              <a:t>是一種透過將程式邏輯分成模組化的方式來提升可讀性和重複使用性的方法。常見的邏輯封裝方法有兩種：</a:t>
            </a:r>
            <a:r>
              <a:rPr b="1" lang="zh-TW" sz="1600">
                <a:solidFill>
                  <a:srgbClr val="000000"/>
                </a:solidFill>
                <a:latin typeface="Arial"/>
                <a:ea typeface="Arial"/>
                <a:cs typeface="Arial"/>
                <a:sym typeface="Arial"/>
              </a:rPr>
              <a:t>函式（Function）與物件導向程式設計（OOP, Object-Oriented Programming）</a:t>
            </a:r>
            <a:r>
              <a:rPr lang="zh-TW" sz="1600">
                <a:solidFill>
                  <a:srgbClr val="000000"/>
                </a:solidFill>
                <a:latin typeface="Arial"/>
                <a:ea typeface="Arial"/>
                <a:cs typeface="Arial"/>
                <a:sym typeface="Arial"/>
              </a:rPr>
              <a:t>。它們讓程式碼更加結構化，並且便於維護和擴展。</a:t>
            </a:r>
            <a:endParaRPr sz="23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1. 使用函式進行邏輯封裝</a:t>
            </a:r>
            <a:endParaRPr/>
          </a:p>
        </p:txBody>
      </p:sp>
      <p:sp>
        <p:nvSpPr>
          <p:cNvPr id="599" name="Google Shape;599;p6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sz="1700">
                <a:solidFill>
                  <a:srgbClr val="000000"/>
                </a:solidFill>
                <a:latin typeface="Arial"/>
                <a:ea typeface="Arial"/>
                <a:cs typeface="Arial"/>
                <a:sym typeface="Arial"/>
              </a:rPr>
              <a:t>什麼是函式？</a:t>
            </a:r>
            <a:endParaRPr b="1" sz="17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sz="1700">
                <a:solidFill>
                  <a:srgbClr val="000000"/>
                </a:solidFill>
                <a:latin typeface="Arial"/>
                <a:ea typeface="Arial"/>
                <a:cs typeface="Arial"/>
                <a:sym typeface="Arial"/>
              </a:rPr>
              <a:t>函式是用來封裝一段可重複使用的程式碼的區塊。你可以將程式邏輯包裝進函式中，並根據需要多次呼叫該函式。函式可以接收輸入參數並返回結果。</a:t>
            </a:r>
            <a:endParaRPr sz="17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b="1" lang="zh-TW" sz="1700">
                <a:solidFill>
                  <a:srgbClr val="000000"/>
                </a:solidFill>
                <a:latin typeface="Arial"/>
                <a:ea typeface="Arial"/>
                <a:cs typeface="Arial"/>
                <a:sym typeface="Arial"/>
              </a:rPr>
              <a:t>定義與使用函式的範例</a:t>
            </a:r>
            <a:endParaRPr b="1" sz="1700">
              <a:solidFill>
                <a:srgbClr val="000000"/>
              </a:solidFill>
              <a:latin typeface="Arial"/>
              <a:ea typeface="Arial"/>
              <a:cs typeface="Arial"/>
              <a:sym typeface="Arial"/>
            </a:endParaRPr>
          </a:p>
          <a:p>
            <a:pPr indent="0" lvl="0" marL="0" rtl="0" algn="l">
              <a:lnSpc>
                <a:spcPct val="115000"/>
              </a:lnSpc>
              <a:spcBef>
                <a:spcPts val="200"/>
              </a:spcBef>
              <a:spcAft>
                <a:spcPts val="1200"/>
              </a:spcAft>
              <a:buSzPts val="1800"/>
              <a:buNone/>
            </a:pPr>
            <a:r>
              <a:t/>
            </a:r>
            <a:endParaRPr/>
          </a:p>
        </p:txBody>
      </p:sp>
      <p:sp>
        <p:nvSpPr>
          <p:cNvPr id="600" name="Google Shape;600;p67"/>
          <p:cNvSpPr txBox="1"/>
          <p:nvPr/>
        </p:nvSpPr>
        <p:spPr>
          <a:xfrm>
            <a:off x="1109375" y="2798675"/>
            <a:ext cx="5610000" cy="215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定義一個函式來計算兩個數的和</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def add_numbers(a, b):</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return a + b</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 呼叫函式</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result = add_numbers(5, 3)</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zh-TW" sz="1600" u="none" cap="none" strike="noStrike">
                <a:solidFill>
                  <a:srgbClr val="000000"/>
                </a:solidFill>
                <a:latin typeface="Arial"/>
                <a:ea typeface="Arial"/>
                <a:cs typeface="Arial"/>
                <a:sym typeface="Arial"/>
              </a:rPr>
              <a:t>print(result)  # 輸出: 8</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6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1. 使用函式進行邏輯封裝</a:t>
            </a:r>
            <a:endParaRPr/>
          </a:p>
        </p:txBody>
      </p:sp>
      <p:sp>
        <p:nvSpPr>
          <p:cNvPr id="606" name="Google Shape;606;p6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a:solidFill>
                  <a:srgbClr val="000000"/>
                </a:solidFill>
                <a:latin typeface="Arial"/>
                <a:ea typeface="Arial"/>
                <a:cs typeface="Arial"/>
                <a:sym typeface="Arial"/>
              </a:rPr>
              <a:t>帶有預設參數的函式</a:t>
            </a:r>
            <a:endParaRPr b="1">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a:solidFill>
                  <a:srgbClr val="000000"/>
                </a:solidFill>
                <a:latin typeface="Arial"/>
                <a:ea typeface="Arial"/>
                <a:cs typeface="Arial"/>
                <a:sym typeface="Arial"/>
              </a:rPr>
              <a:t>你可以為函式定義預設參數，當呼叫函式時如果不提供該參數，預設值會被使用。</a:t>
            </a:r>
            <a:endParaRPr>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07" name="Google Shape;607;p68"/>
          <p:cNvSpPr txBox="1"/>
          <p:nvPr/>
        </p:nvSpPr>
        <p:spPr>
          <a:xfrm>
            <a:off x="832050" y="2332225"/>
            <a:ext cx="5736000" cy="280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帶有預設參數的函式</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def greet(name="Guest"):</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print(f"Hello, {name}!")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呼叫時不提供參數，使用預設值</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greet()  # 輸出: Hello, Guest!</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呼叫時提供參數，覆蓋預設值</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greet("Alice")  # 輸出: Hello, Alice!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1. 使用函式進行邏輯封裝</a:t>
            </a:r>
            <a:endParaRPr/>
          </a:p>
        </p:txBody>
      </p:sp>
      <p:sp>
        <p:nvSpPr>
          <p:cNvPr id="613" name="Google Shape;613;p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sz="1600">
                <a:solidFill>
                  <a:srgbClr val="000000"/>
                </a:solidFill>
                <a:latin typeface="Arial"/>
                <a:ea typeface="Arial"/>
                <a:cs typeface="Arial"/>
                <a:sym typeface="Arial"/>
              </a:rPr>
              <a:t>返回多個值的函式</a:t>
            </a:r>
            <a:endParaRPr b="1" sz="16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sz="1600">
                <a:solidFill>
                  <a:srgbClr val="000000"/>
                </a:solidFill>
                <a:latin typeface="Arial"/>
                <a:ea typeface="Arial"/>
                <a:cs typeface="Arial"/>
                <a:sym typeface="Arial"/>
              </a:rPr>
              <a:t>函式還可以返回多個值，這在需要同時返回多個計算結果時非常有用。</a:t>
            </a:r>
            <a:endParaRPr sz="16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14" name="Google Shape;614;p69"/>
          <p:cNvSpPr txBox="1"/>
          <p:nvPr/>
        </p:nvSpPr>
        <p:spPr>
          <a:xfrm>
            <a:off x="844650" y="2370025"/>
            <a:ext cx="5975400" cy="227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定義一個函式返回兩個值</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def get_min_max(numbers):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return min(numbers), max(numbers)</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 呼叫函式並同時接收多個返回值</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min_value, max_value = get_min_max([2, 5, 1, 8])</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zh-TW" sz="1700" u="none" cap="none" strike="noStrike">
                <a:solidFill>
                  <a:srgbClr val="000000"/>
                </a:solidFill>
                <a:latin typeface="Arial"/>
                <a:ea typeface="Arial"/>
                <a:cs typeface="Arial"/>
                <a:sym typeface="Arial"/>
              </a:rPr>
              <a:t>print(min_value, max_value)  # 輸出: 1 8</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區域變數與全域變數</a:t>
            </a:r>
            <a:endParaRPr/>
          </a:p>
        </p:txBody>
      </p:sp>
      <p:sp>
        <p:nvSpPr>
          <p:cNvPr id="620" name="Google Shape;620;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在 Python 中，變數可以根據其作用範圍（Scope）分為區域變數和全域變數。這兩者的區別在於它們的定義位置及存取範圍。了解這兩者對於撰寫模組化、可維護的程式碼非常重要。</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區域變數 (Local Variables)</a:t>
            </a:r>
            <a:endParaRPr/>
          </a:p>
        </p:txBody>
      </p:sp>
      <p:sp>
        <p:nvSpPr>
          <p:cNvPr id="626" name="Google Shape;626;p7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zh-TW" sz="1500">
                <a:solidFill>
                  <a:srgbClr val="000000"/>
                </a:solidFill>
                <a:latin typeface="Arial"/>
                <a:ea typeface="Arial"/>
                <a:cs typeface="Arial"/>
                <a:sym typeface="Arial"/>
              </a:rPr>
              <a:t>區域變數是定義在函數或區塊內的變數，</a:t>
            </a:r>
            <a:r>
              <a:rPr b="1" lang="zh-TW" sz="1500">
                <a:solidFill>
                  <a:srgbClr val="000000"/>
                </a:solidFill>
                <a:latin typeface="Arial"/>
                <a:ea typeface="Arial"/>
                <a:cs typeface="Arial"/>
                <a:sym typeface="Arial"/>
              </a:rPr>
              <a:t>僅在該函數或區塊內可用</a:t>
            </a:r>
            <a:r>
              <a:rPr lang="zh-TW" sz="1500">
                <a:solidFill>
                  <a:srgbClr val="000000"/>
                </a:solidFill>
                <a:latin typeface="Arial"/>
                <a:ea typeface="Arial"/>
                <a:cs typeface="Arial"/>
                <a:sym typeface="Arial"/>
              </a:rPr>
              <a:t>。當函數執行完畢後，區域變數會被銷毀，不再可用。</a:t>
            </a:r>
            <a:endParaRPr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b="1" lang="zh-TW" sz="1500">
                <a:solidFill>
                  <a:srgbClr val="000000"/>
                </a:solidFill>
                <a:latin typeface="Arial"/>
                <a:ea typeface="Arial"/>
                <a:cs typeface="Arial"/>
                <a:sym typeface="Arial"/>
              </a:rPr>
              <a:t>區域變數的特點</a:t>
            </a:r>
            <a:endParaRPr b="1" sz="1500">
              <a:solidFill>
                <a:srgbClr val="000000"/>
              </a:solidFill>
              <a:latin typeface="Arial"/>
              <a:ea typeface="Arial"/>
              <a:cs typeface="Arial"/>
              <a:sym typeface="Arial"/>
            </a:endParaRPr>
          </a:p>
          <a:p>
            <a:pPr indent="-323850" lvl="0" marL="457200" rtl="0" algn="l">
              <a:lnSpc>
                <a:spcPct val="115000"/>
              </a:lnSpc>
              <a:spcBef>
                <a:spcPts val="1200"/>
              </a:spcBef>
              <a:spcAft>
                <a:spcPts val="0"/>
              </a:spcAft>
              <a:buClr>
                <a:srgbClr val="000000"/>
              </a:buClr>
              <a:buSzPts val="1500"/>
              <a:buFont typeface="Arial"/>
              <a:buChar char="●"/>
            </a:pPr>
            <a:r>
              <a:rPr lang="zh-TW" sz="1500">
                <a:solidFill>
                  <a:srgbClr val="000000"/>
                </a:solidFill>
                <a:latin typeface="Arial"/>
                <a:ea typeface="Arial"/>
                <a:cs typeface="Arial"/>
                <a:sym typeface="Arial"/>
              </a:rPr>
              <a:t>定義在函數內部。</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Char char="●"/>
            </a:pPr>
            <a:r>
              <a:rPr lang="zh-TW" sz="1500">
                <a:solidFill>
                  <a:srgbClr val="000000"/>
                </a:solidFill>
                <a:latin typeface="Arial"/>
                <a:ea typeface="Arial"/>
                <a:cs typeface="Arial"/>
                <a:sym typeface="Arial"/>
              </a:rPr>
              <a:t>只能在定義它的函數內使用。</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Char char="●"/>
            </a:pPr>
            <a:r>
              <a:rPr lang="zh-TW" sz="1500">
                <a:solidFill>
                  <a:srgbClr val="000000"/>
                </a:solidFill>
                <a:latin typeface="Arial"/>
                <a:ea typeface="Arial"/>
                <a:cs typeface="Arial"/>
                <a:sym typeface="Arial"/>
              </a:rPr>
              <a:t>當函數執行完畢後，區域變數會被銷毀。</a:t>
            </a:r>
            <a:endParaRPr sz="15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27" name="Google Shape;627;p71"/>
          <p:cNvSpPr txBox="1"/>
          <p:nvPr/>
        </p:nvSpPr>
        <p:spPr>
          <a:xfrm>
            <a:off x="1613675" y="3234900"/>
            <a:ext cx="57738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def my_function():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x = 10  # 區域變數 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print(x)  # x 在函數內有效</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my_function()  # 會輸出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print(x)  # 錯誤：因為 x 是區域變數，無法在函數外部使用</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全域變數 (Global Variables)</a:t>
            </a:r>
            <a:endParaRPr/>
          </a:p>
        </p:txBody>
      </p:sp>
      <p:sp>
        <p:nvSpPr>
          <p:cNvPr id="633" name="Google Shape;633;p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lang="zh-TW" sz="1400">
                <a:solidFill>
                  <a:srgbClr val="000000"/>
                </a:solidFill>
                <a:latin typeface="Arial"/>
                <a:ea typeface="Arial"/>
                <a:cs typeface="Arial"/>
                <a:sym typeface="Arial"/>
              </a:rPr>
              <a:t>全域變數是定義在</a:t>
            </a:r>
            <a:r>
              <a:rPr b="1" lang="zh-TW" sz="1400">
                <a:solidFill>
                  <a:srgbClr val="000000"/>
                </a:solidFill>
                <a:latin typeface="Arial"/>
                <a:ea typeface="Arial"/>
                <a:cs typeface="Arial"/>
                <a:sym typeface="Arial"/>
              </a:rPr>
              <a:t>函數外部</a:t>
            </a:r>
            <a:r>
              <a:rPr lang="zh-TW" sz="1400">
                <a:solidFill>
                  <a:srgbClr val="000000"/>
                </a:solidFill>
                <a:latin typeface="Arial"/>
                <a:ea typeface="Arial"/>
                <a:cs typeface="Arial"/>
                <a:sym typeface="Arial"/>
              </a:rPr>
              <a:t>的變數，</a:t>
            </a:r>
            <a:r>
              <a:rPr b="1" lang="zh-TW" sz="1400">
                <a:solidFill>
                  <a:srgbClr val="000000"/>
                </a:solidFill>
                <a:latin typeface="Arial"/>
                <a:ea typeface="Arial"/>
                <a:cs typeface="Arial"/>
                <a:sym typeface="Arial"/>
              </a:rPr>
              <a:t>可以在整個程式中存取</a:t>
            </a:r>
            <a:r>
              <a:rPr lang="zh-TW" sz="1400">
                <a:solidFill>
                  <a:srgbClr val="000000"/>
                </a:solidFill>
                <a:latin typeface="Arial"/>
                <a:ea typeface="Arial"/>
                <a:cs typeface="Arial"/>
                <a:sym typeface="Arial"/>
              </a:rPr>
              <a:t>。全域變數在定義後，可以被任何函數或區塊內的程式碼存取或修改。</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b="1" lang="zh-TW" sz="1400">
                <a:solidFill>
                  <a:srgbClr val="000000"/>
                </a:solidFill>
                <a:latin typeface="Arial"/>
                <a:ea typeface="Arial"/>
                <a:cs typeface="Arial"/>
                <a:sym typeface="Arial"/>
              </a:rPr>
              <a:t>全域變數的特點</a:t>
            </a:r>
            <a:endParaRPr b="1" sz="1400">
              <a:solidFill>
                <a:srgbClr val="000000"/>
              </a:solidFill>
              <a:latin typeface="Arial"/>
              <a:ea typeface="Arial"/>
              <a:cs typeface="Arial"/>
              <a:sym typeface="Arial"/>
            </a:endParaRPr>
          </a:p>
          <a:p>
            <a:pPr indent="-317500" lvl="0" marL="457200" rtl="0" algn="l">
              <a:lnSpc>
                <a:spcPct val="115000"/>
              </a:lnSpc>
              <a:spcBef>
                <a:spcPts val="1200"/>
              </a:spcBef>
              <a:spcAft>
                <a:spcPts val="0"/>
              </a:spcAft>
              <a:buClr>
                <a:srgbClr val="000000"/>
              </a:buClr>
              <a:buSzPts val="1400"/>
              <a:buFont typeface="Arial"/>
              <a:buChar char="●"/>
            </a:pPr>
            <a:r>
              <a:rPr lang="zh-TW" sz="1400">
                <a:solidFill>
                  <a:srgbClr val="000000"/>
                </a:solidFill>
                <a:latin typeface="Arial"/>
                <a:ea typeface="Arial"/>
                <a:cs typeface="Arial"/>
                <a:sym typeface="Arial"/>
              </a:rPr>
              <a:t>定義在函數或程式的外部。</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可在整個程式中存取，包括函數內。</a:t>
            </a:r>
            <a:endParaRPr sz="1400">
              <a:solidFill>
                <a:srgbClr val="000000"/>
              </a:solidFill>
              <a:latin typeface="Arial"/>
              <a:ea typeface="Arial"/>
              <a:cs typeface="Arial"/>
              <a:sym typeface="Arial"/>
            </a:endParaRPr>
          </a:p>
          <a:p>
            <a:pPr indent="-317500" lvl="0" marL="457200" rtl="0" algn="l">
              <a:lnSpc>
                <a:spcPct val="115000"/>
              </a:lnSpc>
              <a:spcBef>
                <a:spcPts val="0"/>
              </a:spcBef>
              <a:spcAft>
                <a:spcPts val="0"/>
              </a:spcAft>
              <a:buClr>
                <a:srgbClr val="000000"/>
              </a:buClr>
              <a:buSzPts val="1400"/>
              <a:buFont typeface="Arial"/>
              <a:buChar char="●"/>
            </a:pPr>
            <a:r>
              <a:rPr lang="zh-TW" sz="1400">
                <a:solidFill>
                  <a:srgbClr val="000000"/>
                </a:solidFill>
                <a:latin typeface="Arial"/>
                <a:ea typeface="Arial"/>
                <a:cs typeface="Arial"/>
                <a:sym typeface="Arial"/>
              </a:rPr>
              <a:t>需要使用 </a:t>
            </a:r>
            <a:r>
              <a:rPr lang="zh-TW" sz="1400">
                <a:solidFill>
                  <a:srgbClr val="188038"/>
                </a:solidFill>
                <a:latin typeface="Roboto Mono"/>
                <a:ea typeface="Roboto Mono"/>
                <a:cs typeface="Roboto Mono"/>
                <a:sym typeface="Roboto Mono"/>
              </a:rPr>
              <a:t>global</a:t>
            </a:r>
            <a:r>
              <a:rPr lang="zh-TW" sz="1400">
                <a:solidFill>
                  <a:srgbClr val="000000"/>
                </a:solidFill>
                <a:latin typeface="Arial"/>
                <a:ea typeface="Arial"/>
                <a:cs typeface="Arial"/>
                <a:sym typeface="Arial"/>
              </a:rPr>
              <a:t> 關鍵字才能在函數內修改全域變數的值。</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34" name="Google Shape;634;p72"/>
          <p:cNvSpPr txBox="1"/>
          <p:nvPr/>
        </p:nvSpPr>
        <p:spPr>
          <a:xfrm>
            <a:off x="1601050" y="3063425"/>
            <a:ext cx="6303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y = 20  # 全域變數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def another_function():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print(y)  # 在函數內存取全域變數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another_function()  # 會輸出 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print(y)  # 會輸出 20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在函數內修改全域變數</a:t>
            </a:r>
            <a:endParaRPr/>
          </a:p>
        </p:txBody>
      </p:sp>
      <p:sp>
        <p:nvSpPr>
          <p:cNvPr id="640" name="Google Shape;640;p7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sz="1600">
                <a:solidFill>
                  <a:srgbClr val="000000"/>
                </a:solidFill>
                <a:latin typeface="Arial"/>
                <a:ea typeface="Arial"/>
                <a:cs typeface="Arial"/>
                <a:sym typeface="Arial"/>
              </a:rPr>
              <a:t>如果要在函數內修改全域變數，必須使用 </a:t>
            </a:r>
            <a:r>
              <a:rPr lang="zh-TW" sz="1600">
                <a:solidFill>
                  <a:srgbClr val="188038"/>
                </a:solidFill>
                <a:latin typeface="Roboto Mono"/>
                <a:ea typeface="Roboto Mono"/>
                <a:cs typeface="Roboto Mono"/>
                <a:sym typeface="Roboto Mono"/>
              </a:rPr>
              <a:t>global</a:t>
            </a:r>
            <a:r>
              <a:rPr lang="zh-TW" sz="1600">
                <a:solidFill>
                  <a:srgbClr val="000000"/>
                </a:solidFill>
                <a:latin typeface="Arial"/>
                <a:ea typeface="Arial"/>
                <a:cs typeface="Arial"/>
                <a:sym typeface="Arial"/>
              </a:rPr>
              <a:t> 關鍵字來告訴 Python 這個變數是全域變數，否則 Python 會將其視為新的區域變數。</a:t>
            </a:r>
            <a:endParaRPr sz="2300"/>
          </a:p>
        </p:txBody>
      </p:sp>
      <p:sp>
        <p:nvSpPr>
          <p:cNvPr id="641" name="Google Shape;641;p73"/>
          <p:cNvSpPr txBox="1"/>
          <p:nvPr/>
        </p:nvSpPr>
        <p:spPr>
          <a:xfrm>
            <a:off x="138675" y="2685200"/>
            <a:ext cx="38829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z = 30  # 全域變數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def modify_global():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global z  # 使用 global 關鍵字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z = 50  # 修改全域變數 z</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modify_global()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print(z)  # 會輸出 50，因為 z 在函數內被修改</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73"/>
          <p:cNvSpPr txBox="1"/>
          <p:nvPr/>
        </p:nvSpPr>
        <p:spPr>
          <a:xfrm>
            <a:off x="4677050" y="2685200"/>
            <a:ext cx="3706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a = 100  # 全域變數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def local_assignment():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a = 200  # 定義一個區域變數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print(a)  # 會輸出 200 (區域變數)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local_assignment()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print(a)  # 會輸出 100 (全域變數未改變)</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73"/>
          <p:cNvSpPr txBox="1"/>
          <p:nvPr/>
        </p:nvSpPr>
        <p:spPr>
          <a:xfrm>
            <a:off x="138675" y="225410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600"/>
              <a:buFont typeface="Arial"/>
              <a:buNone/>
            </a:pPr>
            <a:r>
              <a:rPr b="0" i="0" lang="zh-TW" sz="1600" u="none" cap="none" strike="noStrike">
                <a:solidFill>
                  <a:srgbClr val="000000"/>
                </a:solidFill>
                <a:latin typeface="Arial"/>
                <a:ea typeface="Arial"/>
                <a:cs typeface="Arial"/>
                <a:sym typeface="Arial"/>
              </a:rPr>
              <a:t>使用 </a:t>
            </a:r>
            <a:r>
              <a:rPr b="0" i="0" lang="zh-TW" sz="1600" u="none" cap="none" strike="noStrike">
                <a:solidFill>
                  <a:srgbClr val="188038"/>
                </a:solidFill>
                <a:latin typeface="Roboto Mono"/>
                <a:ea typeface="Roboto Mono"/>
                <a:cs typeface="Roboto Mono"/>
                <a:sym typeface="Roboto Mono"/>
              </a:rPr>
              <a:t>global</a:t>
            </a:r>
            <a:endParaRPr b="0" i="0" sz="1400" u="none" cap="none" strike="noStrike">
              <a:solidFill>
                <a:srgbClr val="000000"/>
              </a:solidFill>
              <a:latin typeface="Arial"/>
              <a:ea typeface="Arial"/>
              <a:cs typeface="Arial"/>
              <a:sym typeface="Arial"/>
            </a:endParaRPr>
          </a:p>
        </p:txBody>
      </p:sp>
      <p:sp>
        <p:nvSpPr>
          <p:cNvPr id="644" name="Google Shape;644;p73"/>
          <p:cNvSpPr txBox="1"/>
          <p:nvPr/>
        </p:nvSpPr>
        <p:spPr>
          <a:xfrm>
            <a:off x="4798925" y="235620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1600"/>
              <a:buFont typeface="Arial"/>
              <a:buNone/>
            </a:pPr>
            <a:r>
              <a:rPr b="0" i="0" lang="zh-TW" sz="1600" u="none" cap="none" strike="noStrike">
                <a:solidFill>
                  <a:srgbClr val="000000"/>
                </a:solidFill>
                <a:latin typeface="Arial"/>
                <a:ea typeface="Arial"/>
                <a:cs typeface="Arial"/>
                <a:sym typeface="Arial"/>
              </a:rPr>
              <a:t>不使用 </a:t>
            </a:r>
            <a:r>
              <a:rPr b="0" i="0" lang="zh-TW" sz="1600" u="none" cap="none" strike="noStrike">
                <a:solidFill>
                  <a:srgbClr val="188038"/>
                </a:solidFill>
                <a:latin typeface="Roboto Mono"/>
                <a:ea typeface="Roboto Mono"/>
                <a:cs typeface="Roboto Mono"/>
                <a:sym typeface="Roboto Mono"/>
              </a:rPr>
              <a:t>global</a:t>
            </a:r>
            <a:endParaRPr b="0" i="0" sz="1400" u="none" cap="none" strike="noStrike">
              <a:solidFill>
                <a:srgbClr val="000000"/>
              </a:solidFill>
              <a:latin typeface="Arial"/>
              <a:ea typeface="Arial"/>
              <a:cs typeface="Arial"/>
              <a:sym typeface="Arial"/>
            </a:endParaRPr>
          </a:p>
        </p:txBody>
      </p:sp>
      <p:cxnSp>
        <p:nvCxnSpPr>
          <p:cNvPr id="645" name="Google Shape;645;p73"/>
          <p:cNvCxnSpPr/>
          <p:nvPr/>
        </p:nvCxnSpPr>
        <p:spPr>
          <a:xfrm>
            <a:off x="126075" y="2723025"/>
            <a:ext cx="8925600" cy="12600"/>
          </a:xfrm>
          <a:prstGeom prst="straightConnector1">
            <a:avLst/>
          </a:prstGeom>
          <a:noFill/>
          <a:ln cap="flat" cmpd="sng" w="9525">
            <a:solidFill>
              <a:schemeClr val="dk1"/>
            </a:solidFill>
            <a:prstDash val="solid"/>
            <a:round/>
            <a:headEnd len="sm" w="sm" type="none"/>
            <a:tailEnd len="sm" w="sm" type="none"/>
          </a:ln>
        </p:spPr>
      </p:cxnSp>
      <p:cxnSp>
        <p:nvCxnSpPr>
          <p:cNvPr id="646" name="Google Shape;646;p73"/>
          <p:cNvCxnSpPr/>
          <p:nvPr/>
        </p:nvCxnSpPr>
        <p:spPr>
          <a:xfrm>
            <a:off x="4235825" y="2559150"/>
            <a:ext cx="0" cy="2407800"/>
          </a:xfrm>
          <a:prstGeom prst="straightConnector1">
            <a:avLst/>
          </a:prstGeom>
          <a:noFill/>
          <a:ln cap="flat" cmpd="sng" w="9525">
            <a:solidFill>
              <a:schemeClr val="dk1"/>
            </a:solidFill>
            <a:prstDash val="solid"/>
            <a:round/>
            <a:headEnd len="sm" w="sm" type="none"/>
            <a:tailEnd len="sm" w="sm" type="none"/>
          </a:ln>
        </p:spPr>
      </p:cxn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區域變數與全域變數的比較</a:t>
            </a:r>
            <a:endParaRPr/>
          </a:p>
        </p:txBody>
      </p:sp>
      <p:graphicFrame>
        <p:nvGraphicFramePr>
          <p:cNvPr id="652" name="Google Shape;652;p74"/>
          <p:cNvGraphicFramePr/>
          <p:nvPr/>
        </p:nvGraphicFramePr>
        <p:xfrm>
          <a:off x="952500" y="1343300"/>
          <a:ext cx="3000000" cy="3000000"/>
        </p:xfrm>
        <a:graphic>
          <a:graphicData uri="http://schemas.openxmlformats.org/drawingml/2006/table">
            <a:tbl>
              <a:tblPr>
                <a:noFill/>
                <a:tableStyleId>{26273F57-4A60-4CBA-9E0A-1DAEBCCD9011}</a:tableStyleId>
              </a:tblPr>
              <a:tblGrid>
                <a:gridCol w="1594100"/>
                <a:gridCol w="3021125"/>
                <a:gridCol w="31154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特性</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區域變數 (Local Variable)</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全域變數 (Global Variable)</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定義位置</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函數或區塊內部</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函數或區塊外部</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存取範圍</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只能在定義它的函數或區塊內存取</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可以在整個程式中存取，包括函數內</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生命週期</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隨著函數的執行結束而銷毀</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在整個程式執行過程中都存在</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修改方式</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不需要特殊語法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需要 global 關鍵字才能在函數內修改</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使用範例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函數內計算過程中使用的變數</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配置設定、全局計數器等需要多處使用的變數</a:t>
                      </a:r>
                      <a:endParaRPr sz="1400" u="none" cap="none" strike="noStrike"/>
                    </a:p>
                  </a:txBody>
                  <a:tcPr marT="91425" marB="91425" marR="91425" marL="91425"/>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2. 使用物件導向進行邏輯封裝</a:t>
            </a:r>
            <a:endParaRPr/>
          </a:p>
        </p:txBody>
      </p:sp>
      <p:sp>
        <p:nvSpPr>
          <p:cNvPr id="658" name="Google Shape;658;p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sz="1500">
                <a:solidFill>
                  <a:srgbClr val="000000"/>
                </a:solidFill>
                <a:latin typeface="Arial"/>
                <a:ea typeface="Arial"/>
                <a:cs typeface="Arial"/>
                <a:sym typeface="Arial"/>
              </a:rPr>
              <a:t>什麼是物件導向？</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sz="1500">
                <a:solidFill>
                  <a:srgbClr val="000000"/>
                </a:solidFill>
                <a:latin typeface="Arial"/>
                <a:ea typeface="Arial"/>
                <a:cs typeface="Arial"/>
                <a:sym typeface="Arial"/>
              </a:rPr>
              <a:t>物件導向程式設計（OOP）是一種將程式邏輯封裝在**類別（class）**中的方法。類別是一種自訂的資料結構，能夠封裝屬性（變數）和方法（函式）。透過 OOP，可以模擬現實世界中的物件，並更好地組織和管理程式邏輯。</a:t>
            </a:r>
            <a:endParaRPr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b="1" lang="zh-TW" sz="1500">
                <a:solidFill>
                  <a:srgbClr val="000000"/>
                </a:solidFill>
                <a:latin typeface="Arial"/>
                <a:ea typeface="Arial"/>
                <a:cs typeface="Arial"/>
                <a:sym typeface="Arial"/>
              </a:rPr>
              <a:t>物件導向的基礎概念</a:t>
            </a:r>
            <a:endParaRPr b="1" sz="1500">
              <a:solidFill>
                <a:srgbClr val="000000"/>
              </a:solidFill>
              <a:latin typeface="Arial"/>
              <a:ea typeface="Arial"/>
              <a:cs typeface="Arial"/>
              <a:sym typeface="Arial"/>
            </a:endParaRPr>
          </a:p>
          <a:p>
            <a:pPr indent="-323850" lvl="0" marL="457200" rtl="0" algn="l">
              <a:lnSpc>
                <a:spcPct val="115000"/>
              </a:lnSpc>
              <a:spcBef>
                <a:spcPts val="120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類別（Class）</a:t>
            </a:r>
            <a:r>
              <a:rPr lang="zh-TW" sz="1500">
                <a:solidFill>
                  <a:srgbClr val="000000"/>
                </a:solidFill>
                <a:latin typeface="Arial"/>
                <a:ea typeface="Arial"/>
                <a:cs typeface="Arial"/>
                <a:sym typeface="Arial"/>
              </a:rPr>
              <a:t>：定義物件的藍圖，包含屬性和行為。</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物件（Object）</a:t>
            </a:r>
            <a:r>
              <a:rPr lang="zh-TW" sz="1500">
                <a:solidFill>
                  <a:srgbClr val="000000"/>
                </a:solidFill>
                <a:latin typeface="Arial"/>
                <a:ea typeface="Arial"/>
                <a:cs typeface="Arial"/>
                <a:sym typeface="Arial"/>
              </a:rPr>
              <a:t>：由類別實例化而來，是類別的具體表現。</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屬性（Attributes）</a:t>
            </a:r>
            <a:r>
              <a:rPr lang="zh-TW" sz="1500">
                <a:solidFill>
                  <a:srgbClr val="000000"/>
                </a:solidFill>
                <a:latin typeface="Arial"/>
                <a:ea typeface="Arial"/>
                <a:cs typeface="Arial"/>
                <a:sym typeface="Arial"/>
              </a:rPr>
              <a:t>：物件的特性，類似於變數。</a:t>
            </a:r>
            <a:endParaRPr sz="1500">
              <a:solidFill>
                <a:srgbClr val="000000"/>
              </a:solidFill>
              <a:latin typeface="Arial"/>
              <a:ea typeface="Arial"/>
              <a:cs typeface="Arial"/>
              <a:sym typeface="Arial"/>
            </a:endParaRPr>
          </a:p>
          <a:p>
            <a:pPr indent="-323850" lvl="0" marL="457200" rtl="0" algn="l">
              <a:lnSpc>
                <a:spcPct val="115000"/>
              </a:lnSpc>
              <a:spcBef>
                <a:spcPts val="0"/>
              </a:spcBef>
              <a:spcAft>
                <a:spcPts val="0"/>
              </a:spcAft>
              <a:buClr>
                <a:srgbClr val="000000"/>
              </a:buClr>
              <a:buSzPts val="1500"/>
              <a:buFont typeface="Arial"/>
              <a:buChar char="●"/>
            </a:pPr>
            <a:r>
              <a:rPr b="1" lang="zh-TW" sz="1500">
                <a:solidFill>
                  <a:srgbClr val="000000"/>
                </a:solidFill>
                <a:latin typeface="Arial"/>
                <a:ea typeface="Arial"/>
                <a:cs typeface="Arial"/>
                <a:sym typeface="Arial"/>
              </a:rPr>
              <a:t>方法（Methods）</a:t>
            </a:r>
            <a:r>
              <a:rPr lang="zh-TW" sz="1500">
                <a:solidFill>
                  <a:srgbClr val="000000"/>
                </a:solidFill>
                <a:latin typeface="Arial"/>
                <a:ea typeface="Arial"/>
                <a:cs typeface="Arial"/>
                <a:sym typeface="Arial"/>
              </a:rPr>
              <a:t>：物件的行為，類似於函式，但與物件緊密結合。</a:t>
            </a:r>
            <a:endParaRPr sz="15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2. 使用物件導向進行邏輯封裝</a:t>
            </a:r>
            <a:endParaRPr/>
          </a:p>
        </p:txBody>
      </p:sp>
      <p:sp>
        <p:nvSpPr>
          <p:cNvPr id="664" name="Google Shape;664;p76"/>
          <p:cNvSpPr txBox="1"/>
          <p:nvPr>
            <p:ph idx="1" type="body"/>
          </p:nvPr>
        </p:nvSpPr>
        <p:spPr>
          <a:xfrm>
            <a:off x="311700" y="10177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定義與使用類別的範例</a:t>
            </a:r>
            <a:endParaRPr/>
          </a:p>
        </p:txBody>
      </p:sp>
      <p:sp>
        <p:nvSpPr>
          <p:cNvPr id="665" name="Google Shape;665;p76"/>
          <p:cNvSpPr txBox="1"/>
          <p:nvPr/>
        </p:nvSpPr>
        <p:spPr>
          <a:xfrm>
            <a:off x="713650" y="1510800"/>
            <a:ext cx="8030400" cy="363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定義一個簡單的類別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class Person: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 初始化方法（constructor），用於設置初始屬性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__init__(self, name,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self.name = name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self.age = 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 方法：介紹自己</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introduce(self):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print(f"My name is {self.name} and I am {self.age} years 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創建一個 Person 類的物件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person1 = Person("Alice", 25)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呼叫物件的方法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person1.introduce()  # 輸出: My name is Alice and I am 25 years old.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7"/>
          <p:cNvSpPr txBox="1"/>
          <p:nvPr>
            <p:ph type="title"/>
          </p:nvPr>
        </p:nvSpPr>
        <p:spPr>
          <a:xfrm>
            <a:off x="311700" y="1424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2. 使用物件導向進行邏輯封裝</a:t>
            </a:r>
            <a:endParaRPr/>
          </a:p>
        </p:txBody>
      </p:sp>
      <p:sp>
        <p:nvSpPr>
          <p:cNvPr id="671" name="Google Shape;671;p77"/>
          <p:cNvSpPr txBox="1"/>
          <p:nvPr>
            <p:ph idx="1" type="body"/>
          </p:nvPr>
        </p:nvSpPr>
        <p:spPr>
          <a:xfrm>
            <a:off x="311700" y="7151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sz="1500">
                <a:solidFill>
                  <a:srgbClr val="000000"/>
                </a:solidFill>
                <a:latin typeface="Arial"/>
                <a:ea typeface="Arial"/>
                <a:cs typeface="Arial"/>
                <a:sym typeface="Arial"/>
              </a:rPr>
              <a:t>封裝與資料隱藏</a:t>
            </a:r>
            <a:endParaRPr b="1" sz="1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sz="1500">
                <a:solidFill>
                  <a:srgbClr val="000000"/>
                </a:solidFill>
                <a:latin typeface="Arial"/>
                <a:ea typeface="Arial"/>
                <a:cs typeface="Arial"/>
                <a:sym typeface="Arial"/>
              </a:rPr>
              <a:t>在物件導向中，</a:t>
            </a:r>
            <a:r>
              <a:rPr b="1" lang="zh-TW" sz="1500">
                <a:solidFill>
                  <a:srgbClr val="000000"/>
                </a:solidFill>
                <a:latin typeface="Arial"/>
                <a:ea typeface="Arial"/>
                <a:cs typeface="Arial"/>
                <a:sym typeface="Arial"/>
              </a:rPr>
              <a:t>封裝</a:t>
            </a:r>
            <a:r>
              <a:rPr lang="zh-TW" sz="1500">
                <a:solidFill>
                  <a:srgbClr val="000000"/>
                </a:solidFill>
                <a:latin typeface="Arial"/>
                <a:ea typeface="Arial"/>
                <a:cs typeface="Arial"/>
                <a:sym typeface="Arial"/>
              </a:rPr>
              <a:t>意味著隱藏物件的內部細節，只暴露外部接口來與物件互動。這樣可以避免外部直接修改物件內部的屬性，確保程式更穩定。</a:t>
            </a:r>
            <a:endParaRPr sz="15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72" name="Google Shape;672;p77"/>
          <p:cNvSpPr txBox="1"/>
          <p:nvPr/>
        </p:nvSpPr>
        <p:spPr>
          <a:xfrm>
            <a:off x="311700" y="1689275"/>
            <a:ext cx="5083800" cy="341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class BankAccount: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__init__(self, balance):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self.__balance = balance  # 使用雙下劃線表示私有屬性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deposit(self, amount):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self.__balance += amount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withdraw(self, amount):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if amount &lt;= self.__balance: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self.__balance -= amount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print("Insufficient funds")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get_balance(self):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return self.__balance</a:t>
            </a:r>
            <a:endParaRPr b="0" i="0" sz="1700" u="none" cap="none" strike="noStrike">
              <a:solidFill>
                <a:srgbClr val="000000"/>
              </a:solidFill>
              <a:latin typeface="Arial"/>
              <a:ea typeface="Arial"/>
              <a:cs typeface="Arial"/>
              <a:sym typeface="Arial"/>
            </a:endParaRPr>
          </a:p>
        </p:txBody>
      </p:sp>
      <p:sp>
        <p:nvSpPr>
          <p:cNvPr id="673" name="Google Shape;673;p77"/>
          <p:cNvSpPr txBox="1"/>
          <p:nvPr/>
        </p:nvSpPr>
        <p:spPr>
          <a:xfrm>
            <a:off x="5685475" y="2017000"/>
            <a:ext cx="30000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 創建一個 BankAccount 物件</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account = BankAccount(100)</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 存錢和取錢</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account.deposit(50)</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account.withdraw(30)</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zh-TW" sz="1500" u="none" cap="none" strike="noStrike">
                <a:solidFill>
                  <a:srgbClr val="000000"/>
                </a:solidFill>
                <a:latin typeface="Arial"/>
                <a:ea typeface="Arial"/>
                <a:cs typeface="Arial"/>
                <a:sym typeface="Arial"/>
              </a:rPr>
              <a:t>print(account.get_balance())  # 輸出: 120</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78"/>
          <p:cNvSpPr txBox="1"/>
          <p:nvPr>
            <p:ph type="title"/>
          </p:nvPr>
        </p:nvSpPr>
        <p:spPr>
          <a:xfrm>
            <a:off x="311700" y="205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2. 使用物件導向進行邏輯封裝</a:t>
            </a:r>
            <a:endParaRPr/>
          </a:p>
        </p:txBody>
      </p:sp>
      <p:sp>
        <p:nvSpPr>
          <p:cNvPr id="679" name="Google Shape;679;p78"/>
          <p:cNvSpPr txBox="1"/>
          <p:nvPr>
            <p:ph idx="1" type="body"/>
          </p:nvPr>
        </p:nvSpPr>
        <p:spPr>
          <a:xfrm>
            <a:off x="311700" y="7782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800"/>
              <a:buNone/>
            </a:pPr>
            <a:r>
              <a:rPr b="1" lang="zh-TW" sz="1400">
                <a:solidFill>
                  <a:srgbClr val="000000"/>
                </a:solidFill>
                <a:latin typeface="Arial"/>
                <a:ea typeface="Arial"/>
                <a:cs typeface="Arial"/>
                <a:sym typeface="Arial"/>
              </a:rPr>
              <a:t>繼承與多型</a:t>
            </a:r>
            <a:endParaRPr b="1" sz="14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rPr lang="zh-TW" sz="1400">
                <a:solidFill>
                  <a:srgbClr val="000000"/>
                </a:solidFill>
                <a:latin typeface="Arial"/>
                <a:ea typeface="Arial"/>
                <a:cs typeface="Arial"/>
                <a:sym typeface="Arial"/>
              </a:rPr>
              <a:t>OOP 的另一個強大功能是</a:t>
            </a:r>
            <a:r>
              <a:rPr b="1" lang="zh-TW" sz="1400">
                <a:solidFill>
                  <a:srgbClr val="000000"/>
                </a:solidFill>
                <a:latin typeface="Arial"/>
                <a:ea typeface="Arial"/>
                <a:cs typeface="Arial"/>
                <a:sym typeface="Arial"/>
              </a:rPr>
              <a:t>繼承（Inheritance）</a:t>
            </a:r>
            <a:r>
              <a:rPr lang="zh-TW" sz="1400">
                <a:solidFill>
                  <a:srgbClr val="000000"/>
                </a:solidFill>
                <a:latin typeface="Arial"/>
                <a:ea typeface="Arial"/>
                <a:cs typeface="Arial"/>
                <a:sym typeface="Arial"/>
              </a:rPr>
              <a:t>，允許一個類別繼承另一個類別的屬性和方法。這樣可以讓程式碼更加模組化和可重複使用。</a:t>
            </a:r>
            <a:endParaRPr sz="14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a:p>
        </p:txBody>
      </p:sp>
      <p:sp>
        <p:nvSpPr>
          <p:cNvPr id="680" name="Google Shape;680;p78"/>
          <p:cNvSpPr txBox="1"/>
          <p:nvPr/>
        </p:nvSpPr>
        <p:spPr>
          <a:xfrm>
            <a:off x="630325" y="1928800"/>
            <a:ext cx="6177300" cy="298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定義父類別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class Animal: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speak(self):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print("The animal makes a sound")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定義子類別，繼承自 Animal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class Dog(Animal):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def speak(self):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print("The dog barks")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 創建物件並呼叫方法</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dog = Dog()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dog.speak()  # 輸出: The dog barks</a:t>
            </a:r>
            <a:endParaRPr b="0" i="0" sz="1400" u="none" cap="none" strike="noStrike">
              <a:solidFill>
                <a:srgbClr val="000000"/>
              </a:solidFill>
              <a:latin typeface="Arial"/>
              <a:ea typeface="Arial"/>
              <a:cs typeface="Arial"/>
              <a:sym typeface="Arial"/>
            </a:endParaRPr>
          </a:p>
        </p:txBody>
      </p:sp>
      <p:sp>
        <p:nvSpPr>
          <p:cNvPr id="681" name="Google Shape;681;p78"/>
          <p:cNvSpPr txBox="1"/>
          <p:nvPr/>
        </p:nvSpPr>
        <p:spPr>
          <a:xfrm>
            <a:off x="5093100" y="2140050"/>
            <a:ext cx="3874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zh-TW" sz="1400" u="none" cap="none" strike="noStrike">
                <a:solidFill>
                  <a:srgbClr val="000000"/>
                </a:solidFill>
                <a:latin typeface="Arial"/>
                <a:ea typeface="Arial"/>
                <a:cs typeface="Arial"/>
                <a:sym typeface="Arial"/>
              </a:rPr>
              <a:t>在這裡，</a:t>
            </a:r>
            <a:r>
              <a:rPr b="0" i="0" lang="zh-TW" sz="1400" u="none" cap="none" strike="noStrike">
                <a:solidFill>
                  <a:srgbClr val="188038"/>
                </a:solidFill>
                <a:latin typeface="Roboto Mono"/>
                <a:ea typeface="Roboto Mono"/>
                <a:cs typeface="Roboto Mono"/>
                <a:sym typeface="Roboto Mono"/>
              </a:rPr>
              <a:t>Dog</a:t>
            </a:r>
            <a:r>
              <a:rPr b="0" i="0" lang="zh-TW" sz="1400" u="none" cap="none" strike="noStrike">
                <a:solidFill>
                  <a:srgbClr val="000000"/>
                </a:solidFill>
                <a:latin typeface="Arial"/>
                <a:ea typeface="Arial"/>
                <a:cs typeface="Arial"/>
                <a:sym typeface="Arial"/>
              </a:rPr>
              <a:t> 類別繼承了 </a:t>
            </a:r>
            <a:r>
              <a:rPr b="0" i="0" lang="zh-TW" sz="1400" u="none" cap="none" strike="noStrike">
                <a:solidFill>
                  <a:srgbClr val="188038"/>
                </a:solidFill>
                <a:latin typeface="Roboto Mono"/>
                <a:ea typeface="Roboto Mono"/>
                <a:cs typeface="Roboto Mono"/>
                <a:sym typeface="Roboto Mono"/>
              </a:rPr>
              <a:t>Animal</a:t>
            </a:r>
            <a:r>
              <a:rPr b="0" i="0" lang="zh-TW" sz="1400" u="none" cap="none" strike="noStrike">
                <a:solidFill>
                  <a:srgbClr val="000000"/>
                </a:solidFill>
                <a:latin typeface="Arial"/>
                <a:ea typeface="Arial"/>
                <a:cs typeface="Arial"/>
                <a:sym typeface="Arial"/>
              </a:rPr>
              <a:t> 類別，並且覆寫了父類別的 </a:t>
            </a:r>
            <a:r>
              <a:rPr b="0" i="0" lang="zh-TW" sz="1400" u="none" cap="none" strike="noStrike">
                <a:solidFill>
                  <a:srgbClr val="188038"/>
                </a:solidFill>
                <a:latin typeface="Roboto Mono"/>
                <a:ea typeface="Roboto Mono"/>
                <a:cs typeface="Roboto Mono"/>
                <a:sym typeface="Roboto Mono"/>
              </a:rPr>
              <a:t>speak()</a:t>
            </a:r>
            <a:r>
              <a:rPr b="0" i="0" lang="zh-TW" sz="1400" u="none" cap="none" strike="noStrike">
                <a:solidFill>
                  <a:srgbClr val="000000"/>
                </a:solidFill>
                <a:latin typeface="Arial"/>
                <a:ea typeface="Arial"/>
                <a:cs typeface="Arial"/>
                <a:sym typeface="Arial"/>
              </a:rPr>
              <a:t> 方法，這就是所謂的</a:t>
            </a:r>
            <a:r>
              <a:rPr b="1" i="0" lang="zh-TW" sz="1400" u="none" cap="none" strike="noStrike">
                <a:solidFill>
                  <a:srgbClr val="000000"/>
                </a:solidFill>
                <a:latin typeface="Arial"/>
                <a:ea typeface="Arial"/>
                <a:cs typeface="Arial"/>
                <a:sym typeface="Arial"/>
              </a:rPr>
              <a:t>多型（Polymorphism）</a:t>
            </a:r>
            <a:r>
              <a:rPr b="0" i="0" lang="zh-TW" sz="1400" u="none" cap="none" strike="noStrike">
                <a:solidFill>
                  <a:srgbClr val="000000"/>
                </a:solidFill>
                <a:latin typeface="Arial"/>
                <a:ea typeface="Arial"/>
                <a:cs typeface="Arial"/>
                <a:sym typeface="Arial"/>
              </a:rPr>
              <a:t>。</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9"/>
          <p:cNvSpPr txBox="1"/>
          <p:nvPr>
            <p:ph type="title"/>
          </p:nvPr>
        </p:nvSpPr>
        <p:spPr>
          <a:xfrm>
            <a:off x="311700" y="1928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函式與物件導向比較</a:t>
            </a:r>
            <a:endParaRPr/>
          </a:p>
        </p:txBody>
      </p:sp>
      <p:graphicFrame>
        <p:nvGraphicFramePr>
          <p:cNvPr id="687" name="Google Shape;687;p79"/>
          <p:cNvGraphicFramePr/>
          <p:nvPr/>
        </p:nvGraphicFramePr>
        <p:xfrm>
          <a:off x="952500" y="938475"/>
          <a:ext cx="3000000" cy="3000000"/>
        </p:xfrm>
        <a:graphic>
          <a:graphicData uri="http://schemas.openxmlformats.org/drawingml/2006/table">
            <a:tbl>
              <a:tblPr>
                <a:noFill/>
                <a:tableStyleId>{26273F57-4A60-4CBA-9E0A-1DAEBCCD9011}</a:tableStyleId>
              </a:tblPr>
              <a:tblGrid>
                <a:gridCol w="2413000"/>
                <a:gridCol w="2413000"/>
                <a:gridCol w="2413000"/>
              </a:tblGrid>
              <a:tr h="381000">
                <a:tc>
                  <a:txBody>
                    <a:bodyPr/>
                    <a:lstStyle/>
                    <a:p>
                      <a:pPr indent="0" lvl="0" marL="0" marR="0" rtl="0" algn="ctr">
                        <a:lnSpc>
                          <a:spcPct val="115000"/>
                        </a:lnSpc>
                        <a:spcBef>
                          <a:spcPts val="0"/>
                        </a:spcBef>
                        <a:spcAft>
                          <a:spcPts val="0"/>
                        </a:spcAft>
                        <a:buClr>
                          <a:srgbClr val="000000"/>
                        </a:buClr>
                        <a:buSzPts val="1100"/>
                        <a:buFont typeface="Arial"/>
                        <a:buNone/>
                      </a:pPr>
                      <a:r>
                        <a:rPr b="1" lang="zh-TW" sz="1100" u="none" cap="none" strike="noStrike"/>
                        <a:t>比較項目</a:t>
                      </a:r>
                      <a:endParaRPr b="1" sz="11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函式（Function）</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物件導向程式設計（OOP）</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概念</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將重複的邏輯封裝在一個函式中，並根據需要呼叫</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將資料與行為封裝在類別中，通過物件來操作與互動</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適用場景</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適合獨立的功能性操作，例如數學計算或資料處理</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適合處理複雜系統，特別是有資料與行為關聯時</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可擴展性</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通常以函式為單位，較難擴展功能</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易於擴展，類別可以繼承並覆寫父類別的行為</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抽象化</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通常為具體的邏輯處理，抽象化程度較低</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更適合模擬現實世界的抽象概念，例如動物、車輛等</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資料處理方式</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透過傳遞參數與返回值處理資料</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屬性存儲資料，方法操縱資料，並與物件的狀態相關</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可讀性</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簡單的函式邏輯易於理解，但隨邏輯複雜化難維護</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透過物件的分層和繼承結構使程式碼更有組織性</a:t>
                      </a:r>
                      <a:endParaRPr sz="1400" u="none" cap="none" strike="noStrike"/>
                    </a:p>
                  </a:txBody>
                  <a:tcPr marT="91425" marB="91425" marR="91425" marL="91425"/>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0"/>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資料前處理</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為什麼要資料前處理</a:t>
            </a:r>
            <a:endParaRPr/>
          </a:p>
        </p:txBody>
      </p:sp>
      <p:sp>
        <p:nvSpPr>
          <p:cNvPr id="698" name="Google Shape;698;p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資料前處理是機器學習、資料科學等領域中極為重要的一步。資料通常會包含雜訊、不完整或不一致的部分，因此在進行模型訓練前，必須先清理並格式化資料，以提升模型的準確性和效能。資料前處理的主要步驟包括資料清理、特徵縮放、特徵選擇、資料編碼等。</a:t>
            </a:r>
            <a:endParaRPr/>
          </a:p>
        </p:txBody>
      </p:sp>
      <p:pic>
        <p:nvPicPr>
          <p:cNvPr id="699" name="Google Shape;699;p81"/>
          <p:cNvPicPr preferRelativeResize="0"/>
          <p:nvPr/>
        </p:nvPicPr>
        <p:blipFill rotWithShape="1">
          <a:blip r:embed="rId3">
            <a:alphaModFix/>
          </a:blip>
          <a:srcRect b="0" l="0" r="0" t="0"/>
          <a:stretch/>
        </p:blipFill>
        <p:spPr>
          <a:xfrm>
            <a:off x="5937725" y="2298574"/>
            <a:ext cx="2991975" cy="262025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資料前處理的常見步驟</a:t>
            </a:r>
            <a:endParaRPr/>
          </a:p>
        </p:txBody>
      </p:sp>
      <p:graphicFrame>
        <p:nvGraphicFramePr>
          <p:cNvPr id="705" name="Google Shape;705;p82"/>
          <p:cNvGraphicFramePr/>
          <p:nvPr/>
        </p:nvGraphicFramePr>
        <p:xfrm>
          <a:off x="952500" y="1201825"/>
          <a:ext cx="3000000" cy="3000000"/>
        </p:xfrm>
        <a:graphic>
          <a:graphicData uri="http://schemas.openxmlformats.org/drawingml/2006/table">
            <a:tbl>
              <a:tblPr>
                <a:noFill/>
                <a:tableStyleId>{26273F57-4A60-4CBA-9E0A-1DAEBCCD9011}</a:tableStyleId>
              </a:tblPr>
              <a:tblGrid>
                <a:gridCol w="1501600"/>
                <a:gridCol w="57374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步驟</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資料清理</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處理遺失值、異常值，移除重複數據或無效數據</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資料轉換</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將數據進行標準化、正規化，或進行數據格式轉換</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資料編碼</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將類別變數轉換為數字格式（例如將字串轉換為數值，或使用One-Hot Encoding）</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特徵縮放</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將數據按比例縮放，確保所有變數具有相似的範圍，常見的縮放方法有標準化和正規化</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特徵選擇</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從大量變數中選擇最具代表性的特徵，減少模型的計算成本和過擬合風險</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資料分割</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將資料集分為訓練集、測試集和驗證集，用於訓練和評估模型</a:t>
                      </a:r>
                      <a:endParaRPr sz="1400" u="none" cap="none" strike="noStrike"/>
                    </a:p>
                  </a:txBody>
                  <a:tcPr marT="91425" marB="91425" marR="91425" marL="91425"/>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83"/>
          <p:cNvSpPr txBox="1"/>
          <p:nvPr>
            <p:ph type="title"/>
          </p:nvPr>
        </p:nvSpPr>
        <p:spPr>
          <a:xfrm>
            <a:off x="398888" y="180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資料缺失值的常見處理方法</a:t>
            </a:r>
            <a:endParaRPr/>
          </a:p>
        </p:txBody>
      </p:sp>
      <p:graphicFrame>
        <p:nvGraphicFramePr>
          <p:cNvPr id="711" name="Google Shape;711;p83"/>
          <p:cNvGraphicFramePr/>
          <p:nvPr/>
        </p:nvGraphicFramePr>
        <p:xfrm>
          <a:off x="398888" y="752975"/>
          <a:ext cx="3000000" cy="3000000"/>
        </p:xfrm>
        <a:graphic>
          <a:graphicData uri="http://schemas.openxmlformats.org/drawingml/2006/table">
            <a:tbl>
              <a:tblPr>
                <a:noFill/>
                <a:tableStyleId>{26273F57-4A60-4CBA-9E0A-1DAEBCCD9011}</a:tableStyleId>
              </a:tblPr>
              <a:tblGrid>
                <a:gridCol w="1486850"/>
                <a:gridCol w="3545850"/>
                <a:gridCol w="3313525"/>
              </a:tblGrid>
              <a:tr h="4277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方法</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適用情境</a:t>
                      </a:r>
                      <a:endParaRPr sz="1400" u="none" cap="none" strike="noStrike"/>
                    </a:p>
                  </a:txBody>
                  <a:tcPr marT="91425" marB="91425" marR="91425" marL="91425"/>
                </a:tc>
              </a:tr>
              <a:tr h="778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刪除含有缺失值的資料</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刪除含有缺失值的行或列。</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當資料集較大且缺失值不多時適合使用，不會引入額外的假設，但可能會丟失有用資料。</a:t>
                      </a:r>
                      <a:endParaRPr sz="1400" u="none" cap="none" strike="noStrike"/>
                    </a:p>
                  </a:txBody>
                  <a:tcPr marT="91425" marB="91425" marR="91425" marL="91425"/>
                </a:tc>
              </a:tr>
              <a:tr h="78165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用常數填補（零、均值等）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將缺失值用特定常數填補，例如 0、平均值、中位數、最常見值等。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當缺失值比例不高且特徵分佈均勻時較適用，但這種方法有時會削弱資料的變異性，特別是對分佈偏斜的數據。</a:t>
                      </a:r>
                      <a:endParaRPr sz="1400" u="none" cap="none" strike="noStrike"/>
                    </a:p>
                  </a:txBody>
                  <a:tcPr marT="91425" marB="91425" marR="91425" marL="91425"/>
                </a:tc>
              </a:tr>
              <a:tr h="411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用鄰近值填補</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根據與缺失值相似的其他觀測點的值進行填補。例如使用最近鄰演算法（K-Nearest Neighbors, KNN）來預測缺失值。</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當資料具有相關性或相似性時，這種方法會保留資料內在的模式。缺點是計算較複雜，尤其在資料量大時。</a:t>
                      </a:r>
                      <a:endParaRPr sz="1400" u="none" cap="none" strike="noStrike"/>
                    </a:p>
                  </a:txBody>
                  <a:tcPr marT="91425" marB="91425" marR="91425" marL="91425"/>
                </a:tc>
              </a:tr>
              <a:tr h="411275">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用插值法填補</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通過插值法推斷出缺失值的合理範圍，例如線性插值法、樣條插值法等。</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適合連續型資料，例如時間序列資料。插值方法假設資料點之間有連續變化，不適合類別型變量。</a:t>
                      </a:r>
                      <a:endParaRPr sz="1400" u="none" cap="none" strike="noStrike"/>
                    </a:p>
                  </a:txBody>
                  <a:tcPr marT="91425" marB="91425" marR="91425" marL="91425"/>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8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資料缺失值的常見處理方法</a:t>
            </a:r>
            <a:endParaRPr/>
          </a:p>
        </p:txBody>
      </p:sp>
      <p:graphicFrame>
        <p:nvGraphicFramePr>
          <p:cNvPr id="717" name="Google Shape;717;p84"/>
          <p:cNvGraphicFramePr/>
          <p:nvPr/>
        </p:nvGraphicFramePr>
        <p:xfrm>
          <a:off x="687750" y="1206025"/>
          <a:ext cx="3000000" cy="3000000"/>
        </p:xfrm>
        <a:graphic>
          <a:graphicData uri="http://schemas.openxmlformats.org/drawingml/2006/table">
            <a:tbl>
              <a:tblPr>
                <a:noFill/>
                <a:tableStyleId>{26273F57-4A60-4CBA-9E0A-1DAEBCCD9011}</a:tableStyleId>
              </a:tblPr>
              <a:tblGrid>
                <a:gridCol w="1753500"/>
                <a:gridCol w="3480750"/>
                <a:gridCol w="29103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方法</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說明</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適用情境</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使用迴歸填補</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通過對已知數據擬合一個迴歸模型，預測缺失值。</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當變數之間具有較強的線性或非線性關聯性時，這種方法可以更精確地預測缺失值，但過度依賴模型假設。</a:t>
                      </a:r>
                      <a:endParaRPr sz="1400" u="none" cap="none" strike="noStrike"/>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標記缺失值</a:t>
                      </a:r>
                      <a:endParaRPr sz="14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保留缺失值並在新的一列中標記該值是否缺失。</a:t>
                      </a:r>
                      <a:endParaRPr sz="14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當缺失值本身具有一定意義（例如反映出某一種特殊狀態）時，可以保留缺失值並讓模型學習其含義。</a:t>
                      </a:r>
                      <a:endParaRPr sz="1400" u="none" cap="none" strike="noStrike"/>
                    </a:p>
                  </a:txBody>
                  <a:tcPr marT="91425" marB="91425" marR="91425" marL="91425">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多重插補（Multiple Imputation）</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通過多次插補來估計不同可能的缺失值，並生成多個資料集，最終合併這些結果。</a:t>
                      </a:r>
                      <a:endParaRPr sz="1400" u="none" cap="none" strike="noStrike"/>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這是處理缺失值的一種更準確的方法，但實施較為複雜。適合缺失值較多且關鍵變量需要準確估計的情況。</a:t>
                      </a:r>
                      <a:endParaRPr sz="1400" u="none" cap="none" strike="noStrike"/>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85"/>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資料視覺化</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資料視覺化</a:t>
            </a:r>
            <a:endParaRPr/>
          </a:p>
          <a:p>
            <a:pPr indent="0" lvl="0" marL="0" rtl="0" algn="l">
              <a:lnSpc>
                <a:spcPct val="100000"/>
              </a:lnSpc>
              <a:spcBef>
                <a:spcPts val="0"/>
              </a:spcBef>
              <a:spcAft>
                <a:spcPts val="0"/>
              </a:spcAft>
              <a:buSzPct val="111111"/>
              <a:buNone/>
            </a:pPr>
            <a:r>
              <a:t/>
            </a:r>
            <a:endParaRPr/>
          </a:p>
        </p:txBody>
      </p:sp>
      <p:sp>
        <p:nvSpPr>
          <p:cNvPr id="728" name="Google Shape;728;p8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資料視覺化是將資料以圖形或圖表的方式展現，使資料的模式、趨勢或關係更易理解。對於資料分析和機器學習來說，資料視覺化有助於快速理解資料分佈、檢測異常值、比較不同特徵，以及幫助決策制定。</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常見的資料視覺化技術</a:t>
            </a:r>
            <a:endParaRPr/>
          </a:p>
        </p:txBody>
      </p:sp>
      <p:graphicFrame>
        <p:nvGraphicFramePr>
          <p:cNvPr id="734" name="Google Shape;734;p87"/>
          <p:cNvGraphicFramePr/>
          <p:nvPr/>
        </p:nvGraphicFramePr>
        <p:xfrm>
          <a:off x="952500" y="1165400"/>
          <a:ext cx="3000000" cy="3000000"/>
        </p:xfrm>
        <a:graphic>
          <a:graphicData uri="http://schemas.openxmlformats.org/drawingml/2006/table">
            <a:tbl>
              <a:tblPr>
                <a:noFill/>
                <a:tableStyleId>{26273F57-4A60-4CBA-9E0A-1DAEBCCD9011}</a:tableStyleId>
              </a:tblPr>
              <a:tblGrid>
                <a:gridCol w="2413000"/>
                <a:gridCol w="2413000"/>
                <a:gridCol w="2413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圖表類型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用途</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範例</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折線圖 (Line Plot)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用於展示數據隨時間或順序的變化。通常用於時間序列數據。</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股票價格、溫度變化、銷售額變化。</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條形圖 (Bar Plot)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用於比較不同類別之間的數量或頻率。適合於類別型數據的展示。</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不同產品的銷售量、不同行業的就業人數。</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直方圖 (Histogram)</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用於展示數據的分佈情況，特別是連續變數。</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數據分佈、分數分佈、收入分佈。</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散點圖 (Scatter Plot)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用於顯示兩個連續變數之間的關係。可以幫助檢查變數之間的相關性或模式。</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身高與體重的關係、學習時間與成績的關係。</a:t>
                      </a:r>
                      <a:endParaRPr sz="1400" u="none" cap="none" strike="noStrike"/>
                    </a:p>
                  </a:txBody>
                  <a:tcPr marT="91425" marB="91425" marR="91425" marL="91425"/>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常見的資料視覺化技術</a:t>
            </a:r>
            <a:endParaRPr/>
          </a:p>
        </p:txBody>
      </p:sp>
      <p:graphicFrame>
        <p:nvGraphicFramePr>
          <p:cNvPr id="740" name="Google Shape;740;p88"/>
          <p:cNvGraphicFramePr/>
          <p:nvPr/>
        </p:nvGraphicFramePr>
        <p:xfrm>
          <a:off x="952500" y="1165400"/>
          <a:ext cx="3000000" cy="3000000"/>
        </p:xfrm>
        <a:graphic>
          <a:graphicData uri="http://schemas.openxmlformats.org/drawingml/2006/table">
            <a:tbl>
              <a:tblPr>
                <a:noFill/>
                <a:tableStyleId>{26273F57-4A60-4CBA-9E0A-1DAEBCCD9011}</a:tableStyleId>
              </a:tblPr>
              <a:tblGrid>
                <a:gridCol w="2413000"/>
                <a:gridCol w="2413000"/>
                <a:gridCol w="2413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圖表類型</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用途</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範例</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箱型圖 (Box Plot)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用於展示數據的分佈特徵，特別是展示數據的集中趨勢與異常值。</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顯示不同群體的收入分佈或成績分佈。</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熱圖 (Heatmap)</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用於展示數據的相關矩陣或變量之間的關係，通常適用於展示數據之間的相關性強弱。</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變量之間的相關性、混淆矩陣。</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餅圖 (Pie Chart)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用於顯示各部分在整體中的比例，適合展示類別型資料的構成。</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市場佔有率、投票結果。</a:t>
                      </a:r>
                      <a:endParaRPr sz="14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對角圖 (Pair Plot)</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用於同時顯示多個變量之間的兩兩關係。</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zh-TW" sz="1400" u="none" cap="none" strike="noStrike"/>
                        <a:t>多變量資料的相關性分析。</a:t>
                      </a:r>
                      <a:endParaRPr sz="1400" u="none" cap="none" strike="noStrike"/>
                    </a:p>
                  </a:txBody>
                  <a:tcPr marT="91425" marB="91425" marR="91425" marL="91425"/>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8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資料視覺化的-matplotlib</a:t>
            </a:r>
            <a:endParaRPr/>
          </a:p>
        </p:txBody>
      </p:sp>
      <p:sp>
        <p:nvSpPr>
          <p:cNvPr id="746" name="Google Shape;746;p8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詳colab範例</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資料視覺化的範例-使用seaborn</a:t>
            </a:r>
            <a:endParaRPr/>
          </a:p>
        </p:txBody>
      </p:sp>
      <p:sp>
        <p:nvSpPr>
          <p:cNvPr id="752" name="Google Shape;752;p9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詳colab範例</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91"/>
          <p:cNvSpPr txBox="1"/>
          <p:nvPr>
            <p:ph type="title"/>
          </p:nvPr>
        </p:nvSpPr>
        <p:spPr>
          <a:xfrm>
            <a:off x="510450" y="2057400"/>
            <a:ext cx="8123100" cy="7788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600"/>
              <a:buNone/>
            </a:pPr>
            <a:r>
              <a:rPr lang="zh-TW"/>
              <a:t>實作演練</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6419"/>
              <a:buNone/>
            </a:pPr>
            <a:r>
              <a:rPr lang="zh-TW" sz="3600"/>
              <a:t>實作演練</a:t>
            </a:r>
            <a:endParaRPr sz="3600"/>
          </a:p>
          <a:p>
            <a:pPr indent="0" lvl="0" marL="0" rtl="0" algn="l">
              <a:lnSpc>
                <a:spcPct val="100000"/>
              </a:lnSpc>
              <a:spcBef>
                <a:spcPts val="0"/>
              </a:spcBef>
              <a:spcAft>
                <a:spcPts val="0"/>
              </a:spcAft>
              <a:buSzPct val="86419"/>
              <a:buNone/>
            </a:pPr>
            <a:r>
              <a:rPr lang="zh-TW" sz="3600">
                <a:solidFill>
                  <a:schemeClr val="lt1"/>
                </a:solidFill>
              </a:rPr>
              <a:t>作演練</a:t>
            </a:r>
            <a:endParaRPr/>
          </a:p>
        </p:txBody>
      </p:sp>
      <p:sp>
        <p:nvSpPr>
          <p:cNvPr id="763" name="Google Shape;763;p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zh-TW"/>
              <a:t>詳colab範例</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9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zh-TW"/>
              <a:t>參考</a:t>
            </a:r>
            <a:endParaRPr/>
          </a:p>
        </p:txBody>
      </p:sp>
      <p:sp>
        <p:nvSpPr>
          <p:cNvPr id="769" name="Google Shape;769;p9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zh-TW"/>
              <a:t>1.</a:t>
            </a:r>
            <a:r>
              <a:rPr lang="zh-TW" u="sng">
                <a:solidFill>
                  <a:schemeClr val="hlink"/>
                </a:solidFill>
                <a:hlinkClick r:id="rId3"/>
              </a:rPr>
              <a:t>https://cflin.com/course/python/Python_01.pdf</a:t>
            </a:r>
            <a:endParaRPr/>
          </a:p>
          <a:p>
            <a:pPr indent="0" lvl="0" marL="0" rtl="0" algn="l">
              <a:lnSpc>
                <a:spcPct val="115000"/>
              </a:lnSpc>
              <a:spcBef>
                <a:spcPts val="1200"/>
              </a:spcBef>
              <a:spcAft>
                <a:spcPts val="0"/>
              </a:spcAft>
              <a:buSzPts val="1800"/>
              <a:buNone/>
            </a:pPr>
            <a:r>
              <a:rPr lang="zh-TW"/>
              <a:t>2.</a:t>
            </a:r>
            <a:r>
              <a:rPr lang="zh-TW" u="sng">
                <a:solidFill>
                  <a:schemeClr val="hlink"/>
                </a:solidFill>
                <a:hlinkClick r:id="rId4"/>
              </a:rPr>
              <a:t>https://www.hlbh.hlc.edu.tw/resource/openfid.php?id=37572</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